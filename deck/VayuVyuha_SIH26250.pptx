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Exact CP-SAT (10 s cap)</c:v>
                </c:pt>
              </c:strCache>
            </c:strRef>
          </c:tx>
          <c:spPr>
            <a:solidFill>
              <a:srgbClr val="1F6FB2"/>
            </a:solidFill>
            <a:effectLst/>
          </c:spPr>
          <c:invertIfNegative val="0"/>
          <c:dLbls>
            <c:numFmt formatCode="0.0" sourceLinked="0"/>
            <c:txPr>
              <a:bodyPr/>
              <a:lstStyle/>
              <a:p>
                <a:pPr>
                  <a:defRPr b="0" i="0" strike="noStrike" sz="8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28 aircraft
27 missions</c:v>
                  </c:pt>
                  <c:pt idx="1">
                    <c:v>56 aircraft
54 missions</c:v>
                  </c:pt>
                  <c:pt idx="2">
                    <c:v>84 aircraft
81 missions</c:v>
                  </c:pt>
                  <c:pt idx="3">
                    <c:v>112 aircraft
108 missions</c:v>
                  </c:pt>
                </c:lvl>
              </c:multiLvlStrCache>
            </c:multiLvlStrRef>
          </c:cat>
          <c:val>
            <c:numRef>
              <c:f>Sheet1!$B$2:$B$5</c:f>
              <c:numCache>
                <c:formatCode>General</c:formatCode>
                <c:ptCount val="4"/>
                <c:pt idx="0">
                  <c:v>12.6</c:v>
                </c:pt>
                <c:pt idx="1">
                  <c:v>10</c:v>
                </c:pt>
                <c:pt idx="2">
                  <c:v>6</c:v>
                </c:pt>
                <c:pt idx="3">
                  <c:v>4.7</c:v>
                </c:pt>
              </c:numCache>
            </c:numRef>
          </c:val>
        </c:ser>
        <c:ser>
          <c:idx val="1"/>
          <c:order val="1"/>
          <c:tx>
            <c:strRef>
              <c:f>Sheet1!$C$1</c:f>
              <c:strCache>
                <c:ptCount val="1"/>
                <c:pt idx="0">
                  <c:v>CP-SAT + LNS (10 s)</c:v>
                </c:pt>
              </c:strCache>
            </c:strRef>
          </c:tx>
          <c:spPr>
            <a:solidFill>
              <a:srgbClr val="8FB4DE"/>
            </a:solidFill>
            <a:effectLst/>
          </c:spPr>
          <c:invertIfNegative val="0"/>
          <c:dLbls>
            <c:numFmt formatCode="0.0" sourceLinked="0"/>
            <c:txPr>
              <a:bodyPr/>
              <a:lstStyle/>
              <a:p>
                <a:pPr>
                  <a:defRPr b="0" i="0" strike="noStrike" sz="8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28</c:v>
                  </c:pt>
                  <c:pt idx="1">
                    <c:v>56</c:v>
                  </c:pt>
                  <c:pt idx="2">
                    <c:v>84</c:v>
                  </c:pt>
                  <c:pt idx="3">
                    <c:v>112</c:v>
                  </c:pt>
                </c:lvl>
              </c:multiLvlStrCache>
            </c:multiLvlStrRef>
          </c:cat>
          <c:val>
            <c:numRef>
              <c:f>Sheet1!$C$2:$C$5</c:f>
              <c:numCache>
                <c:formatCode>General</c:formatCode>
                <c:ptCount val="4"/>
                <c:pt idx="0">
                  <c:v>12.7</c:v>
                </c:pt>
                <c:pt idx="1">
                  <c:v>9</c:v>
                </c:pt>
                <c:pt idx="2">
                  <c:v>5.8</c:v>
                </c:pt>
                <c:pt idx="3">
                  <c:v>5.1</c:v>
                </c:pt>
              </c:numCache>
            </c:numRef>
          </c:val>
        </c:ser>
        <c:ser>
          <c:idx val="2"/>
          <c:order val="2"/>
          <c:tx>
            <c:strRef>
              <c:f>Sheet1!$D$1</c:f>
              <c:strCache>
                <c:ptCount val="1"/>
                <c:pt idx="0">
                  <c:v>Built-in search (2 s)</c:v>
                </c:pt>
              </c:strCache>
            </c:strRef>
          </c:tx>
          <c:spPr>
            <a:solidFill>
              <a:srgbClr val="E07A1F"/>
            </a:solidFill>
            <a:effectLst/>
          </c:spPr>
          <c:invertIfNegative val="0"/>
          <c:dLbls>
            <c:numFmt formatCode="0.0" sourceLinked="0"/>
            <c:txPr>
              <a:bodyPr/>
              <a:lstStyle/>
              <a:p>
                <a:pPr>
                  <a:defRPr b="0" i="0" strike="noStrike" sz="8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28</c:v>
                  </c:pt>
                  <c:pt idx="1">
                    <c:v>56</c:v>
                  </c:pt>
                  <c:pt idx="2">
                    <c:v>84</c:v>
                  </c:pt>
                  <c:pt idx="3">
                    <c:v>112</c:v>
                  </c:pt>
                </c:lvl>
              </c:multiLvlStrCache>
            </c:multiLvlStrRef>
          </c:cat>
          <c:val>
            <c:numRef>
              <c:f>Sheet1!$D$2:$D$5</c:f>
              <c:numCache>
                <c:formatCode>General</c:formatCode>
                <c:ptCount val="4"/>
                <c:pt idx="0">
                  <c:v>12.6</c:v>
                </c:pt>
                <c:pt idx="1">
                  <c:v>9.3</c:v>
                </c:pt>
                <c:pt idx="2">
                  <c:v>7.6</c:v>
                </c:pt>
                <c:pt idx="3">
                  <c:v>6.6</c:v>
                </c:pt>
              </c:numCache>
            </c:numRef>
          </c:val>
        </c:ser>
        <c:dLbls>
          <c:numFmt formatCode="0.0" sourceLinked="0"/>
          <c:txPr>
            <a:bodyPr/>
            <a:lstStyle/>
            <a:p>
              <a:pPr>
                <a:defRPr b="0" i="0" strike="noStrike" sz="800" u="none">
                  <a:solidFill>
                    <a:srgbClr val="1A1A1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E3EA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95959"/>
                </a:solidFill>
                <a:latin typeface="+mn-lt"/>
              </a:defRPr>
            </a:pPr>
            <a:endParaRPr lang="en-US"/>
          </a:p>
        </c:txPr>
        <c:crossAx val="2094734554"/>
        <c:crosses val="autoZero"/>
        <c:crossBetween val="between"/>
        <c:majorUnit val="4"/>
      </c:valAx>
      <c:spPr>
        <a:noFill/>
        <a:ln>
          <a:noFill/>
        </a:ln>
        <a:effectLst/>
      </c:spPr>
    </c:plotArea>
    <c:legend>
      <c:legendPos val="b"/>
      <c:overlay val="0"/>
      <c:txPr>
        <a:bodyPr/>
        <a:lstStyle/>
        <a:p>
          <a:pPr>
            <a:defRPr sz="85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VayuVyuha</c:v>
                </c:pt>
              </c:strCache>
            </c:strRef>
          </c:tx>
          <c:spPr>
            <a:solidFill>
              <a:srgbClr val="1F6FB2"/>
            </a:solidFill>
            <a:ln w="31750" cap="flat">
              <a:solidFill>
                <a:srgbClr val="1F6FB2"/>
              </a:solidFill>
              <a:prstDash val="solid"/>
              <a:round/>
            </a:ln>
            <a:effectLst/>
          </c:spPr>
          <c:invertIfNegative val="0"/>
          <c:dLbls>
            <c:numFmt formatCode="#,##0" sourceLinked="0"/>
            <c:txPr>
              <a:bodyPr/>
              <a:lstStyle/>
              <a:p>
                <a:pPr>
                  <a:defRPr b="0" i="0" strike="noStrike" sz="800" u="none">
                    <a:solidFill>
                      <a:srgbClr val="1A1A1A"/>
                    </a:solidFill>
                    <a:latin typeface="+mn-lt"/>
                  </a:defRPr>
                </a:pPr>
              </a:p>
            </c:txPr>
            <c:showLegendKey val="0"/>
            <c:showVal val="0"/>
            <c:showCatName val="0"/>
            <c:showSerName val="0"/>
            <c:showPercent val="0"/>
            <c:showBubbleSize val="0"/>
            <c:showLeaderLines val="0"/>
          </c:dLbls>
          <c:marker>
            <c:symbol val="circle"/>
            <c:size val="7"/>
            <c:spPr>
              <a:solidFill>
                <a:srgbClr val="1F6FB2"/>
              </a:solidFill>
              <a:ln w="9525" cap="flat">
                <a:solidFill>
                  <a:srgbClr val="1F6FB2"/>
                </a:solidFill>
                <a:prstDash val="solid"/>
                <a:round/>
              </a:ln>
              <a:effectLst/>
            </c:spPr>
          </c:marker>
          <c:cat>
            <c:multiLvlStrRef>
              <c:f>Sheet1!$A$2:$A$6</c:f>
              <c:multiLvlStrCache>
                <c:ptCount val="5"/>
                <c:lvl>
                  <c:pt idx="0">
                    <c:v>Start</c:v>
                  </c:pt>
                  <c:pt idx="1">
                    <c:v>Jets grounded</c:v>
                  </c:pt>
                  <c:pt idx="2">
                    <c:v>Pop-up site</c:v>
                  </c:pt>
                  <c:pt idx="3">
                    <c:v>Urgent target</c:v>
                  </c:pt>
                  <c:pt idx="4">
                    <c:v>Storm</c:v>
                  </c:pt>
                </c:lvl>
              </c:multiLvlStrCache>
            </c:multiLvlStrRef>
          </c:cat>
          <c:val>
            <c:numRef>
              <c:f>Sheet1!$B$2:$B$6</c:f>
              <c:numCache>
                <c:formatCode>General</c:formatCode>
                <c:ptCount val="5"/>
                <c:pt idx="0">
                  <c:v>76.8</c:v>
                </c:pt>
                <c:pt idx="1">
                  <c:v>71.6</c:v>
                </c:pt>
                <c:pt idx="2">
                  <c:v>68</c:v>
                </c:pt>
                <c:pt idx="3">
                  <c:v>65.7</c:v>
                </c:pt>
                <c:pt idx="4">
                  <c:v>64.4</c:v>
                </c:pt>
              </c:numCache>
            </c:numRef>
          </c:val>
          <c:smooth val="0"/>
        </c:ser>
        <c:ser>
          <c:idx val="1"/>
          <c:order val="1"/>
          <c:tx>
            <c:strRef>
              <c:f>Sheet1!$C$1</c:f>
              <c:strCache>
                <c:ptCount val="1"/>
                <c:pt idx="0">
                  <c:v>Manual-style replan</c:v>
                </c:pt>
              </c:strCache>
            </c:strRef>
          </c:tx>
          <c:spPr>
            <a:solidFill>
              <a:srgbClr val="E07A1F"/>
            </a:solidFill>
            <a:ln w="31750" cap="flat">
              <a:solidFill>
                <a:srgbClr val="E07A1F"/>
              </a:solidFill>
              <a:prstDash val="solid"/>
              <a:round/>
            </a:ln>
            <a:effectLst/>
          </c:spPr>
          <c:invertIfNegative val="0"/>
          <c:dLbls>
            <c:numFmt formatCode="#,##0" sourceLinked="0"/>
            <c:txPr>
              <a:bodyPr/>
              <a:lstStyle/>
              <a:p>
                <a:pPr>
                  <a:defRPr b="0" i="0" strike="noStrike" sz="800" u="none">
                    <a:solidFill>
                      <a:srgbClr val="1A1A1A"/>
                    </a:solidFill>
                    <a:latin typeface="+mn-lt"/>
                  </a:defRPr>
                </a:pPr>
              </a:p>
            </c:txPr>
            <c:showLegendKey val="0"/>
            <c:showVal val="0"/>
            <c:showCatName val="0"/>
            <c:showSerName val="0"/>
            <c:showPercent val="0"/>
            <c:showBubbleSize val="0"/>
            <c:showLeaderLines val="0"/>
          </c:dLbls>
          <c:marker>
            <c:symbol val="circle"/>
            <c:size val="7"/>
            <c:spPr>
              <a:solidFill>
                <a:srgbClr val="E07A1F"/>
              </a:solidFill>
              <a:ln w="9525" cap="flat">
                <a:solidFill>
                  <a:srgbClr val="E07A1F"/>
                </a:solidFill>
                <a:prstDash val="solid"/>
                <a:round/>
              </a:ln>
              <a:effectLst/>
            </c:spPr>
          </c:marker>
          <c:cat>
            <c:multiLvlStrRef>
              <c:f>Sheet1!$A$2:$A$6</c:f>
              <c:multiLvlStrCache>
                <c:ptCount val="5"/>
                <c:lvl>
                  <c:pt idx="0">
                    <c:v>Start</c:v>
                  </c:pt>
                  <c:pt idx="1">
                    <c:v>Jets grounded</c:v>
                  </c:pt>
                  <c:pt idx="2">
                    <c:v>Pop-up site</c:v>
                  </c:pt>
                  <c:pt idx="3">
                    <c:v>Urgent target</c:v>
                  </c:pt>
                  <c:pt idx="4">
                    <c:v>Storm</c:v>
                  </c:pt>
                </c:lvl>
              </c:multiLvlStrCache>
            </c:multiLvlStrRef>
          </c:cat>
          <c:val>
            <c:numRef>
              <c:f>Sheet1!$C$2:$C$6</c:f>
              <c:numCache>
                <c:formatCode>General</c:formatCode>
                <c:ptCount val="5"/>
                <c:pt idx="0">
                  <c:v>75.6</c:v>
                </c:pt>
                <c:pt idx="1">
                  <c:v>70</c:v>
                </c:pt>
                <c:pt idx="2">
                  <c:v>67.8</c:v>
                </c:pt>
                <c:pt idx="3">
                  <c:v>63</c:v>
                </c:pt>
                <c:pt idx="4">
                  <c:v>61.7</c:v>
                </c:pt>
              </c:numCache>
            </c:numRef>
          </c:val>
          <c:smooth val="0"/>
        </c:ser>
        <c:dLbls>
          <c:numFmt formatCode="#,##0" sourceLinked="0"/>
          <c:txPr>
            <a:bodyPr/>
            <a:lstStyle/>
            <a:p>
              <a:pPr>
                <a:defRPr b="0" i="0" strike="noStrike" sz="800" u="none">
                  <a:solidFill>
                    <a:srgbClr val="1A1A1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80"/>
          <c:min val="55"/>
        </c:scaling>
        <c:delete val="0"/>
        <c:axPos val="l"/>
        <c:majorGridlines>
          <c:spPr>
            <a:ln w="9525" cap="flat">
              <a:solidFill>
                <a:srgbClr val="E3EA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95959"/>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85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VayuVyuha</c:v>
                </c:pt>
              </c:strCache>
            </c:strRef>
          </c:tx>
          <c:spPr>
            <a:solidFill>
              <a:srgbClr val="1F6FB2"/>
            </a:solidFill>
            <a:effectLst/>
          </c:spPr>
          <c:invertIfNegative val="0"/>
          <c:dLbls>
            <c:numFmt formatCode="#,##0" sourceLinked="0"/>
            <c:txPr>
              <a:bodyPr/>
              <a:lstStyle/>
              <a:p>
                <a:pPr>
                  <a:defRPr b="0" i="0" strike="noStrike" sz="8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Jets grounded</c:v>
                  </c:pt>
                  <c:pt idx="1">
                    <c:v>Pop-up site</c:v>
                  </c:pt>
                  <c:pt idx="2">
                    <c:v>Urgent target</c:v>
                  </c:pt>
                  <c:pt idx="3">
                    <c:v>Storm</c:v>
                  </c:pt>
                </c:lvl>
              </c:multiLvlStrCache>
            </c:multiLvlStrRef>
          </c:cat>
          <c:val>
            <c:numRef>
              <c:f>Sheet1!$B$2:$B$5</c:f>
              <c:numCache>
                <c:formatCode>General</c:formatCode>
                <c:ptCount val="4"/>
                <c:pt idx="0">
                  <c:v>7</c:v>
                </c:pt>
                <c:pt idx="1">
                  <c:v>4</c:v>
                </c:pt>
                <c:pt idx="2">
                  <c:v>4</c:v>
                </c:pt>
                <c:pt idx="3">
                  <c:v>1</c:v>
                </c:pt>
              </c:numCache>
            </c:numRef>
          </c:val>
        </c:ser>
        <c:ser>
          <c:idx val="1"/>
          <c:order val="1"/>
          <c:tx>
            <c:strRef>
              <c:f>Sheet1!$C$1</c:f>
              <c:strCache>
                <c:ptCount val="1"/>
                <c:pt idx="0">
                  <c:v>Manual-style replan</c:v>
                </c:pt>
              </c:strCache>
            </c:strRef>
          </c:tx>
          <c:spPr>
            <a:solidFill>
              <a:srgbClr val="E07A1F"/>
            </a:solidFill>
            <a:effectLst/>
          </c:spPr>
          <c:invertIfNegative val="0"/>
          <c:dLbls>
            <c:numFmt formatCode="#,##0" sourceLinked="0"/>
            <c:txPr>
              <a:bodyPr/>
              <a:lstStyle/>
              <a:p>
                <a:pPr>
                  <a:defRPr b="0" i="0" strike="noStrike" sz="800" u="none">
                    <a:solidFill>
                      <a:srgbClr val="1A1A1A"/>
                    </a:solidFill>
                    <a:latin typeface="+mn-lt"/>
                  </a:defRPr>
                </a:pPr>
              </a:p>
            </c:txPr>
            <c:showLegendKey val="0"/>
            <c:showVal val="1"/>
            <c:showCatName val="0"/>
            <c:showSerName val="0"/>
            <c:showPercent val="0"/>
            <c:showBubbleSize val="0"/>
            <c:showLeaderLines val="0"/>
          </c:dLbls>
          <c:cat>
            <c:multiLvlStrRef>
              <c:f>Sheet1!$A$2:$A$5</c:f>
              <c:multiLvlStrCache>
                <c:ptCount val="4"/>
                <c:lvl>
                  <c:pt idx="0">
                    <c:v>Jets grounded</c:v>
                  </c:pt>
                  <c:pt idx="1">
                    <c:v>Pop-up site</c:v>
                  </c:pt>
                  <c:pt idx="2">
                    <c:v>Urgent target</c:v>
                  </c:pt>
                  <c:pt idx="3">
                    <c:v>Storm</c:v>
                  </c:pt>
                </c:lvl>
              </c:multiLvlStrCache>
            </c:multiLvlStrRef>
          </c:cat>
          <c:val>
            <c:numRef>
              <c:f>Sheet1!$C$2:$C$5</c:f>
              <c:numCache>
                <c:formatCode>General</c:formatCode>
                <c:ptCount val="4"/>
                <c:pt idx="0">
                  <c:v>19</c:v>
                </c:pt>
                <c:pt idx="1">
                  <c:v>14</c:v>
                </c:pt>
                <c:pt idx="2">
                  <c:v>14</c:v>
                </c:pt>
                <c:pt idx="3">
                  <c:v>9</c:v>
                </c:pt>
              </c:numCache>
            </c:numRef>
          </c:val>
        </c:ser>
        <c:dLbls>
          <c:numFmt formatCode="#,##0" sourceLinked="0"/>
          <c:txPr>
            <a:bodyPr/>
            <a:lstStyle/>
            <a:p>
              <a:pPr>
                <a:defRPr b="0" i="0" strike="noStrike" sz="8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95959"/>
                </a:solidFill>
                <a:latin typeface="+mn-lt"/>
              </a:defRPr>
            </a:pPr>
            <a:endParaRPr lang="en-US"/>
          </a:p>
        </c:txPr>
        <c:crossAx val="2094734552"/>
        <c:crosses val="autoZero"/>
        <c:auto val="1"/>
        <c:lblAlgn val="ctr"/>
        <c:noMultiLvlLbl val="1"/>
      </c:catAx>
      <c:valAx>
        <c:axId val="2094734552"/>
        <c:scaling>
          <c:orientation val="minMax"/>
          <c:max val="24"/>
          <c:min val="0"/>
        </c:scaling>
        <c:delete val="0"/>
        <c:axPos val="l"/>
        <c:majorGridlines>
          <c:spPr>
            <a:ln w="9525" cap="flat">
              <a:solidFill>
                <a:srgbClr val="E3EA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95959"/>
                </a:solidFill>
                <a:latin typeface="+mn-lt"/>
              </a:defRPr>
            </a:pPr>
            <a:endParaRPr lang="en-US"/>
          </a:p>
        </c:txPr>
        <c:crossAx val="2094734554"/>
        <c:crosses val="autoZero"/>
        <c:crossBetween val="between"/>
        <c:majorUnit val="6"/>
      </c:valAx>
      <c:spPr>
        <a:noFill/>
        <a:ln>
          <a:noFill/>
        </a:ln>
        <a:effectLst/>
      </c:spPr>
    </c:plotArea>
    <c:legend>
      <c:legendPos val="b"/>
      <c:overlay val="0"/>
      <c:txPr>
        <a:bodyPr/>
        <a:lstStyle/>
        <a:p>
          <a:pPr>
            <a:defRPr sz="850">
              <a:solidFill>
                <a:srgbClr val="1A1A1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page in the SIH template. Fill in the Team ID from the portal. VayuVyuha (vayu = air, vyuha = battle formation) is the suggested team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the idea, the architecture and what is new. The 72 to 96 hour figure is from the US Army Center for Army Lessons Learned handbook on the air tasking cycle (2023); RAND (Lingel et al., 2020) calls that cycle out of step with digital-speed operations. In the architecture, seven feeds enter the engine, five stages run inside it, and four kinds of output reach the commander, who approves before anything is published. Both engines apply the same rules and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loop that runs on every event. Right: the working prototype. Bottom: the stack, the optimisation model in three lines, and where to try it. The exact engine is Google OR-Tools CP-SAT; the built-in engine is an adaptive large-neighbourhood search written in JavaScript, so the app also runs with no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the prototype runs today and every plan passes an independent validator. The scale chart shows the percentage by which each engine's plan score exceeds a sequential priority-first planner on the same synthetic instances; the exact solver was capped at 10 seconds on two CPU cores and proves the optimum only at the smallest size. Viability: each challenge is paired with how it is handled, and the roadmap moves from prototype to a simulator pilot to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results, two charts, the decision screen, who benefits and the strategic impact. The line chart shows the share of mission priority value still covered after each of four events; the bars show how many planned missions each approach had to change. These are prototype results on synthetic data, not operational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Seventeen sources in six groups: evidence for the problem, AI for air planning, assignment and re-planning algorithms, the search and decentralised-allocation methods, readiness and human-in-the-loop work, and the open tools used. Every item links to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H_TITLE">
    <p:bg>
      <p:bgPr>
        <a:solidFill>
          <a:srgbClr val="FFFFFF"/>
        </a:solidFill>
      </p:bgPr>
    </p:bg>
    <p:spTree>
      <p:nvGrpSpPr>
        <p:cNvPr id="1" name=""/>
        <p:cNvGrpSpPr/>
        <p:nvPr/>
      </p:nvGrpSpPr>
      <p:grpSpPr>
        <a:xfrm>
          <a:off x="0" y="0"/>
          <a:ext cx="0" cy="0"/>
          <a:chOff x="0" y="0"/>
          <a:chExt cx="0" cy="0"/>
        </a:xfrm>
      </p:grpSpPr>
      <p:pic>
        <p:nvPicPr>
          <p:cNvPr id="2" name="Image 0" descr="img/wm_bulb.png">    </p:cNvPr>
          <p:cNvPicPr>
            <a:picLocks noChangeAspect="1"/>
          </p:cNvPicPr>
          <p:nvPr/>
        </p:nvPicPr>
        <p:blipFill>
          <a:blip r:embed="rId1"/>
          <a:stretch>
            <a:fillRect/>
          </a:stretch>
        </p:blipFill>
        <p:spPr>
          <a:xfrm>
            <a:off x="7620000" y="1498600"/>
            <a:ext cx="3810000" cy="4405630"/>
          </a:xfrm>
          <a:prstGeom prst="rect">
            <a:avLst/>
          </a:prstGeom>
        </p:spPr>
      </p:pic>
      <p:pic>
        <p:nvPicPr>
          <p:cNvPr id="3" name="Image 1" descr="img/logo_title.png">    </p:cNvPr>
          <p:cNvPicPr>
            <a:picLocks noChangeAspect="1"/>
          </p:cNvPicPr>
          <p:nvPr/>
        </p:nvPicPr>
        <p:blipFill>
          <a:blip r:embed="rId2"/>
          <a:stretch>
            <a:fillRect/>
          </a:stretch>
        </p:blipFill>
        <p:spPr>
          <a:xfrm>
            <a:off x="9779000" y="152400"/>
            <a:ext cx="2032000" cy="960120"/>
          </a:xfrm>
          <a:prstGeom prst="rect">
            <a:avLst/>
          </a:prstGeom>
        </p:spPr>
      </p:pic>
      <p:sp>
        <p:nvSpPr>
          <p:cNvPr id="4" name="Text 0"/>
          <p:cNvSpPr/>
          <p:nvPr/>
        </p:nvSpPr>
        <p:spPr>
          <a:xfrm>
            <a:off x="508000" y="279400"/>
            <a:ext cx="7112000" cy="584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INDIA HACKATHON 2026</a:t>
            </a:r>
            <a:endParaRPr lang="en-US" sz="3000" dirty="0"/>
          </a:p>
        </p:txBody>
      </p:sp>
      <p:sp>
        <p:nvSpPr>
          <p:cNvPr id="5" name="Text 1"/>
          <p:cNvSpPr/>
          <p:nvPr>
            <p:ph idx="103" type="title" hasCustomPrompt="1"/>
          </p:nvPr>
        </p:nvSpPr>
        <p:spPr>
          <a:xfrm>
            <a:off x="2286000" y="1244600"/>
            <a:ext cx="7620000" cy="584200"/>
          </a:xfrm>
          <a:prstGeom prst="rect">
            <a:avLst/>
          </a:prstGeom>
          <a:noFill/>
          <a:ln/>
        </p:spPr>
        <p:txBody>
          <a:bodyPr wrap="square" rtlCol="0"/>
          <a:lstStyle>
            <a:lvl1pPr algn="ctr" indent="0" marL="0">
              <a:buNone/>
              <a:defRPr lang="en-US" sz="2600" b="1" dirty="0">
                <a:solidFill>
                  <a:srgbClr val="1F3864"/>
                </a:solidFill>
                <a:latin typeface="Cambria" pitchFamily="34" charset="0"/>
                <a:ea typeface="Cambria" pitchFamily="34" charset="-122"/>
                <a:cs typeface="Cambria" pitchFamily="34" charset="-120"/>
              </a:defRPr>
            </a:lvl1pPr>
          </a:lstStyle>
          <a:p>
            <a:pPr algn="ctr"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H_CONTENT">
    <p:bg>
      <p:bgPr>
        <a:solidFill>
          <a:srgbClr val="FFFFFF"/>
        </a:solidFill>
      </p:bgPr>
    </p:bg>
    <p:spTree>
      <p:nvGrpSpPr>
        <p:cNvPr id="1" name=""/>
        <p:cNvGrpSpPr/>
        <p:nvPr/>
      </p:nvGrpSpPr>
      <p:grpSpPr>
        <a:xfrm>
          <a:off x="0" y="0"/>
          <a:ext cx="0" cy="0"/>
          <a:chOff x="0" y="0"/>
          <a:chExt cx="0" cy="0"/>
        </a:xfrm>
      </p:grpSpPr>
      <p:pic>
        <p:nvPicPr>
          <p:cNvPr id="2" name="Image 0" descr="img/logo.png">    </p:cNvPr>
          <p:cNvPicPr>
            <a:picLocks noChangeAspect="1"/>
          </p:cNvPicPr>
          <p:nvPr/>
        </p:nvPicPr>
        <p:blipFill>
          <a:blip r:embed="rId1"/>
          <a:stretch>
            <a:fillRect/>
          </a:stretch>
        </p:blipFill>
        <p:spPr>
          <a:xfrm>
            <a:off x="10312400" y="101600"/>
            <a:ext cx="1574800" cy="742950"/>
          </a:xfrm>
          <a:prstGeom prst="rect">
            <a:avLst/>
          </a:prstGeom>
        </p:spPr>
      </p:pic>
      <p:sp>
        <p:nvSpPr>
          <p:cNvPr id="3" name="Text 0"/>
          <p:cNvSpPr/>
          <p:nvPr/>
        </p:nvSpPr>
        <p:spPr>
          <a:xfrm>
            <a:off x="317500" y="241300"/>
            <a:ext cx="1422400" cy="482600"/>
          </a:xfrm>
          <a:prstGeom prst="ellipse">
            <a:avLst/>
          </a:prstGeom>
          <a:solidFill>
            <a:srgbClr val="FFFFFF"/>
          </a:solidFill>
          <a:ln w="22225">
            <a:solidFill>
              <a:srgbClr val="7030A0"/>
            </a:solidFill>
          </a:ln>
          <a:effectLst>
            <a:outerShdw sx="100000" sy="100000" kx="0" ky="0" algn="bl" rotWithShape="0" blurRad="50800" dist="31750" dir="2700000">
              <a:srgbClr val="000000">
                <a:alpha val="30000"/>
              </a:srgbClr>
            </a:outerShdw>
          </a:effectLst>
        </p:spPr>
        <p:txBody>
          <a:bodyPr wrap="square" lIns="0" tIns="0" rIns="0" bIns="0" rtlCol="0" anchor="ctr"/>
          <a:lstStyle/>
          <a:p>
            <a:pPr algn="ctr" indent="0" marL="0">
              <a:buNone/>
            </a:pPr>
            <a:r>
              <a:rPr lang="en-US" sz="1250" b="1" i="1" dirty="0">
                <a:solidFill>
                  <a:srgbClr val="1F3864"/>
                </a:solidFill>
                <a:latin typeface="Cambria" pitchFamily="34" charset="0"/>
                <a:ea typeface="Cambria" pitchFamily="34" charset="-122"/>
                <a:cs typeface="Cambria" pitchFamily="34" charset="-120"/>
              </a:rPr>
              <a:t>VayuVyuha</a:t>
            </a:r>
            <a:endParaRPr lang="en-US" sz="1250" dirty="0"/>
          </a:p>
        </p:txBody>
      </p:sp>
      <p:sp>
        <p:nvSpPr>
          <p:cNvPr id="4" name="Shape 1"/>
          <p:cNvSpPr/>
          <p:nvPr/>
        </p:nvSpPr>
        <p:spPr>
          <a:xfrm>
            <a:off x="317500" y="965200"/>
            <a:ext cx="11557000" cy="0"/>
          </a:xfrm>
          <a:prstGeom prst="line">
            <a:avLst/>
          </a:prstGeom>
          <a:noFill/>
          <a:ln w="19050">
            <a:solidFill>
              <a:srgbClr val="1F6FB2"/>
            </a:solidFill>
            <a:prstDash val="solid"/>
          </a:ln>
        </p:spPr>
      </p:sp>
      <p:sp>
        <p:nvSpPr>
          <p:cNvPr id="5" name="Text 2"/>
          <p:cNvSpPr/>
          <p:nvPr>
            <p:ph idx="103" type="title" hasCustomPrompt="1"/>
          </p:nvPr>
        </p:nvSpPr>
        <p:spPr>
          <a:xfrm>
            <a:off x="1905000" y="177800"/>
            <a:ext cx="8280400" cy="685800"/>
          </a:xfrm>
          <a:prstGeom prst="rect">
            <a:avLst/>
          </a:prstGeom>
          <a:noFill/>
          <a:ln/>
        </p:spPr>
        <p:txBody>
          <a:bodyPr wrap="square" rtlCol="0"/>
          <a:lstStyle>
            <a:lvl1pPr algn="ctr" indent="0" marL="0">
              <a:buNone/>
              <a:defRPr lang="en-US" sz="2600" b="1" dirty="0">
                <a:solidFill>
                  <a:srgbClr val="1F3864"/>
                </a:solidFill>
                <a:latin typeface="Cambria" pitchFamily="34" charset="0"/>
                <a:ea typeface="Cambria" pitchFamily="34" charset="-122"/>
                <a:cs typeface="Cambria" pitchFamily="34" charset="-120"/>
              </a:defRPr>
            </a:lvl1pPr>
          </a:lstStyle>
          <a:p>
            <a:pPr algn="ctr" indent="0" marL="0">
              <a:buNone/>
            </a:pPr>
            <a:endParaRPr lang="en-US" sz="2600" dirty="0"/>
          </a:p>
        </p:txBody>
      </p:sp>
      <p:sp>
        <p:nvSpPr>
          <p:cNvPr id="25" name="Slide Number Placeholder 0"/>
          <p:cNvSpPr>
            <a:spLocks noGrp="1"/>
          </p:cNvSpPr>
          <p:nvPr>
            <p:ph type="sldNum" sz="quarter" idx="4294967295"/>
          </p:nvPr>
        </p:nvSpPr>
        <p:spPr>
          <a:xfrm>
            <a:off x="11379200" y="6502400"/>
            <a:ext cx="5588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95959"/>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79200" y="6502400"/>
            <a:ext cx="5588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9595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image" Target="../media/image-2-25.png"/><Relationship Id="rId26" Type="http://schemas.openxmlformats.org/officeDocument/2006/relationships/slideLayout" Target="../slideLayouts/slideLayout3.xml"/><Relationship Id="rId2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hyperlink" Target="https://github.com/thotapremkumar-tpk/VayuVyuha" TargetMode="External"/><Relationship Id="rId9" Type="http://schemas.openxmlformats.org/officeDocument/2006/relationships/hyperlink" Target="https://thotapremkumar-tpk.github.io/VayuVyuha/"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10" Type="http://schemas.openxmlformats.org/officeDocument/2006/relationships/slideLayout" Target="../slideLayouts/slideLayout3.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5" Type="http://schemas.openxmlformats.org/officeDocument/2006/relationships/chart" Target="/ppt/charts/chart2.xml"/><Relationship Id="rId6" Type="http://schemas.openxmlformats.org/officeDocument/2006/relationships/chart" Target="/ppt/charts/chart3.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5-10.png"/><Relationship Id="rId13" Type="http://schemas.openxmlformats.org/officeDocument/2006/relationships/slideLayout" Target="../slideLayouts/slideLayout3.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api.army.mil/e2/c/downloads/2023/11/29/73a4ee9f/24-811-army-operations-and-the-air-tasking-cycle-nov-23-public.pdf" TargetMode="External"/><Relationship Id="rId3" Type="http://schemas.openxmlformats.org/officeDocument/2006/relationships/hyperlink" Target="https://api.army.mil/e2/c/downloads/2023/11/29/73a4ee9f/24-811-army-operations-and-the-air-tasking-cycle-nov-23-public.pdf" TargetMode="External"/><Relationship Id="rId4" Type="http://schemas.openxmlformats.org/officeDocument/2006/relationships/hyperlink" Target="https://www.af.mil/News/Article-Display/Article/2599423/609th-aoc-optimizes-ato-production-first-to-use-krados-operationally/" TargetMode="External"/><Relationship Id="rId5" Type="http://schemas.openxmlformats.org/officeDocument/2006/relationships/hyperlink" Target="https://www.af.mil/News/Article-Display/Article/2599423/609th-aoc-optimizes-ato-production-first-to-use-krados-operationally/" TargetMode="External"/><Relationship Id="rId6" Type="http://schemas.openxmlformats.org/officeDocument/2006/relationships/hyperlink" Target="https://idrw.org/indian-air-force-to-equip-air-battle-managers-with-ai-based-decision-support-tools/" TargetMode="External"/><Relationship Id="rId7" Type="http://schemas.openxmlformats.org/officeDocument/2006/relationships/hyperlink" Target="https://idrw.org/indian-air-force-to-equip-air-battle-managers-with-ai-based-decision-support-tools/" TargetMode="External"/><Relationship Id="rId8" Type="http://schemas.openxmlformats.org/officeDocument/2006/relationships/hyperlink" Target="https://man.fas.org/dod-101/sys/ac/docs/99-179.htm" TargetMode="External"/><Relationship Id="rId9" Type="http://schemas.openxmlformats.org/officeDocument/2006/relationships/hyperlink" Target="https://man.fas.org/dod-101/sys/ac/docs/99-179.htm" TargetMode="External"/><Relationship Id="rId11" Type="http://schemas.openxmlformats.org/officeDocument/2006/relationships/hyperlink" Target="https://www.rand.org/pubs/research_reports/RR4408z1.html" TargetMode="External"/><Relationship Id="rId12" Type="http://schemas.openxmlformats.org/officeDocument/2006/relationships/hyperlink" Target="https://www.rand.org/pubs/research_reports/RR4408z1.html" TargetMode="External"/><Relationship Id="rId13" Type="http://schemas.openxmlformats.org/officeDocument/2006/relationships/hyperlink" Target="https://www.rand.org/pubs/research_reports/RR4311.html" TargetMode="External"/><Relationship Id="rId14" Type="http://schemas.openxmlformats.org/officeDocument/2006/relationships/hyperlink" Target="https://www.rand.org/pubs/research_reports/RR4311.html" TargetMode="External"/><Relationship Id="rId15" Type="http://schemas.openxmlformats.org/officeDocument/2006/relationships/hyperlink" Target="https://dsiac.dtic.mil/articles/real-time-tasking-and-retasking-of-multiple-coordinated-uavs/" TargetMode="External"/><Relationship Id="rId16" Type="http://schemas.openxmlformats.org/officeDocument/2006/relationships/hyperlink" Target="https://dsiac.dtic.mil/articles/real-time-tasking-and-retasking-of-multiple-coordinated-uavs/" TargetMode="External"/><Relationship Id="rId18" Type="http://schemas.openxmlformats.org/officeDocument/2006/relationships/hyperlink" Target="https://www.mdpi.com/2079-9292/9/9/1511" TargetMode="External"/><Relationship Id="rId19" Type="http://schemas.openxmlformats.org/officeDocument/2006/relationships/hyperlink" Target="https://www.mdpi.com/2079-9292/9/9/1511" TargetMode="External"/><Relationship Id="rId20" Type="http://schemas.openxmlformats.org/officeDocument/2006/relationships/hyperlink" Target="https://www.sciencedirect.com/science/article/abs/pii/S0952197624013708" TargetMode="External"/><Relationship Id="rId21" Type="http://schemas.openxmlformats.org/officeDocument/2006/relationships/hyperlink" Target="https://www.sciencedirect.com/science/article/abs/pii/S0952197624013708" TargetMode="External"/><Relationship Id="rId22" Type="http://schemas.openxmlformats.org/officeDocument/2006/relationships/hyperlink" Target="https://www.sciencedirect.com/science/article/pii/S2214914724001867" TargetMode="External"/><Relationship Id="rId23" Type="http://schemas.openxmlformats.org/officeDocument/2006/relationships/hyperlink" Target="https://www.sciencedirect.com/science/article/pii/S2214914724001867" TargetMode="External"/><Relationship Id="rId24" Type="http://schemas.openxmlformats.org/officeDocument/2006/relationships/hyperlink" Target="https://onlinelibrary.wiley.com/doi/10.1155/2022/6180618" TargetMode="External"/><Relationship Id="rId25" Type="http://schemas.openxmlformats.org/officeDocument/2006/relationships/hyperlink" Target="https://onlinelibrary.wiley.com/doi/10.1155/2022/6180618" TargetMode="External"/><Relationship Id="rId27" Type="http://schemas.openxmlformats.org/officeDocument/2006/relationships/hyperlink" Target="https://pubsonline.informs.org/doi/10.1287/trsc.1050.0135" TargetMode="External"/><Relationship Id="rId28" Type="http://schemas.openxmlformats.org/officeDocument/2006/relationships/hyperlink" Target="https://pubsonline.informs.org/doi/10.1287/trsc.1050.0135" TargetMode="External"/><Relationship Id="rId29" Type="http://schemas.openxmlformats.org/officeDocument/2006/relationships/hyperlink" Target="https://dspace.mit.edu/entities/publication/b0bf0a05-be3b-433b-9f4b-ce314ed5178b" TargetMode="External"/><Relationship Id="rId30" Type="http://schemas.openxmlformats.org/officeDocument/2006/relationships/hyperlink" Target="https://dspace.mit.edu/entities/publication/b0bf0a05-be3b-433b-9f4b-ce314ed5178b" TargetMode="External"/><Relationship Id="rId32" Type="http://schemas.openxmlformats.org/officeDocument/2006/relationships/hyperlink" Target="https://link.springer.com/article/10.1007/s43684-025-00104-1" TargetMode="External"/><Relationship Id="rId33" Type="http://schemas.openxmlformats.org/officeDocument/2006/relationships/hyperlink" Target="https://link.springer.com/article/10.1007/s43684-025-00104-1" TargetMode="External"/><Relationship Id="rId34" Type="http://schemas.openxmlformats.org/officeDocument/2006/relationships/hyperlink" Target="https://www.sciencedirect.com/science/article/pii/S2214914725002260" TargetMode="External"/><Relationship Id="rId35" Type="http://schemas.openxmlformats.org/officeDocument/2006/relationships/hyperlink" Target="https://www.sciencedirect.com/science/article/pii/S2214914725002260" TargetMode="External"/><Relationship Id="rId37" Type="http://schemas.openxmlformats.org/officeDocument/2006/relationships/hyperlink" Target="https://developers.google.com/optimization/cp/cp_solver" TargetMode="External"/><Relationship Id="rId38" Type="http://schemas.openxmlformats.org/officeDocument/2006/relationships/hyperlink" Target="https://developers.google.com/optimization/cp/cp_solver" TargetMode="External"/><Relationship Id="rId39" Type="http://schemas.openxmlformats.org/officeDocument/2006/relationships/hyperlink" Target="https://scikit-learn.org/stable/modules/ensemble.html" TargetMode="External"/><Relationship Id="rId40" Type="http://schemas.openxmlformats.org/officeDocument/2006/relationships/hyperlink" Target="https://scikit-learn.org/stable/modules/ensemble.html" TargetMode="External"/><Relationship Id="rId1" Type="http://schemas.openxmlformats.org/officeDocument/2006/relationships/image" Target="../media/image-6-1.png"/><Relationship Id="rId10" Type="http://schemas.openxmlformats.org/officeDocument/2006/relationships/image" Target="../media/image-6-2.png"/><Relationship Id="rId17" Type="http://schemas.openxmlformats.org/officeDocument/2006/relationships/image" Target="../media/image-6-3.png"/><Relationship Id="rId26" Type="http://schemas.openxmlformats.org/officeDocument/2006/relationships/image" Target="../media/image-6-4.png"/><Relationship Id="rId31" Type="http://schemas.openxmlformats.org/officeDocument/2006/relationships/image" Target="../media/image-6-5.png"/><Relationship Id="rId36" Type="http://schemas.openxmlformats.org/officeDocument/2006/relationships/image" Target="../media/image-6-6.png"/><Relationship Id="rId41" Type="http://schemas.openxmlformats.org/officeDocument/2006/relationships/slideLayout" Target="../slideLayouts/slideLayout3.xml"/><Relationship Id="rId4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3" type="title" hasCustomPrompt="1"/>
          </p:nvPr>
        </p:nvSpPr>
        <p:spPr>
          <a:xfrm>
            <a:off x="2286000" y="1244600"/>
            <a:ext cx="7620000" cy="584200"/>
          </a:xfrm>
          <a:prstGeom prst="rect">
            <a:avLst/>
          </a:prstGeom>
          <a:noFill/>
          <a:ln/>
        </p:spPr>
        <p:txBody>
          <a:bodyPr wrap="square" lIns="0" tIns="0" rIns="0" bIns="0" rtlCol="0" anchor="ctr"/>
          <a:lstStyle/>
          <a:p>
            <a:pPr algn="ctr" indent="0" marL="0">
              <a:buNone/>
            </a:pPr>
            <a:r>
              <a:rPr lang="en-US" sz="2600" b="1" dirty="0">
                <a:solidFill>
                  <a:srgbClr val="1F3864"/>
                </a:solidFill>
                <a:latin typeface="Cambria" pitchFamily="34" charset="0"/>
                <a:ea typeface="Cambria" pitchFamily="34" charset="-122"/>
                <a:cs typeface="Cambria" pitchFamily="34" charset="-120"/>
              </a:rPr>
              <a:t>TITLE PAGE</a:t>
            </a:r>
            <a:endParaRPr lang="en-US" sz="2600" dirty="0"/>
          </a:p>
        </p:txBody>
      </p:sp>
      <p:sp>
        <p:nvSpPr>
          <p:cNvPr id="3" name="Title page fields"/>
          <p:cNvSpPr txBox="1"/>
          <p:nvPr/>
        </p:nvSpPr>
        <p:spPr>
          <a:xfrm>
            <a:off x="660400" y="2184400"/>
            <a:ext cx="7112000" cy="3556000"/>
          </a:xfrm>
          <a:prstGeom prst="rect">
            <a:avLst/>
          </a:prstGeom>
          <a:noFill/>
          <a:ln/>
        </p:spPr>
        <p:txBody>
          <a:bodyPr wrap="square" lIns="0" tIns="0" rIns="0" bIns="0" rtlCol="0" anchor="t"/>
          <a:lstStyle/>
          <a:p>
            <a:pPr indent="0" marL="0">
              <a:spcAft>
                <a:spcPts val="1200"/>
              </a:spcAft>
              <a:buNone/>
            </a:pPr>
            <a:r>
              <a:rPr lang="en-US" sz="1500" b="1" dirty="0">
                <a:solidFill>
                  <a:srgbClr val="1A1A1A"/>
                </a:solidFill>
                <a:latin typeface="Calibri" pitchFamily="34" charset="0"/>
                <a:ea typeface="Calibri" pitchFamily="34" charset="-122"/>
                <a:cs typeface="Calibri" pitchFamily="34" charset="-120"/>
              </a:rPr>
              <a:t>Problem Statement ID – </a:t>
            </a:r>
            <a:r>
              <a:rPr lang="en-US" sz="1500" dirty="0">
                <a:solidFill>
                  <a:srgbClr val="1A1A1A"/>
                </a:solidFill>
                <a:latin typeface="Calibri" pitchFamily="34" charset="0"/>
                <a:ea typeface="Calibri" pitchFamily="34" charset="-122"/>
                <a:cs typeface="Calibri" pitchFamily="34" charset="-120"/>
              </a:rPr>
              <a:t>SIH26250</a:t>
            </a:r>
            <a:endParaRPr lang="en-US" sz="1500" dirty="0"/>
          </a:p>
          <a:p>
            <a:pPr indent="0" marL="0">
              <a:spcAft>
                <a:spcPts val="1200"/>
              </a:spcAft>
              <a:buNone/>
            </a:pPr>
            <a:r>
              <a:rPr lang="en-US" sz="1500" b="1" dirty="0">
                <a:solidFill>
                  <a:srgbClr val="1A1A1A"/>
                </a:solidFill>
                <a:latin typeface="Calibri" pitchFamily="34" charset="0"/>
                <a:ea typeface="Calibri" pitchFamily="34" charset="-122"/>
                <a:cs typeface="Calibri" pitchFamily="34" charset="-120"/>
              </a:rPr>
              <a:t>Problem Statement Title – </a:t>
            </a:r>
            <a:r>
              <a:rPr lang="en-US" sz="1500" dirty="0">
                <a:solidFill>
                  <a:srgbClr val="1A1A1A"/>
                </a:solidFill>
                <a:latin typeface="Calibri" pitchFamily="34" charset="0"/>
                <a:ea typeface="Calibri" pitchFamily="34" charset="-122"/>
                <a:cs typeface="Calibri" pitchFamily="34" charset="-120"/>
              </a:rPr>
              <a:t>Air Power - Dynamic Air Operations &amp; Resource Optimisation.</a:t>
            </a:r>
            <a:endParaRPr lang="en-US" sz="1500" dirty="0"/>
          </a:p>
          <a:p>
            <a:pPr indent="0" marL="0">
              <a:spcAft>
                <a:spcPts val="1200"/>
              </a:spcAft>
              <a:buNone/>
            </a:pPr>
            <a:r>
              <a:rPr lang="en-US" sz="1500" b="1" dirty="0">
                <a:solidFill>
                  <a:srgbClr val="1A1A1A"/>
                </a:solidFill>
                <a:latin typeface="Calibri" pitchFamily="34" charset="0"/>
                <a:ea typeface="Calibri" pitchFamily="34" charset="-122"/>
                <a:cs typeface="Calibri" pitchFamily="34" charset="-120"/>
              </a:rPr>
              <a:t>Theme – </a:t>
            </a:r>
            <a:r>
              <a:rPr lang="en-US" sz="1500" dirty="0">
                <a:solidFill>
                  <a:srgbClr val="1A1A1A"/>
                </a:solidFill>
                <a:latin typeface="Calibri" pitchFamily="34" charset="0"/>
                <a:ea typeface="Calibri" pitchFamily="34" charset="-122"/>
                <a:cs typeface="Calibri" pitchFamily="34" charset="-120"/>
              </a:rPr>
              <a:t>Transportation &amp; Logistics</a:t>
            </a:r>
            <a:endParaRPr lang="en-US" sz="1500" dirty="0"/>
          </a:p>
          <a:p>
            <a:pPr indent="0" marL="0">
              <a:spcAft>
                <a:spcPts val="1200"/>
              </a:spcAft>
              <a:buNone/>
            </a:pPr>
            <a:r>
              <a:rPr lang="en-US" sz="1500" b="1" dirty="0">
                <a:solidFill>
                  <a:srgbClr val="1A1A1A"/>
                </a:solidFill>
                <a:latin typeface="Calibri" pitchFamily="34" charset="0"/>
                <a:ea typeface="Calibri" pitchFamily="34" charset="-122"/>
                <a:cs typeface="Calibri" pitchFamily="34" charset="-120"/>
              </a:rPr>
              <a:t>PS Category – </a:t>
            </a:r>
            <a:r>
              <a:rPr lang="en-US" sz="1500" dirty="0">
                <a:solidFill>
                  <a:srgbClr val="1A1A1A"/>
                </a:solidFill>
                <a:latin typeface="Calibri" pitchFamily="34" charset="0"/>
                <a:ea typeface="Calibri" pitchFamily="34" charset="-122"/>
                <a:cs typeface="Calibri" pitchFamily="34" charset="-120"/>
              </a:rPr>
              <a:t>Software</a:t>
            </a:r>
            <a:endParaRPr lang="en-US" sz="1500" dirty="0"/>
          </a:p>
          <a:p>
            <a:pPr indent="0" marL="0">
              <a:spcAft>
                <a:spcPts val="1200"/>
              </a:spcAft>
              <a:buNone/>
            </a:pPr>
            <a:r>
              <a:rPr lang="en-US" sz="1500" b="1" dirty="0">
                <a:solidFill>
                  <a:srgbClr val="1A1A1A"/>
                </a:solidFill>
                <a:latin typeface="Calibri" pitchFamily="34" charset="0"/>
                <a:ea typeface="Calibri" pitchFamily="34" charset="-122"/>
                <a:cs typeface="Calibri" pitchFamily="34" charset="-120"/>
              </a:rPr>
              <a:t>Team ID – </a:t>
            </a:r>
            <a:r>
              <a:rPr lang="en-US" sz="1500" dirty="0">
                <a:solidFill>
                  <a:srgbClr val="1A1A1A"/>
                </a:solidFill>
                <a:latin typeface="Calibri" pitchFamily="34" charset="0"/>
                <a:ea typeface="Calibri" pitchFamily="34" charset="-122"/>
                <a:cs typeface="Calibri" pitchFamily="34" charset="-120"/>
              </a:rPr>
              <a:t>[to be added]</a:t>
            </a:r>
            <a:endParaRPr lang="en-US" sz="1500" dirty="0"/>
          </a:p>
          <a:p>
            <a:pPr indent="0" marL="0">
              <a:spcAft>
                <a:spcPts val="1200"/>
              </a:spcAft>
              <a:buNone/>
            </a:pPr>
            <a:r>
              <a:rPr lang="en-US" sz="1500" b="1" dirty="0">
                <a:solidFill>
                  <a:srgbClr val="1A1A1A"/>
                </a:solidFill>
                <a:latin typeface="Calibri" pitchFamily="34" charset="0"/>
                <a:ea typeface="Calibri" pitchFamily="34" charset="-122"/>
                <a:cs typeface="Calibri" pitchFamily="34" charset="-120"/>
              </a:rPr>
              <a:t>Team Name (Registered on portal) – </a:t>
            </a:r>
            <a:r>
              <a:rPr lang="en-US" sz="1500" dirty="0">
                <a:solidFill>
                  <a:srgbClr val="1A1A1A"/>
                </a:solidFill>
                <a:latin typeface="Calibri" pitchFamily="34" charset="0"/>
                <a:ea typeface="Calibri" pitchFamily="34" charset="-122"/>
                <a:cs typeface="Calibri" pitchFamily="34" charset="-120"/>
              </a:rPr>
              <a:t>VayuVyuha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1905000" y="177800"/>
            <a:ext cx="8280400" cy="685800"/>
          </a:xfrm>
          <a:prstGeom prst="rect">
            <a:avLst/>
          </a:prstGeom>
          <a:noFill/>
          <a:ln/>
        </p:spPr>
        <p:txBody>
          <a:bodyPr wrap="square" lIns="0" tIns="0" rIns="0" bIns="0" rtlCol="0" anchor="ctr"/>
          <a:lstStyle/>
          <a:p>
            <a:pPr algn="ctr" indent="0" marL="0">
              <a:buNone/>
            </a:pPr>
            <a:r>
              <a:rPr lang="en-US" sz="1700" b="1" dirty="0">
                <a:solidFill>
                  <a:srgbClr val="1F3864"/>
                </a:solidFill>
                <a:latin typeface="Cambria" pitchFamily="34" charset="0"/>
                <a:ea typeface="Cambria" pitchFamily="34" charset="-122"/>
                <a:cs typeface="Cambria" pitchFamily="34" charset="-120"/>
              </a:rPr>
              <a:t>VayuVyuha — AI Decision Support for Dynamic Air Operations &amp; Resource Optimisation</a:t>
            </a:r>
            <a:endParaRPr lang="en-US" sz="2600" dirty="0"/>
          </a:p>
        </p:txBody>
      </p:sp>
      <p:sp>
        <p:nvSpPr>
          <p:cNvPr id="3" name="Problem card"/>
          <p:cNvSpPr/>
          <p:nvPr/>
        </p:nvSpPr>
        <p:spPr>
          <a:xfrm>
            <a:off x="317500" y="1117600"/>
            <a:ext cx="5549900" cy="1092200"/>
          </a:xfrm>
          <a:prstGeom prst="roundRect">
            <a:avLst>
              <a:gd name="adj" fmla="val 5860"/>
            </a:avLst>
          </a:prstGeom>
          <a:solidFill>
            <a:srgbClr val="C8504B">
              <a:alpha val="7000"/>
            </a:srgbClr>
          </a:solidFill>
          <a:ln w="9525">
            <a:solidFill>
              <a:srgbClr val="C8504B">
                <a:alpha val="45000"/>
              </a:srgbClr>
            </a:solidFill>
            <a:prstDash val="solid"/>
          </a:ln>
          <a:effectLst>
            <a:outerShdw sx="100000" sy="100000" kx="0" ky="0" algn="bl" rotWithShape="0" blurRad="63500" dist="19050" dir="5400000">
              <a:srgbClr val="1F3864">
                <a:alpha val="12000"/>
              </a:srgbClr>
            </a:outerShdw>
          </a:effectLst>
        </p:spPr>
      </p:sp>
      <p:sp>
        <p:nvSpPr>
          <p:cNvPr id="4" name="Problem label"/>
          <p:cNvSpPr txBox="1"/>
          <p:nvPr/>
        </p:nvSpPr>
        <p:spPr>
          <a:xfrm>
            <a:off x="495300" y="1206500"/>
            <a:ext cx="3810000" cy="165100"/>
          </a:xfrm>
          <a:prstGeom prst="rect">
            <a:avLst/>
          </a:prstGeom>
          <a:noFill/>
          <a:ln/>
        </p:spPr>
        <p:txBody>
          <a:bodyPr wrap="square" lIns="0" tIns="0" rIns="0" bIns="0" rtlCol="0" anchor="t"/>
          <a:lstStyle/>
          <a:p>
            <a:pPr indent="0" marL="0">
              <a:buNone/>
            </a:pPr>
            <a:r>
              <a:rPr lang="en-US" sz="850" b="1" spc="120" kern="0" dirty="0">
                <a:solidFill>
                  <a:srgbClr val="C8504B"/>
                </a:solidFill>
                <a:latin typeface="Calibri" pitchFamily="34" charset="0"/>
                <a:ea typeface="Calibri" pitchFamily="34" charset="-122"/>
                <a:cs typeface="Calibri" pitchFamily="34" charset="-120"/>
              </a:rPr>
              <a:t>THE PROBLEM TODAY</a:t>
            </a:r>
            <a:endParaRPr lang="en-US" sz="850" dirty="0"/>
          </a:p>
        </p:txBody>
      </p:sp>
      <p:sp>
        <p:nvSpPr>
          <p:cNvPr id="5" name="Problem number"/>
          <p:cNvSpPr txBox="1"/>
          <p:nvPr/>
        </p:nvSpPr>
        <p:spPr>
          <a:xfrm>
            <a:off x="495300" y="1371600"/>
            <a:ext cx="1524000" cy="431800"/>
          </a:xfrm>
          <a:prstGeom prst="rect">
            <a:avLst/>
          </a:prstGeom>
          <a:noFill/>
          <a:ln/>
        </p:spPr>
        <p:txBody>
          <a:bodyPr wrap="square" lIns="0" tIns="0" rIns="0" bIns="0" rtlCol="0" anchor="ctr"/>
          <a:lstStyle/>
          <a:p>
            <a:pPr indent="0" marL="0">
              <a:buNone/>
            </a:pPr>
            <a:r>
              <a:rPr lang="en-US" sz="2600" b="1" dirty="0">
                <a:solidFill>
                  <a:srgbClr val="C8504B"/>
                </a:solidFill>
                <a:latin typeface="Cambria" pitchFamily="34" charset="0"/>
                <a:ea typeface="Cambria" pitchFamily="34" charset="-122"/>
                <a:cs typeface="Cambria" pitchFamily="34" charset="-120"/>
              </a:rPr>
              <a:t>72–96 h</a:t>
            </a:r>
            <a:endParaRPr lang="en-US" sz="2600" dirty="0"/>
          </a:p>
        </p:txBody>
      </p:sp>
      <p:sp>
        <p:nvSpPr>
          <p:cNvPr id="6" name="Problem number label"/>
          <p:cNvSpPr txBox="1"/>
          <p:nvPr/>
        </p:nvSpPr>
        <p:spPr>
          <a:xfrm>
            <a:off x="495300" y="1816100"/>
            <a:ext cx="1625600" cy="330200"/>
          </a:xfrm>
          <a:prstGeom prst="rect">
            <a:avLst/>
          </a:prstGeom>
          <a:noFill/>
          <a:ln/>
        </p:spPr>
        <p:txBody>
          <a:bodyPr wrap="square" lIns="0" tIns="0" rIns="0" bIns="0" rtlCol="0" anchor="t"/>
          <a:lstStyle/>
          <a:p>
            <a:pPr indent="0" marL="0">
              <a:buNone/>
            </a:pPr>
            <a:r>
              <a:rPr lang="en-US" sz="860" dirty="0">
                <a:solidFill>
                  <a:srgbClr val="595959"/>
                </a:solidFill>
                <a:latin typeface="Calibri" pitchFamily="34" charset="0"/>
                <a:ea typeface="Calibri" pitchFamily="34" charset="-122"/>
                <a:cs typeface="Calibri" pitchFamily="34" charset="-120"/>
              </a:rPr>
              <a:t>to build an air plan (US Army CALL, 2023)</a:t>
            </a:r>
            <a:endParaRPr lang="en-US" sz="860" dirty="0"/>
          </a:p>
        </p:txBody>
      </p:sp>
      <p:pic>
        <p:nvPicPr>
          <p:cNvPr id="7" name="Image 0" descr="Problem icon 1">    </p:cNvPr>
          <p:cNvPicPr>
            <a:picLocks noChangeAspect="1"/>
          </p:cNvPicPr>
          <p:nvPr/>
        </p:nvPicPr>
        <p:blipFill>
          <a:blip r:embed="rId1"/>
          <a:stretch>
            <a:fillRect/>
          </a:stretch>
        </p:blipFill>
        <p:spPr>
          <a:xfrm>
            <a:off x="2247900" y="1263650"/>
            <a:ext cx="139700" cy="139700"/>
          </a:xfrm>
          <a:prstGeom prst="rect">
            <a:avLst/>
          </a:prstGeom>
        </p:spPr>
      </p:pic>
      <p:sp>
        <p:nvSpPr>
          <p:cNvPr id="8" name="Problem point 1"/>
          <p:cNvSpPr txBox="1"/>
          <p:nvPr/>
        </p:nvSpPr>
        <p:spPr>
          <a:xfrm>
            <a:off x="2476500" y="1206500"/>
            <a:ext cx="3276600" cy="25400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Aircraft, crew, weapon, weather and threat data sit in separate systems</a:t>
            </a:r>
            <a:endParaRPr lang="en-US" sz="1050" dirty="0"/>
          </a:p>
        </p:txBody>
      </p:sp>
      <p:pic>
        <p:nvPicPr>
          <p:cNvPr id="9" name="Image 1" descr="Problem icon 2">    </p:cNvPr>
          <p:cNvPicPr>
            <a:picLocks noChangeAspect="1"/>
          </p:cNvPicPr>
          <p:nvPr/>
        </p:nvPicPr>
        <p:blipFill>
          <a:blip r:embed="rId2"/>
          <a:stretch>
            <a:fillRect/>
          </a:stretch>
        </p:blipFill>
        <p:spPr>
          <a:xfrm>
            <a:off x="2247900" y="1568450"/>
            <a:ext cx="139700" cy="139700"/>
          </a:xfrm>
          <a:prstGeom prst="rect">
            <a:avLst/>
          </a:prstGeom>
        </p:spPr>
      </p:pic>
      <p:sp>
        <p:nvSpPr>
          <p:cNvPr id="10" name="Problem point 2"/>
          <p:cNvSpPr txBox="1"/>
          <p:nvPr/>
        </p:nvSpPr>
        <p:spPr>
          <a:xfrm>
            <a:off x="2476500" y="1511300"/>
            <a:ext cx="3276600" cy="25400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Re-tasking after a change is manual and slow</a:t>
            </a:r>
            <a:endParaRPr lang="en-US" sz="1050" dirty="0"/>
          </a:p>
        </p:txBody>
      </p:sp>
      <p:pic>
        <p:nvPicPr>
          <p:cNvPr id="11" name="Image 2" descr="Problem icon 3">    </p:cNvPr>
          <p:cNvPicPr>
            <a:picLocks noChangeAspect="1"/>
          </p:cNvPicPr>
          <p:nvPr/>
        </p:nvPicPr>
        <p:blipFill>
          <a:blip r:embed="rId3"/>
          <a:stretch>
            <a:fillRect/>
          </a:stretch>
        </p:blipFill>
        <p:spPr>
          <a:xfrm>
            <a:off x="2247900" y="1873250"/>
            <a:ext cx="139700" cy="139700"/>
          </a:xfrm>
          <a:prstGeom prst="rect">
            <a:avLst/>
          </a:prstGeom>
        </p:spPr>
      </p:pic>
      <p:sp>
        <p:nvSpPr>
          <p:cNvPr id="12" name="Problem point 3"/>
          <p:cNvSpPr txBox="1"/>
          <p:nvPr/>
        </p:nvSpPr>
        <p:spPr>
          <a:xfrm>
            <a:off x="2476500" y="1816100"/>
            <a:ext cx="3276600" cy="25400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Scarce aircraft are under-used</a:t>
            </a:r>
            <a:endParaRPr lang="en-US" sz="1050" dirty="0"/>
          </a:p>
        </p:txBody>
      </p:sp>
      <p:sp>
        <p:nvSpPr>
          <p:cNvPr id="13" name="Problem to idea arrow"/>
          <p:cNvSpPr/>
          <p:nvPr/>
        </p:nvSpPr>
        <p:spPr>
          <a:xfrm>
            <a:off x="5892800" y="1524000"/>
            <a:ext cx="406400" cy="279400"/>
          </a:xfrm>
          <a:prstGeom prst="rightArrow">
            <a:avLst/>
          </a:prstGeom>
          <a:solidFill>
            <a:srgbClr val="E07A1F"/>
          </a:solidFill>
          <a:ln w="12700">
            <a:solidFill>
              <a:srgbClr val="E07A1F"/>
            </a:solidFill>
            <a:prstDash val="solid"/>
          </a:ln>
        </p:spPr>
      </p:sp>
      <p:sp>
        <p:nvSpPr>
          <p:cNvPr id="14" name="Idea card"/>
          <p:cNvSpPr/>
          <p:nvPr/>
        </p:nvSpPr>
        <p:spPr>
          <a:xfrm>
            <a:off x="6324600" y="1117600"/>
            <a:ext cx="5549900" cy="1092200"/>
          </a:xfrm>
          <a:prstGeom prst="roundRect">
            <a:avLst>
              <a:gd name="adj" fmla="val 5860"/>
            </a:avLst>
          </a:prstGeom>
          <a:solidFill>
            <a:srgbClr val="1F6FB2">
              <a:alpha val="7000"/>
            </a:srgbClr>
          </a:solidFill>
          <a:ln w="9525">
            <a:solidFill>
              <a:srgbClr val="1F6FB2">
                <a:alpha val="45000"/>
              </a:srgbClr>
            </a:solidFill>
            <a:prstDash val="solid"/>
          </a:ln>
          <a:effectLst>
            <a:outerShdw sx="100000" sy="100000" kx="0" ky="0" algn="bl" rotWithShape="0" blurRad="63500" dist="19050" dir="5400000">
              <a:srgbClr val="1F3864">
                <a:alpha val="12000"/>
              </a:srgbClr>
            </a:outerShdw>
          </a:effectLst>
        </p:spPr>
      </p:sp>
      <p:sp>
        <p:nvSpPr>
          <p:cNvPr id="15" name="Idea label"/>
          <p:cNvSpPr txBox="1"/>
          <p:nvPr/>
        </p:nvSpPr>
        <p:spPr>
          <a:xfrm>
            <a:off x="6502400" y="12065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OUR IDEA</a:t>
            </a:r>
            <a:endParaRPr lang="en-US" sz="850" dirty="0"/>
          </a:p>
        </p:txBody>
      </p:sp>
      <p:sp>
        <p:nvSpPr>
          <p:cNvPr id="16" name="Idea number"/>
          <p:cNvSpPr txBox="1"/>
          <p:nvPr/>
        </p:nvSpPr>
        <p:spPr>
          <a:xfrm>
            <a:off x="6502400" y="1371600"/>
            <a:ext cx="1524000" cy="431800"/>
          </a:xfrm>
          <a:prstGeom prst="rect">
            <a:avLst/>
          </a:prstGeom>
          <a:noFill/>
          <a:ln/>
        </p:spPr>
        <p:txBody>
          <a:bodyPr wrap="square" lIns="0" tIns="0" rIns="0" bIns="0" rtlCol="0" anchor="ctr"/>
          <a:lstStyle/>
          <a:p>
            <a:pPr indent="0" marL="0">
              <a:buNone/>
            </a:pPr>
            <a:r>
              <a:rPr lang="en-US" sz="2600" b="1" dirty="0">
                <a:solidFill>
                  <a:srgbClr val="1F6FB2"/>
                </a:solidFill>
                <a:latin typeface="Cambria" pitchFamily="34" charset="0"/>
                <a:ea typeface="Cambria" pitchFamily="34" charset="-122"/>
                <a:cs typeface="Cambria" pitchFamily="34" charset="-120"/>
              </a:rPr>
              <a:t>&lt; 1 s</a:t>
            </a:r>
            <a:endParaRPr lang="en-US" sz="2600" dirty="0"/>
          </a:p>
        </p:txBody>
      </p:sp>
      <p:sp>
        <p:nvSpPr>
          <p:cNvPr id="17" name="Idea number label"/>
          <p:cNvSpPr txBox="1"/>
          <p:nvPr/>
        </p:nvSpPr>
        <p:spPr>
          <a:xfrm>
            <a:off x="6502400" y="1816100"/>
            <a:ext cx="1625600" cy="330200"/>
          </a:xfrm>
          <a:prstGeom prst="rect">
            <a:avLst/>
          </a:prstGeom>
          <a:noFill/>
          <a:ln/>
        </p:spPr>
        <p:txBody>
          <a:bodyPr wrap="square" lIns="0" tIns="0" rIns="0" bIns="0" rtlCol="0" anchor="t"/>
          <a:lstStyle/>
          <a:p>
            <a:pPr indent="0" marL="0">
              <a:buNone/>
            </a:pPr>
            <a:r>
              <a:rPr lang="en-US" sz="860" dirty="0">
                <a:solidFill>
                  <a:srgbClr val="595959"/>
                </a:solidFill>
                <a:latin typeface="Calibri" pitchFamily="34" charset="0"/>
                <a:ea typeface="Calibri" pitchFamily="34" charset="-122"/>
                <a:cs typeface="Calibri" pitchFamily="34" charset="-120"/>
              </a:rPr>
              <a:t>to re-plan after any change, in the prototype</a:t>
            </a:r>
            <a:endParaRPr lang="en-US" sz="860" dirty="0"/>
          </a:p>
        </p:txBody>
      </p:sp>
      <p:pic>
        <p:nvPicPr>
          <p:cNvPr id="18" name="Image 3" descr="Idea icon 1">    </p:cNvPr>
          <p:cNvPicPr>
            <a:picLocks noChangeAspect="1"/>
          </p:cNvPicPr>
          <p:nvPr/>
        </p:nvPicPr>
        <p:blipFill>
          <a:blip r:embed="rId4"/>
          <a:stretch>
            <a:fillRect/>
          </a:stretch>
        </p:blipFill>
        <p:spPr>
          <a:xfrm>
            <a:off x="8255000" y="1263650"/>
            <a:ext cx="139700" cy="139700"/>
          </a:xfrm>
          <a:prstGeom prst="rect">
            <a:avLst/>
          </a:prstGeom>
        </p:spPr>
      </p:pic>
      <p:sp>
        <p:nvSpPr>
          <p:cNvPr id="19" name="Idea point 1"/>
          <p:cNvSpPr txBox="1"/>
          <p:nvPr/>
        </p:nvSpPr>
        <p:spPr>
          <a:xfrm>
            <a:off x="8483600" y="1206500"/>
            <a:ext cx="3276600" cy="25400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One live operating picture from every feed</a:t>
            </a:r>
            <a:endParaRPr lang="en-US" sz="1050" dirty="0"/>
          </a:p>
        </p:txBody>
      </p:sp>
      <p:pic>
        <p:nvPicPr>
          <p:cNvPr id="20" name="Image 4" descr="Idea icon 2">    </p:cNvPr>
          <p:cNvPicPr>
            <a:picLocks noChangeAspect="1"/>
          </p:cNvPicPr>
          <p:nvPr/>
        </p:nvPicPr>
        <p:blipFill>
          <a:blip r:embed="rId5"/>
          <a:stretch>
            <a:fillRect/>
          </a:stretch>
        </p:blipFill>
        <p:spPr>
          <a:xfrm>
            <a:off x="8255000" y="1568450"/>
            <a:ext cx="139700" cy="139700"/>
          </a:xfrm>
          <a:prstGeom prst="rect">
            <a:avLst/>
          </a:prstGeom>
        </p:spPr>
      </p:pic>
      <p:sp>
        <p:nvSpPr>
          <p:cNvPr id="21" name="Idea point 2"/>
          <p:cNvSpPr txBox="1"/>
          <p:nvPr/>
        </p:nvSpPr>
        <p:spPr>
          <a:xfrm>
            <a:off x="8483600" y="1511300"/>
            <a:ext cx="3276600" cy="25400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Ranked options, with a reason for each change</a:t>
            </a:r>
            <a:endParaRPr lang="en-US" sz="1050" dirty="0"/>
          </a:p>
        </p:txBody>
      </p:sp>
      <p:pic>
        <p:nvPicPr>
          <p:cNvPr id="22" name="Image 5" descr="Idea icon 3">    </p:cNvPr>
          <p:cNvPicPr>
            <a:picLocks noChangeAspect="1"/>
          </p:cNvPicPr>
          <p:nvPr/>
        </p:nvPicPr>
        <p:blipFill>
          <a:blip r:embed="rId6"/>
          <a:stretch>
            <a:fillRect/>
          </a:stretch>
        </p:blipFill>
        <p:spPr>
          <a:xfrm>
            <a:off x="8255000" y="1873250"/>
            <a:ext cx="139700" cy="139700"/>
          </a:xfrm>
          <a:prstGeom prst="rect">
            <a:avLst/>
          </a:prstGeom>
        </p:spPr>
      </p:pic>
      <p:sp>
        <p:nvSpPr>
          <p:cNvPr id="23" name="Idea point 3"/>
          <p:cNvSpPr txBox="1"/>
          <p:nvPr/>
        </p:nvSpPr>
        <p:spPr>
          <a:xfrm>
            <a:off x="8483600" y="1816100"/>
            <a:ext cx="3276600" cy="254000"/>
          </a:xfrm>
          <a:prstGeom prst="rect">
            <a:avLst/>
          </a:prstGeom>
          <a:noFill/>
          <a:ln/>
        </p:spPr>
        <p:txBody>
          <a:bodyPr wrap="square" lIns="0" tIns="0" rIns="0" bIns="0" rtlCol="0" anchor="ctr"/>
          <a:lstStyle/>
          <a:p>
            <a:pPr indent="0" marL="0">
              <a:buNone/>
            </a:pPr>
            <a:r>
              <a:rPr lang="en-US" sz="1050" dirty="0">
                <a:solidFill>
                  <a:srgbClr val="1A1A1A"/>
                </a:solidFill>
                <a:latin typeface="Calibri" pitchFamily="34" charset="0"/>
                <a:ea typeface="Calibri" pitchFamily="34" charset="-122"/>
                <a:cs typeface="Calibri" pitchFamily="34" charset="-120"/>
              </a:rPr>
              <a:t>A commander approves; launched sorties never change</a:t>
            </a:r>
            <a:endParaRPr lang="en-US" sz="1050" dirty="0"/>
          </a:p>
        </p:txBody>
      </p:sp>
      <p:sp>
        <p:nvSpPr>
          <p:cNvPr id="24" name="Label SYSTEM ARCHITECTURE"/>
          <p:cNvSpPr txBox="1"/>
          <p:nvPr/>
        </p:nvSpPr>
        <p:spPr>
          <a:xfrm>
            <a:off x="317500" y="23368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SYSTEM ARCHITECTURE</a:t>
            </a:r>
            <a:endParaRPr lang="en-US" sz="850" dirty="0"/>
          </a:p>
        </p:txBody>
      </p:sp>
      <p:sp>
        <p:nvSpPr>
          <p:cNvPr id="25" name="Label LIVE FEEDS"/>
          <p:cNvSpPr txBox="1"/>
          <p:nvPr/>
        </p:nvSpPr>
        <p:spPr>
          <a:xfrm>
            <a:off x="317500" y="2540000"/>
            <a:ext cx="3810000" cy="165100"/>
          </a:xfrm>
          <a:prstGeom prst="rect">
            <a:avLst/>
          </a:prstGeom>
          <a:noFill/>
          <a:ln/>
        </p:spPr>
        <p:txBody>
          <a:bodyPr wrap="square" lIns="0" tIns="0" rIns="0" bIns="0" rtlCol="0" anchor="t"/>
          <a:lstStyle/>
          <a:p>
            <a:pPr indent="0" marL="0">
              <a:buNone/>
            </a:pPr>
            <a:r>
              <a:rPr lang="en-US" sz="850" b="1" spc="120" kern="0" dirty="0">
                <a:solidFill>
                  <a:srgbClr val="595959"/>
                </a:solidFill>
                <a:latin typeface="Calibri" pitchFamily="34" charset="0"/>
                <a:ea typeface="Calibri" pitchFamily="34" charset="-122"/>
                <a:cs typeface="Calibri" pitchFamily="34" charset="-120"/>
              </a:rPr>
              <a:t>LIVE FEEDS</a:t>
            </a:r>
            <a:endParaRPr lang="en-US" sz="850" dirty="0"/>
          </a:p>
        </p:txBody>
      </p:sp>
      <p:sp>
        <p:nvSpPr>
          <p:cNvPr id="26" name="Label VAYUVYUHA ENGINE"/>
          <p:cNvSpPr txBox="1"/>
          <p:nvPr/>
        </p:nvSpPr>
        <p:spPr>
          <a:xfrm>
            <a:off x="2413000" y="2540000"/>
            <a:ext cx="3810000" cy="165100"/>
          </a:xfrm>
          <a:prstGeom prst="rect">
            <a:avLst/>
          </a:prstGeom>
          <a:noFill/>
          <a:ln/>
        </p:spPr>
        <p:txBody>
          <a:bodyPr wrap="square" lIns="0" tIns="0" rIns="0" bIns="0" rtlCol="0" anchor="t"/>
          <a:lstStyle/>
          <a:p>
            <a:pPr indent="0" marL="0">
              <a:buNone/>
            </a:pPr>
            <a:r>
              <a:rPr lang="en-US" sz="850" b="1" spc="120" kern="0" dirty="0">
                <a:solidFill>
                  <a:srgbClr val="595959"/>
                </a:solidFill>
                <a:latin typeface="Calibri" pitchFamily="34" charset="0"/>
                <a:ea typeface="Calibri" pitchFamily="34" charset="-122"/>
                <a:cs typeface="Calibri" pitchFamily="34" charset="-120"/>
              </a:rPr>
              <a:t>VAYUVYUHA ENGINE</a:t>
            </a:r>
            <a:endParaRPr lang="en-US" sz="850" dirty="0"/>
          </a:p>
        </p:txBody>
      </p:sp>
      <p:sp>
        <p:nvSpPr>
          <p:cNvPr id="27" name="Label WHAT THE COMMANDER SEES"/>
          <p:cNvSpPr txBox="1"/>
          <p:nvPr/>
        </p:nvSpPr>
        <p:spPr>
          <a:xfrm>
            <a:off x="9499600" y="2540000"/>
            <a:ext cx="3810000" cy="165100"/>
          </a:xfrm>
          <a:prstGeom prst="rect">
            <a:avLst/>
          </a:prstGeom>
          <a:noFill/>
          <a:ln/>
        </p:spPr>
        <p:txBody>
          <a:bodyPr wrap="square" lIns="0" tIns="0" rIns="0" bIns="0" rtlCol="0" anchor="t"/>
          <a:lstStyle/>
          <a:p>
            <a:pPr indent="0" marL="0">
              <a:buNone/>
            </a:pPr>
            <a:r>
              <a:rPr lang="en-US" sz="850" b="1" spc="120" kern="0" dirty="0">
                <a:solidFill>
                  <a:srgbClr val="595959"/>
                </a:solidFill>
                <a:latin typeface="Calibri" pitchFamily="34" charset="0"/>
                <a:ea typeface="Calibri" pitchFamily="34" charset="-122"/>
                <a:cs typeface="Calibri" pitchFamily="34" charset="-120"/>
              </a:rPr>
              <a:t>WHAT THE COMMANDER SEES</a:t>
            </a:r>
            <a:endParaRPr lang="en-US" sz="850" dirty="0"/>
          </a:p>
        </p:txBody>
      </p:sp>
      <p:sp>
        <p:nvSpPr>
          <p:cNvPr id="28" name="Feed box Aircraft status"/>
          <p:cNvSpPr/>
          <p:nvPr/>
        </p:nvSpPr>
        <p:spPr>
          <a:xfrm>
            <a:off x="317500" y="2730500"/>
            <a:ext cx="1778000" cy="304800"/>
          </a:xfrm>
          <a:prstGeom prst="roundRect">
            <a:avLst>
              <a:gd name="adj" fmla="val 15000"/>
            </a:avLst>
          </a:prstGeom>
          <a:solidFill>
            <a:srgbClr val="F7F9FC"/>
          </a:solidFill>
          <a:ln w="9525">
            <a:solidFill>
              <a:srgbClr val="C9D5E6"/>
            </a:solidFill>
            <a:prstDash val="solid"/>
          </a:ln>
        </p:spPr>
      </p:sp>
      <p:pic>
        <p:nvPicPr>
          <p:cNvPr id="29" name="Image 6" descr="Feed icon Aircraft status">    </p:cNvPr>
          <p:cNvPicPr>
            <a:picLocks noChangeAspect="1"/>
          </p:cNvPicPr>
          <p:nvPr/>
        </p:nvPicPr>
        <p:blipFill>
          <a:blip r:embed="rId7"/>
          <a:stretch>
            <a:fillRect/>
          </a:stretch>
        </p:blipFill>
        <p:spPr>
          <a:xfrm>
            <a:off x="419100" y="2813050"/>
            <a:ext cx="139700" cy="139700"/>
          </a:xfrm>
          <a:prstGeom prst="rect">
            <a:avLst/>
          </a:prstGeom>
        </p:spPr>
      </p:pic>
      <p:sp>
        <p:nvSpPr>
          <p:cNvPr id="30" name="Feed Aircraft status"/>
          <p:cNvSpPr txBox="1"/>
          <p:nvPr/>
        </p:nvSpPr>
        <p:spPr>
          <a:xfrm>
            <a:off x="635000" y="2730500"/>
            <a:ext cx="1422400" cy="304800"/>
          </a:xfrm>
          <a:prstGeom prst="rect">
            <a:avLst/>
          </a:prstGeom>
          <a:noFill/>
          <a:ln/>
        </p:spPr>
        <p:txBody>
          <a:bodyPr wrap="square" lIns="0" tIns="0" rIns="0" bIns="0" rtlCol="0" anchor="ctr"/>
          <a:lstStyle/>
          <a:p>
            <a:pPr indent="0" marL="0">
              <a:buNone/>
            </a:pPr>
            <a:r>
              <a:rPr lang="en-US" sz="950" b="1" dirty="0">
                <a:solidFill>
                  <a:srgbClr val="1A1A1A"/>
                </a:solidFill>
                <a:latin typeface="Calibri" pitchFamily="34" charset="0"/>
                <a:ea typeface="Calibri" pitchFamily="34" charset="-122"/>
                <a:cs typeface="Calibri" pitchFamily="34" charset="-120"/>
              </a:rPr>
              <a:t>Aircraft status</a:t>
            </a:r>
            <a:endParaRPr lang="en-US" sz="950" dirty="0"/>
          </a:p>
        </p:txBody>
      </p:sp>
      <p:sp>
        <p:nvSpPr>
          <p:cNvPr id="31" name="Feed box Crew duty hours"/>
          <p:cNvSpPr/>
          <p:nvPr/>
        </p:nvSpPr>
        <p:spPr>
          <a:xfrm>
            <a:off x="317500" y="3092450"/>
            <a:ext cx="1778000" cy="304800"/>
          </a:xfrm>
          <a:prstGeom prst="roundRect">
            <a:avLst>
              <a:gd name="adj" fmla="val 15000"/>
            </a:avLst>
          </a:prstGeom>
          <a:solidFill>
            <a:srgbClr val="F7F9FC"/>
          </a:solidFill>
          <a:ln w="9525">
            <a:solidFill>
              <a:srgbClr val="C9D5E6"/>
            </a:solidFill>
            <a:prstDash val="solid"/>
          </a:ln>
        </p:spPr>
      </p:sp>
      <p:pic>
        <p:nvPicPr>
          <p:cNvPr id="32" name="Image 7" descr="Feed icon Crew duty hours">    </p:cNvPr>
          <p:cNvPicPr>
            <a:picLocks noChangeAspect="1"/>
          </p:cNvPicPr>
          <p:nvPr/>
        </p:nvPicPr>
        <p:blipFill>
          <a:blip r:embed="rId8"/>
          <a:stretch>
            <a:fillRect/>
          </a:stretch>
        </p:blipFill>
        <p:spPr>
          <a:xfrm>
            <a:off x="419100" y="3175000"/>
            <a:ext cx="139700" cy="139700"/>
          </a:xfrm>
          <a:prstGeom prst="rect">
            <a:avLst/>
          </a:prstGeom>
        </p:spPr>
      </p:pic>
      <p:sp>
        <p:nvSpPr>
          <p:cNvPr id="33" name="Feed Crew duty hours"/>
          <p:cNvSpPr txBox="1"/>
          <p:nvPr/>
        </p:nvSpPr>
        <p:spPr>
          <a:xfrm>
            <a:off x="635000" y="3092450"/>
            <a:ext cx="1422400" cy="304800"/>
          </a:xfrm>
          <a:prstGeom prst="rect">
            <a:avLst/>
          </a:prstGeom>
          <a:noFill/>
          <a:ln/>
        </p:spPr>
        <p:txBody>
          <a:bodyPr wrap="square" lIns="0" tIns="0" rIns="0" bIns="0" rtlCol="0" anchor="ctr"/>
          <a:lstStyle/>
          <a:p>
            <a:pPr indent="0" marL="0">
              <a:buNone/>
            </a:pPr>
            <a:r>
              <a:rPr lang="en-US" sz="950" b="1" dirty="0">
                <a:solidFill>
                  <a:srgbClr val="1A1A1A"/>
                </a:solidFill>
                <a:latin typeface="Calibri" pitchFamily="34" charset="0"/>
                <a:ea typeface="Calibri" pitchFamily="34" charset="-122"/>
                <a:cs typeface="Calibri" pitchFamily="34" charset="-120"/>
              </a:rPr>
              <a:t>Crew duty hours</a:t>
            </a:r>
            <a:endParaRPr lang="en-US" sz="950" dirty="0"/>
          </a:p>
        </p:txBody>
      </p:sp>
      <p:sp>
        <p:nvSpPr>
          <p:cNvPr id="34" name="Feed box Weapon stock"/>
          <p:cNvSpPr/>
          <p:nvPr/>
        </p:nvSpPr>
        <p:spPr>
          <a:xfrm>
            <a:off x="317500" y="3454400"/>
            <a:ext cx="1778000" cy="304800"/>
          </a:xfrm>
          <a:prstGeom prst="roundRect">
            <a:avLst>
              <a:gd name="adj" fmla="val 15000"/>
            </a:avLst>
          </a:prstGeom>
          <a:solidFill>
            <a:srgbClr val="F7F9FC"/>
          </a:solidFill>
          <a:ln w="9525">
            <a:solidFill>
              <a:srgbClr val="C9D5E6"/>
            </a:solidFill>
            <a:prstDash val="solid"/>
          </a:ln>
        </p:spPr>
      </p:sp>
      <p:pic>
        <p:nvPicPr>
          <p:cNvPr id="35" name="Image 8" descr="Feed icon Weapon stock">    </p:cNvPr>
          <p:cNvPicPr>
            <a:picLocks noChangeAspect="1"/>
          </p:cNvPicPr>
          <p:nvPr/>
        </p:nvPicPr>
        <p:blipFill>
          <a:blip r:embed="rId9"/>
          <a:stretch>
            <a:fillRect/>
          </a:stretch>
        </p:blipFill>
        <p:spPr>
          <a:xfrm>
            <a:off x="419100" y="3536950"/>
            <a:ext cx="139700" cy="139700"/>
          </a:xfrm>
          <a:prstGeom prst="rect">
            <a:avLst/>
          </a:prstGeom>
        </p:spPr>
      </p:pic>
      <p:sp>
        <p:nvSpPr>
          <p:cNvPr id="36" name="Feed Weapon stock"/>
          <p:cNvSpPr txBox="1"/>
          <p:nvPr/>
        </p:nvSpPr>
        <p:spPr>
          <a:xfrm>
            <a:off x="635000" y="3454400"/>
            <a:ext cx="1422400" cy="304800"/>
          </a:xfrm>
          <a:prstGeom prst="rect">
            <a:avLst/>
          </a:prstGeom>
          <a:noFill/>
          <a:ln/>
        </p:spPr>
        <p:txBody>
          <a:bodyPr wrap="square" lIns="0" tIns="0" rIns="0" bIns="0" rtlCol="0" anchor="ctr"/>
          <a:lstStyle/>
          <a:p>
            <a:pPr indent="0" marL="0">
              <a:buNone/>
            </a:pPr>
            <a:r>
              <a:rPr lang="en-US" sz="950" b="1" dirty="0">
                <a:solidFill>
                  <a:srgbClr val="1A1A1A"/>
                </a:solidFill>
                <a:latin typeface="Calibri" pitchFamily="34" charset="0"/>
                <a:ea typeface="Calibri" pitchFamily="34" charset="-122"/>
                <a:cs typeface="Calibri" pitchFamily="34" charset="-120"/>
              </a:rPr>
              <a:t>Weapon stock</a:t>
            </a:r>
            <a:endParaRPr lang="en-US" sz="950" dirty="0"/>
          </a:p>
        </p:txBody>
      </p:sp>
      <p:sp>
        <p:nvSpPr>
          <p:cNvPr id="37" name="Feed box Airspace and runways"/>
          <p:cNvSpPr/>
          <p:nvPr/>
        </p:nvSpPr>
        <p:spPr>
          <a:xfrm>
            <a:off x="317500" y="3816350"/>
            <a:ext cx="1778000" cy="304800"/>
          </a:xfrm>
          <a:prstGeom prst="roundRect">
            <a:avLst>
              <a:gd name="adj" fmla="val 15000"/>
            </a:avLst>
          </a:prstGeom>
          <a:solidFill>
            <a:srgbClr val="F7F9FC"/>
          </a:solidFill>
          <a:ln w="9525">
            <a:solidFill>
              <a:srgbClr val="C9D5E6"/>
            </a:solidFill>
            <a:prstDash val="solid"/>
          </a:ln>
        </p:spPr>
      </p:sp>
      <p:pic>
        <p:nvPicPr>
          <p:cNvPr id="38" name="Image 9" descr="Feed icon Airspace and runways">    </p:cNvPr>
          <p:cNvPicPr>
            <a:picLocks noChangeAspect="1"/>
          </p:cNvPicPr>
          <p:nvPr/>
        </p:nvPicPr>
        <p:blipFill>
          <a:blip r:embed="rId10"/>
          <a:stretch>
            <a:fillRect/>
          </a:stretch>
        </p:blipFill>
        <p:spPr>
          <a:xfrm>
            <a:off x="419100" y="3898900"/>
            <a:ext cx="139700" cy="139700"/>
          </a:xfrm>
          <a:prstGeom prst="rect">
            <a:avLst/>
          </a:prstGeom>
        </p:spPr>
      </p:pic>
      <p:sp>
        <p:nvSpPr>
          <p:cNvPr id="39" name="Feed Airspace and runways"/>
          <p:cNvSpPr txBox="1"/>
          <p:nvPr/>
        </p:nvSpPr>
        <p:spPr>
          <a:xfrm>
            <a:off x="635000" y="3816350"/>
            <a:ext cx="1422400" cy="304800"/>
          </a:xfrm>
          <a:prstGeom prst="rect">
            <a:avLst/>
          </a:prstGeom>
          <a:noFill/>
          <a:ln/>
        </p:spPr>
        <p:txBody>
          <a:bodyPr wrap="square" lIns="0" tIns="0" rIns="0" bIns="0" rtlCol="0" anchor="ctr"/>
          <a:lstStyle/>
          <a:p>
            <a:pPr indent="0" marL="0">
              <a:buNone/>
            </a:pPr>
            <a:r>
              <a:rPr lang="en-US" sz="950" b="1" dirty="0">
                <a:solidFill>
                  <a:srgbClr val="1A1A1A"/>
                </a:solidFill>
                <a:latin typeface="Calibri" pitchFamily="34" charset="0"/>
                <a:ea typeface="Calibri" pitchFamily="34" charset="-122"/>
                <a:cs typeface="Calibri" pitchFamily="34" charset="-120"/>
              </a:rPr>
              <a:t>Airspace and runways</a:t>
            </a:r>
            <a:endParaRPr lang="en-US" sz="950" dirty="0"/>
          </a:p>
        </p:txBody>
      </p:sp>
      <p:sp>
        <p:nvSpPr>
          <p:cNvPr id="40" name="Feed box Weather"/>
          <p:cNvSpPr/>
          <p:nvPr/>
        </p:nvSpPr>
        <p:spPr>
          <a:xfrm>
            <a:off x="317500" y="4178300"/>
            <a:ext cx="1778000" cy="304800"/>
          </a:xfrm>
          <a:prstGeom prst="roundRect">
            <a:avLst>
              <a:gd name="adj" fmla="val 15000"/>
            </a:avLst>
          </a:prstGeom>
          <a:solidFill>
            <a:srgbClr val="F7F9FC"/>
          </a:solidFill>
          <a:ln w="9525">
            <a:solidFill>
              <a:srgbClr val="C9D5E6"/>
            </a:solidFill>
            <a:prstDash val="solid"/>
          </a:ln>
        </p:spPr>
      </p:sp>
      <p:pic>
        <p:nvPicPr>
          <p:cNvPr id="41" name="Image 10" descr="Feed icon Weather">    </p:cNvPr>
          <p:cNvPicPr>
            <a:picLocks noChangeAspect="1"/>
          </p:cNvPicPr>
          <p:nvPr/>
        </p:nvPicPr>
        <p:blipFill>
          <a:blip r:embed="rId11"/>
          <a:stretch>
            <a:fillRect/>
          </a:stretch>
        </p:blipFill>
        <p:spPr>
          <a:xfrm>
            <a:off x="419100" y="4260850"/>
            <a:ext cx="139700" cy="139700"/>
          </a:xfrm>
          <a:prstGeom prst="rect">
            <a:avLst/>
          </a:prstGeom>
        </p:spPr>
      </p:pic>
      <p:sp>
        <p:nvSpPr>
          <p:cNvPr id="42" name="Feed Weather"/>
          <p:cNvSpPr txBox="1"/>
          <p:nvPr/>
        </p:nvSpPr>
        <p:spPr>
          <a:xfrm>
            <a:off x="635000" y="4178300"/>
            <a:ext cx="1422400" cy="304800"/>
          </a:xfrm>
          <a:prstGeom prst="rect">
            <a:avLst/>
          </a:prstGeom>
          <a:noFill/>
          <a:ln/>
        </p:spPr>
        <p:txBody>
          <a:bodyPr wrap="square" lIns="0" tIns="0" rIns="0" bIns="0" rtlCol="0" anchor="ctr"/>
          <a:lstStyle/>
          <a:p>
            <a:pPr indent="0" marL="0">
              <a:buNone/>
            </a:pPr>
            <a:r>
              <a:rPr lang="en-US" sz="950" b="1" dirty="0">
                <a:solidFill>
                  <a:srgbClr val="1A1A1A"/>
                </a:solidFill>
                <a:latin typeface="Calibri" pitchFamily="34" charset="0"/>
                <a:ea typeface="Calibri" pitchFamily="34" charset="-122"/>
                <a:cs typeface="Calibri" pitchFamily="34" charset="-120"/>
              </a:rPr>
              <a:t>Weather</a:t>
            </a:r>
            <a:endParaRPr lang="en-US" sz="950" dirty="0"/>
          </a:p>
        </p:txBody>
      </p:sp>
      <p:sp>
        <p:nvSpPr>
          <p:cNvPr id="43" name="Feed box Threats"/>
          <p:cNvSpPr/>
          <p:nvPr/>
        </p:nvSpPr>
        <p:spPr>
          <a:xfrm>
            <a:off x="317500" y="4540250"/>
            <a:ext cx="1778000" cy="304800"/>
          </a:xfrm>
          <a:prstGeom prst="roundRect">
            <a:avLst>
              <a:gd name="adj" fmla="val 15000"/>
            </a:avLst>
          </a:prstGeom>
          <a:solidFill>
            <a:srgbClr val="F7F9FC"/>
          </a:solidFill>
          <a:ln w="9525">
            <a:solidFill>
              <a:srgbClr val="C9D5E6"/>
            </a:solidFill>
            <a:prstDash val="solid"/>
          </a:ln>
        </p:spPr>
      </p:sp>
      <p:pic>
        <p:nvPicPr>
          <p:cNvPr id="44" name="Image 11" descr="Feed icon Threats">    </p:cNvPr>
          <p:cNvPicPr>
            <a:picLocks noChangeAspect="1"/>
          </p:cNvPicPr>
          <p:nvPr/>
        </p:nvPicPr>
        <p:blipFill>
          <a:blip r:embed="rId12"/>
          <a:stretch>
            <a:fillRect/>
          </a:stretch>
        </p:blipFill>
        <p:spPr>
          <a:xfrm>
            <a:off x="419100" y="4622800"/>
            <a:ext cx="139700" cy="139700"/>
          </a:xfrm>
          <a:prstGeom prst="rect">
            <a:avLst/>
          </a:prstGeom>
        </p:spPr>
      </p:pic>
      <p:sp>
        <p:nvSpPr>
          <p:cNvPr id="45" name="Feed Threats"/>
          <p:cNvSpPr txBox="1"/>
          <p:nvPr/>
        </p:nvSpPr>
        <p:spPr>
          <a:xfrm>
            <a:off x="635000" y="4540250"/>
            <a:ext cx="1422400" cy="304800"/>
          </a:xfrm>
          <a:prstGeom prst="rect">
            <a:avLst/>
          </a:prstGeom>
          <a:noFill/>
          <a:ln/>
        </p:spPr>
        <p:txBody>
          <a:bodyPr wrap="square" lIns="0" tIns="0" rIns="0" bIns="0" rtlCol="0" anchor="ctr"/>
          <a:lstStyle/>
          <a:p>
            <a:pPr indent="0" marL="0">
              <a:buNone/>
            </a:pPr>
            <a:r>
              <a:rPr lang="en-US" sz="950" b="1" dirty="0">
                <a:solidFill>
                  <a:srgbClr val="1A1A1A"/>
                </a:solidFill>
                <a:latin typeface="Calibri" pitchFamily="34" charset="0"/>
                <a:ea typeface="Calibri" pitchFamily="34" charset="-122"/>
                <a:cs typeface="Calibri" pitchFamily="34" charset="-120"/>
              </a:rPr>
              <a:t>Threats</a:t>
            </a:r>
            <a:endParaRPr lang="en-US" sz="950" dirty="0"/>
          </a:p>
        </p:txBody>
      </p:sp>
      <p:sp>
        <p:nvSpPr>
          <p:cNvPr id="46" name="Feed box Mission priorities"/>
          <p:cNvSpPr/>
          <p:nvPr/>
        </p:nvSpPr>
        <p:spPr>
          <a:xfrm>
            <a:off x="317500" y="4902200"/>
            <a:ext cx="1778000" cy="304800"/>
          </a:xfrm>
          <a:prstGeom prst="roundRect">
            <a:avLst>
              <a:gd name="adj" fmla="val 15000"/>
            </a:avLst>
          </a:prstGeom>
          <a:solidFill>
            <a:srgbClr val="F7F9FC"/>
          </a:solidFill>
          <a:ln w="9525">
            <a:solidFill>
              <a:srgbClr val="C9D5E6"/>
            </a:solidFill>
            <a:prstDash val="solid"/>
          </a:ln>
        </p:spPr>
      </p:sp>
      <p:pic>
        <p:nvPicPr>
          <p:cNvPr id="47" name="Image 12" descr="Feed icon Mission priorities">    </p:cNvPr>
          <p:cNvPicPr>
            <a:picLocks noChangeAspect="1"/>
          </p:cNvPicPr>
          <p:nvPr/>
        </p:nvPicPr>
        <p:blipFill>
          <a:blip r:embed="rId13"/>
          <a:stretch>
            <a:fillRect/>
          </a:stretch>
        </p:blipFill>
        <p:spPr>
          <a:xfrm>
            <a:off x="419100" y="4984750"/>
            <a:ext cx="139700" cy="139700"/>
          </a:xfrm>
          <a:prstGeom prst="rect">
            <a:avLst/>
          </a:prstGeom>
        </p:spPr>
      </p:pic>
      <p:sp>
        <p:nvSpPr>
          <p:cNvPr id="48" name="Feed Mission priorities"/>
          <p:cNvSpPr txBox="1"/>
          <p:nvPr/>
        </p:nvSpPr>
        <p:spPr>
          <a:xfrm>
            <a:off x="635000" y="4902200"/>
            <a:ext cx="1422400" cy="304800"/>
          </a:xfrm>
          <a:prstGeom prst="rect">
            <a:avLst/>
          </a:prstGeom>
          <a:noFill/>
          <a:ln/>
        </p:spPr>
        <p:txBody>
          <a:bodyPr wrap="square" lIns="0" tIns="0" rIns="0" bIns="0" rtlCol="0" anchor="ctr"/>
          <a:lstStyle/>
          <a:p>
            <a:pPr indent="0" marL="0">
              <a:buNone/>
            </a:pPr>
            <a:r>
              <a:rPr lang="en-US" sz="950" b="1" dirty="0">
                <a:solidFill>
                  <a:srgbClr val="1A1A1A"/>
                </a:solidFill>
                <a:latin typeface="Calibri" pitchFamily="34" charset="0"/>
                <a:ea typeface="Calibri" pitchFamily="34" charset="-122"/>
                <a:cs typeface="Calibri" pitchFamily="34" charset="-120"/>
              </a:rPr>
              <a:t>Mission priorities</a:t>
            </a:r>
            <a:endParaRPr lang="en-US" sz="950" dirty="0"/>
          </a:p>
        </p:txBody>
      </p:sp>
      <p:sp>
        <p:nvSpPr>
          <p:cNvPr id="49" name="Feeds to engine"/>
          <p:cNvSpPr/>
          <p:nvPr/>
        </p:nvSpPr>
        <p:spPr>
          <a:xfrm>
            <a:off x="2120900" y="3975100"/>
            <a:ext cx="266700" cy="0"/>
          </a:xfrm>
          <a:prstGeom prst="line">
            <a:avLst/>
          </a:prstGeom>
          <a:noFill/>
          <a:ln w="15875">
            <a:solidFill>
              <a:srgbClr val="7F93AD"/>
            </a:solidFill>
            <a:prstDash val="solid"/>
            <a:tailEnd type="triangle"/>
          </a:ln>
        </p:spPr>
      </p:sp>
      <p:sp>
        <p:nvSpPr>
          <p:cNvPr id="50" name="Engine frame"/>
          <p:cNvSpPr/>
          <p:nvPr/>
        </p:nvSpPr>
        <p:spPr>
          <a:xfrm>
            <a:off x="2413000" y="2730500"/>
            <a:ext cx="6807200" cy="2476500"/>
          </a:xfrm>
          <a:prstGeom prst="roundRect">
            <a:avLst>
              <a:gd name="adj" fmla="val 1477"/>
            </a:avLst>
          </a:prstGeom>
          <a:solidFill>
            <a:srgbClr val="EEF3F9"/>
          </a:solidFill>
          <a:ln w="15875">
            <a:solidFill>
              <a:srgbClr val="1F6FB2"/>
            </a:solidFill>
            <a:prstDash val="solid"/>
          </a:ln>
        </p:spPr>
      </p:sp>
      <p:sp>
        <p:nvSpPr>
          <p:cNvPr id="51" name="Stage card Fuse"/>
          <p:cNvSpPr/>
          <p:nvPr/>
        </p:nvSpPr>
        <p:spPr>
          <a:xfrm>
            <a:off x="2540000" y="2870200"/>
            <a:ext cx="1219200" cy="1346200"/>
          </a:xfrm>
          <a:prstGeom prst="roundRect">
            <a:avLst>
              <a:gd name="adj" fmla="val 525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52" name="Stage icon Fuse bg"/>
          <p:cNvSpPr/>
          <p:nvPr/>
        </p:nvSpPr>
        <p:spPr>
          <a:xfrm>
            <a:off x="2959100" y="2959100"/>
            <a:ext cx="381000" cy="381000"/>
          </a:xfrm>
          <a:prstGeom prst="ellipse">
            <a:avLst/>
          </a:prstGeom>
          <a:solidFill>
            <a:srgbClr val="1F6FB2">
              <a:alpha val="14000"/>
            </a:srgbClr>
          </a:solidFill>
          <a:ln w="12700">
            <a:solidFill>
              <a:srgbClr val="1F6FB2">
                <a:alpha val="0"/>
              </a:srgbClr>
            </a:solidFill>
            <a:prstDash val="solid"/>
          </a:ln>
        </p:spPr>
      </p:sp>
      <p:pic>
        <p:nvPicPr>
          <p:cNvPr id="53" name="Image 13" descr="Stage icon Fuse">    </p:cNvPr>
          <p:cNvPicPr>
            <a:picLocks noChangeAspect="1"/>
          </p:cNvPicPr>
          <p:nvPr/>
        </p:nvPicPr>
        <p:blipFill>
          <a:blip r:embed="rId14"/>
          <a:stretch>
            <a:fillRect/>
          </a:stretch>
        </p:blipFill>
        <p:spPr>
          <a:xfrm>
            <a:off x="3054350" y="3054350"/>
            <a:ext cx="190500" cy="190500"/>
          </a:xfrm>
          <a:prstGeom prst="rect">
            <a:avLst/>
          </a:prstGeom>
        </p:spPr>
      </p:pic>
      <p:sp>
        <p:nvSpPr>
          <p:cNvPr id="54" name="Stage title Fuse"/>
          <p:cNvSpPr txBox="1"/>
          <p:nvPr/>
        </p:nvSpPr>
        <p:spPr>
          <a:xfrm>
            <a:off x="2590800" y="3378200"/>
            <a:ext cx="1117600" cy="203200"/>
          </a:xfrm>
          <a:prstGeom prst="rect">
            <a:avLst/>
          </a:prstGeom>
          <a:noFill/>
          <a:ln/>
        </p:spPr>
        <p:txBody>
          <a:bodyPr wrap="square" lIns="0" tIns="0" rIns="0" bIns="0" rtlCol="0" anchor="ctr"/>
          <a:lstStyle/>
          <a:p>
            <a:pPr algn="ctr" indent="0" marL="0">
              <a:buNone/>
            </a:pPr>
            <a:r>
              <a:rPr lang="en-US" sz="1150" b="1" dirty="0">
                <a:solidFill>
                  <a:srgbClr val="1F3864"/>
                </a:solidFill>
                <a:latin typeface="Calibri" pitchFamily="34" charset="0"/>
                <a:ea typeface="Calibri" pitchFamily="34" charset="-122"/>
                <a:cs typeface="Calibri" pitchFamily="34" charset="-120"/>
              </a:rPr>
              <a:t>1  Fuse</a:t>
            </a:r>
            <a:endParaRPr lang="en-US" sz="1150" dirty="0"/>
          </a:p>
        </p:txBody>
      </p:sp>
      <p:sp>
        <p:nvSpPr>
          <p:cNvPr id="55" name="Stage text Fuse"/>
          <p:cNvSpPr txBox="1"/>
          <p:nvPr/>
        </p:nvSpPr>
        <p:spPr>
          <a:xfrm>
            <a:off x="2616200" y="3606800"/>
            <a:ext cx="1066800" cy="558800"/>
          </a:xfrm>
          <a:prstGeom prst="rect">
            <a:avLst/>
          </a:prstGeom>
          <a:noFill/>
          <a:ln/>
        </p:spPr>
        <p:txBody>
          <a:bodyPr wrap="square" lIns="0" tIns="0" rIns="0" bIns="0" rtlCol="0" anchor="t"/>
          <a:lstStyle/>
          <a:p>
            <a:pPr algn="ctr" indent="0" marL="0">
              <a:buNone/>
            </a:pPr>
            <a:r>
              <a:rPr lang="en-US" sz="860" dirty="0">
                <a:solidFill>
                  <a:srgbClr val="1A1A1A"/>
                </a:solidFill>
                <a:latin typeface="Calibri" pitchFamily="34" charset="0"/>
                <a:ea typeface="Calibri" pitchFamily="34" charset="-122"/>
                <a:cs typeface="Calibri" pitchFamily="34" charset="-120"/>
              </a:rPr>
              <a:t>all feeds into one state</a:t>
            </a:r>
            <a:endParaRPr lang="en-US" sz="860" dirty="0"/>
          </a:p>
        </p:txBody>
      </p:sp>
      <p:sp>
        <p:nvSpPr>
          <p:cNvPr id="56" name="Stage arrow 1"/>
          <p:cNvSpPr/>
          <p:nvPr/>
        </p:nvSpPr>
        <p:spPr>
          <a:xfrm>
            <a:off x="3765550" y="3543300"/>
            <a:ext cx="88900" cy="0"/>
          </a:xfrm>
          <a:prstGeom prst="line">
            <a:avLst/>
          </a:prstGeom>
          <a:noFill/>
          <a:ln w="15875">
            <a:solidFill>
              <a:srgbClr val="E07A1F"/>
            </a:solidFill>
            <a:prstDash val="solid"/>
            <a:tailEnd type="triangle"/>
          </a:ln>
        </p:spPr>
      </p:sp>
      <p:sp>
        <p:nvSpPr>
          <p:cNvPr id="57" name="Stage card Predict"/>
          <p:cNvSpPr/>
          <p:nvPr/>
        </p:nvSpPr>
        <p:spPr>
          <a:xfrm>
            <a:off x="3860800" y="2870200"/>
            <a:ext cx="1219200" cy="1346200"/>
          </a:xfrm>
          <a:prstGeom prst="roundRect">
            <a:avLst>
              <a:gd name="adj" fmla="val 525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58" name="Stage icon Predict bg"/>
          <p:cNvSpPr/>
          <p:nvPr/>
        </p:nvSpPr>
        <p:spPr>
          <a:xfrm>
            <a:off x="4279900" y="2959100"/>
            <a:ext cx="381000" cy="381000"/>
          </a:xfrm>
          <a:prstGeom prst="ellipse">
            <a:avLst/>
          </a:prstGeom>
          <a:solidFill>
            <a:srgbClr val="1F9D8A">
              <a:alpha val="14000"/>
            </a:srgbClr>
          </a:solidFill>
          <a:ln w="12700">
            <a:solidFill>
              <a:srgbClr val="1F9D8A">
                <a:alpha val="0"/>
              </a:srgbClr>
            </a:solidFill>
            <a:prstDash val="solid"/>
          </a:ln>
        </p:spPr>
      </p:sp>
      <p:pic>
        <p:nvPicPr>
          <p:cNvPr id="59" name="Image 14" descr="Stage icon Predict">    </p:cNvPr>
          <p:cNvPicPr>
            <a:picLocks noChangeAspect="1"/>
          </p:cNvPicPr>
          <p:nvPr/>
        </p:nvPicPr>
        <p:blipFill>
          <a:blip r:embed="rId15"/>
          <a:stretch>
            <a:fillRect/>
          </a:stretch>
        </p:blipFill>
        <p:spPr>
          <a:xfrm>
            <a:off x="4375150" y="3054350"/>
            <a:ext cx="190500" cy="190500"/>
          </a:xfrm>
          <a:prstGeom prst="rect">
            <a:avLst/>
          </a:prstGeom>
        </p:spPr>
      </p:pic>
      <p:sp>
        <p:nvSpPr>
          <p:cNvPr id="60" name="Stage title Predict"/>
          <p:cNvSpPr txBox="1"/>
          <p:nvPr/>
        </p:nvSpPr>
        <p:spPr>
          <a:xfrm>
            <a:off x="3911600" y="3378200"/>
            <a:ext cx="1117600" cy="203200"/>
          </a:xfrm>
          <a:prstGeom prst="rect">
            <a:avLst/>
          </a:prstGeom>
          <a:noFill/>
          <a:ln/>
        </p:spPr>
        <p:txBody>
          <a:bodyPr wrap="square" lIns="0" tIns="0" rIns="0" bIns="0" rtlCol="0" anchor="ctr"/>
          <a:lstStyle/>
          <a:p>
            <a:pPr algn="ctr" indent="0" marL="0">
              <a:buNone/>
            </a:pPr>
            <a:r>
              <a:rPr lang="en-US" sz="1150" b="1" dirty="0">
                <a:solidFill>
                  <a:srgbClr val="1F3864"/>
                </a:solidFill>
                <a:latin typeface="Calibri" pitchFamily="34" charset="0"/>
                <a:ea typeface="Calibri" pitchFamily="34" charset="-122"/>
                <a:cs typeface="Calibri" pitchFamily="34" charset="-120"/>
              </a:rPr>
              <a:t>2  Predict</a:t>
            </a:r>
            <a:endParaRPr lang="en-US" sz="1150" dirty="0"/>
          </a:p>
        </p:txBody>
      </p:sp>
      <p:sp>
        <p:nvSpPr>
          <p:cNvPr id="61" name="Stage text Predict"/>
          <p:cNvSpPr txBox="1"/>
          <p:nvPr/>
        </p:nvSpPr>
        <p:spPr>
          <a:xfrm>
            <a:off x="3937000" y="3606800"/>
            <a:ext cx="1066800" cy="558800"/>
          </a:xfrm>
          <a:prstGeom prst="rect">
            <a:avLst/>
          </a:prstGeom>
          <a:noFill/>
          <a:ln/>
        </p:spPr>
        <p:txBody>
          <a:bodyPr wrap="square" lIns="0" tIns="0" rIns="0" bIns="0" rtlCol="0" anchor="t"/>
          <a:lstStyle/>
          <a:p>
            <a:pPr algn="ctr" indent="0" marL="0">
              <a:buNone/>
            </a:pPr>
            <a:r>
              <a:rPr lang="en-US" sz="860" dirty="0">
                <a:solidFill>
                  <a:srgbClr val="1A1A1A"/>
                </a:solidFill>
                <a:latin typeface="Calibri" pitchFamily="34" charset="0"/>
                <a:ea typeface="Calibri" pitchFamily="34" charset="-122"/>
                <a:cs typeface="Calibri" pitchFamily="34" charset="-120"/>
              </a:rPr>
              <a:t>aircraft no-go risk, threat exposure</a:t>
            </a:r>
            <a:endParaRPr lang="en-US" sz="860" dirty="0"/>
          </a:p>
        </p:txBody>
      </p:sp>
      <p:sp>
        <p:nvSpPr>
          <p:cNvPr id="62" name="Stage arrow 2"/>
          <p:cNvSpPr/>
          <p:nvPr/>
        </p:nvSpPr>
        <p:spPr>
          <a:xfrm>
            <a:off x="5086350" y="3543300"/>
            <a:ext cx="88900" cy="0"/>
          </a:xfrm>
          <a:prstGeom prst="line">
            <a:avLst/>
          </a:prstGeom>
          <a:noFill/>
          <a:ln w="15875">
            <a:solidFill>
              <a:srgbClr val="E07A1F"/>
            </a:solidFill>
            <a:prstDash val="solid"/>
            <a:tailEnd type="triangle"/>
          </a:ln>
        </p:spPr>
      </p:sp>
      <p:sp>
        <p:nvSpPr>
          <p:cNvPr id="63" name="Stage card Optimise"/>
          <p:cNvSpPr/>
          <p:nvPr/>
        </p:nvSpPr>
        <p:spPr>
          <a:xfrm>
            <a:off x="5181600" y="2870200"/>
            <a:ext cx="1219200" cy="1346200"/>
          </a:xfrm>
          <a:prstGeom prst="roundRect">
            <a:avLst>
              <a:gd name="adj" fmla="val 525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64" name="Stage icon Optimise bg"/>
          <p:cNvSpPr/>
          <p:nvPr/>
        </p:nvSpPr>
        <p:spPr>
          <a:xfrm>
            <a:off x="5600700" y="2959100"/>
            <a:ext cx="381000" cy="381000"/>
          </a:xfrm>
          <a:prstGeom prst="ellipse">
            <a:avLst/>
          </a:prstGeom>
          <a:solidFill>
            <a:srgbClr val="E07A1F">
              <a:alpha val="14000"/>
            </a:srgbClr>
          </a:solidFill>
          <a:ln w="12700">
            <a:solidFill>
              <a:srgbClr val="E07A1F">
                <a:alpha val="0"/>
              </a:srgbClr>
            </a:solidFill>
            <a:prstDash val="solid"/>
          </a:ln>
        </p:spPr>
      </p:sp>
      <p:pic>
        <p:nvPicPr>
          <p:cNvPr id="65" name="Image 15" descr="Stage icon Optimise">    </p:cNvPr>
          <p:cNvPicPr>
            <a:picLocks noChangeAspect="1"/>
          </p:cNvPicPr>
          <p:nvPr/>
        </p:nvPicPr>
        <p:blipFill>
          <a:blip r:embed="rId16"/>
          <a:stretch>
            <a:fillRect/>
          </a:stretch>
        </p:blipFill>
        <p:spPr>
          <a:xfrm>
            <a:off x="5695950" y="3054350"/>
            <a:ext cx="190500" cy="190500"/>
          </a:xfrm>
          <a:prstGeom prst="rect">
            <a:avLst/>
          </a:prstGeom>
        </p:spPr>
      </p:pic>
      <p:sp>
        <p:nvSpPr>
          <p:cNvPr id="66" name="Stage title Optimise"/>
          <p:cNvSpPr txBox="1"/>
          <p:nvPr/>
        </p:nvSpPr>
        <p:spPr>
          <a:xfrm>
            <a:off x="5232400" y="3378200"/>
            <a:ext cx="1117600" cy="203200"/>
          </a:xfrm>
          <a:prstGeom prst="rect">
            <a:avLst/>
          </a:prstGeom>
          <a:noFill/>
          <a:ln/>
        </p:spPr>
        <p:txBody>
          <a:bodyPr wrap="square" lIns="0" tIns="0" rIns="0" bIns="0" rtlCol="0" anchor="ctr"/>
          <a:lstStyle/>
          <a:p>
            <a:pPr algn="ctr" indent="0" marL="0">
              <a:buNone/>
            </a:pPr>
            <a:r>
              <a:rPr lang="en-US" sz="1150" b="1" dirty="0">
                <a:solidFill>
                  <a:srgbClr val="1F3864"/>
                </a:solidFill>
                <a:latin typeface="Calibri" pitchFamily="34" charset="0"/>
                <a:ea typeface="Calibri" pitchFamily="34" charset="-122"/>
                <a:cs typeface="Calibri" pitchFamily="34" charset="-120"/>
              </a:rPr>
              <a:t>3  Optimise</a:t>
            </a:r>
            <a:endParaRPr lang="en-US" sz="1150" dirty="0"/>
          </a:p>
        </p:txBody>
      </p:sp>
      <p:sp>
        <p:nvSpPr>
          <p:cNvPr id="67" name="Stage text Optimise"/>
          <p:cNvSpPr txBox="1"/>
          <p:nvPr/>
        </p:nvSpPr>
        <p:spPr>
          <a:xfrm>
            <a:off x="5257800" y="3606800"/>
            <a:ext cx="1066800" cy="558800"/>
          </a:xfrm>
          <a:prstGeom prst="rect">
            <a:avLst/>
          </a:prstGeom>
          <a:noFill/>
          <a:ln/>
        </p:spPr>
        <p:txBody>
          <a:bodyPr wrap="square" lIns="0" tIns="0" rIns="0" bIns="0" rtlCol="0" anchor="t"/>
          <a:lstStyle/>
          <a:p>
            <a:pPr algn="ctr" indent="0" marL="0">
              <a:buNone/>
            </a:pPr>
            <a:r>
              <a:rPr lang="en-US" sz="860" dirty="0">
                <a:solidFill>
                  <a:srgbClr val="1A1A1A"/>
                </a:solidFill>
                <a:latin typeface="Calibri" pitchFamily="34" charset="0"/>
                <a:ea typeface="Calibri" pitchFamily="34" charset="-122"/>
                <a:cs typeface="Calibri" pitchFamily="34" charset="-120"/>
              </a:rPr>
              <a:t>aircraft, crews, weapons, launch slots</a:t>
            </a:r>
            <a:endParaRPr lang="en-US" sz="860" dirty="0"/>
          </a:p>
        </p:txBody>
      </p:sp>
      <p:sp>
        <p:nvSpPr>
          <p:cNvPr id="68" name="Stage arrow 3"/>
          <p:cNvSpPr/>
          <p:nvPr/>
        </p:nvSpPr>
        <p:spPr>
          <a:xfrm>
            <a:off x="6407150" y="3543300"/>
            <a:ext cx="88900" cy="0"/>
          </a:xfrm>
          <a:prstGeom prst="line">
            <a:avLst/>
          </a:prstGeom>
          <a:noFill/>
          <a:ln w="15875">
            <a:solidFill>
              <a:srgbClr val="E07A1F"/>
            </a:solidFill>
            <a:prstDash val="solid"/>
            <a:tailEnd type="triangle"/>
          </a:ln>
        </p:spPr>
      </p:sp>
      <p:sp>
        <p:nvSpPr>
          <p:cNvPr id="69" name="Stage card Validate"/>
          <p:cNvSpPr/>
          <p:nvPr/>
        </p:nvSpPr>
        <p:spPr>
          <a:xfrm>
            <a:off x="6502400" y="2870200"/>
            <a:ext cx="1219200" cy="1346200"/>
          </a:xfrm>
          <a:prstGeom prst="roundRect">
            <a:avLst>
              <a:gd name="adj" fmla="val 525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70" name="Stage icon Validate bg"/>
          <p:cNvSpPr/>
          <p:nvPr/>
        </p:nvSpPr>
        <p:spPr>
          <a:xfrm>
            <a:off x="6921500" y="2959100"/>
            <a:ext cx="381000" cy="381000"/>
          </a:xfrm>
          <a:prstGeom prst="ellipse">
            <a:avLst/>
          </a:prstGeom>
          <a:solidFill>
            <a:srgbClr val="2E9E5B">
              <a:alpha val="14000"/>
            </a:srgbClr>
          </a:solidFill>
          <a:ln w="12700">
            <a:solidFill>
              <a:srgbClr val="2E9E5B">
                <a:alpha val="0"/>
              </a:srgbClr>
            </a:solidFill>
            <a:prstDash val="solid"/>
          </a:ln>
        </p:spPr>
      </p:sp>
      <p:pic>
        <p:nvPicPr>
          <p:cNvPr id="71" name="Image 16" descr="Stage icon Validate">    </p:cNvPr>
          <p:cNvPicPr>
            <a:picLocks noChangeAspect="1"/>
          </p:cNvPicPr>
          <p:nvPr/>
        </p:nvPicPr>
        <p:blipFill>
          <a:blip r:embed="rId17"/>
          <a:stretch>
            <a:fillRect/>
          </a:stretch>
        </p:blipFill>
        <p:spPr>
          <a:xfrm>
            <a:off x="7016750" y="3054350"/>
            <a:ext cx="190500" cy="190500"/>
          </a:xfrm>
          <a:prstGeom prst="rect">
            <a:avLst/>
          </a:prstGeom>
        </p:spPr>
      </p:pic>
      <p:sp>
        <p:nvSpPr>
          <p:cNvPr id="72" name="Stage title Validate"/>
          <p:cNvSpPr txBox="1"/>
          <p:nvPr/>
        </p:nvSpPr>
        <p:spPr>
          <a:xfrm>
            <a:off x="6553200" y="3378200"/>
            <a:ext cx="1117600" cy="203200"/>
          </a:xfrm>
          <a:prstGeom prst="rect">
            <a:avLst/>
          </a:prstGeom>
          <a:noFill/>
          <a:ln/>
        </p:spPr>
        <p:txBody>
          <a:bodyPr wrap="square" lIns="0" tIns="0" rIns="0" bIns="0" rtlCol="0" anchor="ctr"/>
          <a:lstStyle/>
          <a:p>
            <a:pPr algn="ctr" indent="0" marL="0">
              <a:buNone/>
            </a:pPr>
            <a:r>
              <a:rPr lang="en-US" sz="1150" b="1" dirty="0">
                <a:solidFill>
                  <a:srgbClr val="1F3864"/>
                </a:solidFill>
                <a:latin typeface="Calibri" pitchFamily="34" charset="0"/>
                <a:ea typeface="Calibri" pitchFamily="34" charset="-122"/>
                <a:cs typeface="Calibri" pitchFamily="34" charset="-120"/>
              </a:rPr>
              <a:t>4  Validate</a:t>
            </a:r>
            <a:endParaRPr lang="en-US" sz="1150" dirty="0"/>
          </a:p>
        </p:txBody>
      </p:sp>
      <p:sp>
        <p:nvSpPr>
          <p:cNvPr id="73" name="Stage text Validate"/>
          <p:cNvSpPr txBox="1"/>
          <p:nvPr/>
        </p:nvSpPr>
        <p:spPr>
          <a:xfrm>
            <a:off x="6578600" y="3606800"/>
            <a:ext cx="1066800" cy="558800"/>
          </a:xfrm>
          <a:prstGeom prst="rect">
            <a:avLst/>
          </a:prstGeom>
          <a:noFill/>
          <a:ln/>
        </p:spPr>
        <p:txBody>
          <a:bodyPr wrap="square" lIns="0" tIns="0" rIns="0" bIns="0" rtlCol="0" anchor="t"/>
          <a:lstStyle/>
          <a:p>
            <a:pPr algn="ctr" indent="0" marL="0">
              <a:buNone/>
            </a:pPr>
            <a:r>
              <a:rPr lang="en-US" sz="860" dirty="0">
                <a:solidFill>
                  <a:srgbClr val="1A1A1A"/>
                </a:solidFill>
                <a:latin typeface="Calibri" pitchFamily="34" charset="0"/>
                <a:ea typeface="Calibri" pitchFamily="34" charset="-122"/>
                <a:cs typeface="Calibri" pitchFamily="34" charset="-120"/>
              </a:rPr>
              <a:t>nine rule families, from scratch</a:t>
            </a:r>
            <a:endParaRPr lang="en-US" sz="860" dirty="0"/>
          </a:p>
        </p:txBody>
      </p:sp>
      <p:sp>
        <p:nvSpPr>
          <p:cNvPr id="74" name="Stage arrow 4"/>
          <p:cNvSpPr/>
          <p:nvPr/>
        </p:nvSpPr>
        <p:spPr>
          <a:xfrm>
            <a:off x="7727950" y="3543300"/>
            <a:ext cx="88900" cy="0"/>
          </a:xfrm>
          <a:prstGeom prst="line">
            <a:avLst/>
          </a:prstGeom>
          <a:noFill/>
          <a:ln w="15875">
            <a:solidFill>
              <a:srgbClr val="E07A1F"/>
            </a:solidFill>
            <a:prstDash val="solid"/>
            <a:tailEnd type="triangle"/>
          </a:ln>
        </p:spPr>
      </p:sp>
      <p:sp>
        <p:nvSpPr>
          <p:cNvPr id="75" name="Stage card Explain"/>
          <p:cNvSpPr/>
          <p:nvPr/>
        </p:nvSpPr>
        <p:spPr>
          <a:xfrm>
            <a:off x="7823200" y="2870200"/>
            <a:ext cx="1219200" cy="1346200"/>
          </a:xfrm>
          <a:prstGeom prst="roundRect">
            <a:avLst>
              <a:gd name="adj" fmla="val 525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76" name="Stage icon Explain bg"/>
          <p:cNvSpPr/>
          <p:nvPr/>
        </p:nvSpPr>
        <p:spPr>
          <a:xfrm>
            <a:off x="8242300" y="2959100"/>
            <a:ext cx="381000" cy="381000"/>
          </a:xfrm>
          <a:prstGeom prst="ellipse">
            <a:avLst/>
          </a:prstGeom>
          <a:solidFill>
            <a:srgbClr val="8A5CD0">
              <a:alpha val="14000"/>
            </a:srgbClr>
          </a:solidFill>
          <a:ln w="12700">
            <a:solidFill>
              <a:srgbClr val="8A5CD0">
                <a:alpha val="0"/>
              </a:srgbClr>
            </a:solidFill>
            <a:prstDash val="solid"/>
          </a:ln>
        </p:spPr>
      </p:sp>
      <p:pic>
        <p:nvPicPr>
          <p:cNvPr id="77" name="Image 17" descr="Stage icon Explain">    </p:cNvPr>
          <p:cNvPicPr>
            <a:picLocks noChangeAspect="1"/>
          </p:cNvPicPr>
          <p:nvPr/>
        </p:nvPicPr>
        <p:blipFill>
          <a:blip r:embed="rId18"/>
          <a:stretch>
            <a:fillRect/>
          </a:stretch>
        </p:blipFill>
        <p:spPr>
          <a:xfrm>
            <a:off x="8337550" y="3054350"/>
            <a:ext cx="190500" cy="190500"/>
          </a:xfrm>
          <a:prstGeom prst="rect">
            <a:avLst/>
          </a:prstGeom>
        </p:spPr>
      </p:pic>
      <p:sp>
        <p:nvSpPr>
          <p:cNvPr id="78" name="Stage title Explain"/>
          <p:cNvSpPr txBox="1"/>
          <p:nvPr/>
        </p:nvSpPr>
        <p:spPr>
          <a:xfrm>
            <a:off x="7874000" y="3378200"/>
            <a:ext cx="1117600" cy="203200"/>
          </a:xfrm>
          <a:prstGeom prst="rect">
            <a:avLst/>
          </a:prstGeom>
          <a:noFill/>
          <a:ln/>
        </p:spPr>
        <p:txBody>
          <a:bodyPr wrap="square" lIns="0" tIns="0" rIns="0" bIns="0" rtlCol="0" anchor="ctr"/>
          <a:lstStyle/>
          <a:p>
            <a:pPr algn="ctr" indent="0" marL="0">
              <a:buNone/>
            </a:pPr>
            <a:r>
              <a:rPr lang="en-US" sz="1150" b="1" dirty="0">
                <a:solidFill>
                  <a:srgbClr val="1F3864"/>
                </a:solidFill>
                <a:latin typeface="Calibri" pitchFamily="34" charset="0"/>
                <a:ea typeface="Calibri" pitchFamily="34" charset="-122"/>
                <a:cs typeface="Calibri" pitchFamily="34" charset="-120"/>
              </a:rPr>
              <a:t>5  Explain</a:t>
            </a:r>
            <a:endParaRPr lang="en-US" sz="1150" dirty="0"/>
          </a:p>
        </p:txBody>
      </p:sp>
      <p:sp>
        <p:nvSpPr>
          <p:cNvPr id="79" name="Stage text Explain"/>
          <p:cNvSpPr txBox="1"/>
          <p:nvPr/>
        </p:nvSpPr>
        <p:spPr>
          <a:xfrm>
            <a:off x="7899400" y="3606800"/>
            <a:ext cx="1066800" cy="558800"/>
          </a:xfrm>
          <a:prstGeom prst="rect">
            <a:avLst/>
          </a:prstGeom>
          <a:noFill/>
          <a:ln/>
        </p:spPr>
        <p:txBody>
          <a:bodyPr wrap="square" lIns="0" tIns="0" rIns="0" bIns="0" rtlCol="0" anchor="t"/>
          <a:lstStyle/>
          <a:p>
            <a:pPr algn="ctr" indent="0" marL="0">
              <a:buNone/>
            </a:pPr>
            <a:r>
              <a:rPr lang="en-US" sz="860" dirty="0">
                <a:solidFill>
                  <a:srgbClr val="1A1A1A"/>
                </a:solidFill>
                <a:latin typeface="Calibri" pitchFamily="34" charset="0"/>
                <a:ea typeface="Calibri" pitchFamily="34" charset="-122"/>
                <a:cs typeface="Calibri" pitchFamily="34" charset="-120"/>
              </a:rPr>
              <a:t>rank options, give reasons</a:t>
            </a:r>
            <a:endParaRPr lang="en-US" sz="860" dirty="0"/>
          </a:p>
        </p:txBody>
      </p:sp>
      <p:sp>
        <p:nvSpPr>
          <p:cNvPr id="80" name="Engine Exact engine"/>
          <p:cNvSpPr/>
          <p:nvPr/>
        </p:nvSpPr>
        <p:spPr>
          <a:xfrm>
            <a:off x="2540000" y="4343400"/>
            <a:ext cx="3200400" cy="431800"/>
          </a:xfrm>
          <a:prstGeom prst="roundRect">
            <a:avLst>
              <a:gd name="adj" fmla="val 12706"/>
            </a:avLst>
          </a:prstGeom>
          <a:solidFill>
            <a:srgbClr val="FFFFFF"/>
          </a:solidFill>
          <a:ln w="12700">
            <a:solidFill>
              <a:srgbClr val="1F6FB2"/>
            </a:solidFill>
            <a:prstDash val="solid"/>
          </a:ln>
        </p:spPr>
      </p:sp>
      <p:pic>
        <p:nvPicPr>
          <p:cNvPr id="81" name="Image 18" descr="Exact engine icon">    </p:cNvPr>
          <p:cNvPicPr>
            <a:picLocks noChangeAspect="1"/>
          </p:cNvPicPr>
          <p:nvPr/>
        </p:nvPicPr>
        <p:blipFill>
          <a:blip r:embed="rId19"/>
          <a:stretch>
            <a:fillRect/>
          </a:stretch>
        </p:blipFill>
        <p:spPr>
          <a:xfrm>
            <a:off x="2654300" y="4457700"/>
            <a:ext cx="203200" cy="203200"/>
          </a:xfrm>
          <a:prstGeom prst="rect">
            <a:avLst/>
          </a:prstGeom>
        </p:spPr>
      </p:pic>
      <p:sp>
        <p:nvSpPr>
          <p:cNvPr id="82" name="Engine text Exact engine"/>
          <p:cNvSpPr txBox="1"/>
          <p:nvPr/>
        </p:nvSpPr>
        <p:spPr>
          <a:xfrm>
            <a:off x="2946400" y="4343400"/>
            <a:ext cx="2717800" cy="431800"/>
          </a:xfrm>
          <a:prstGeom prst="rect">
            <a:avLst/>
          </a:prstGeom>
          <a:noFill/>
          <a:ln/>
        </p:spPr>
        <p:txBody>
          <a:bodyPr wrap="square" lIns="0" tIns="0" rIns="0" bIns="0" rtlCol="0" anchor="ctr"/>
          <a:lstStyle/>
          <a:p>
            <a:pPr indent="0" marL="0">
              <a:buNone/>
            </a:pPr>
            <a:r>
              <a:rPr lang="en-US" sz="900" b="1" dirty="0">
                <a:solidFill>
                  <a:srgbClr val="1F6FB2"/>
                </a:solidFill>
                <a:latin typeface="Calibri" pitchFamily="34" charset="0"/>
                <a:ea typeface="Calibri" pitchFamily="34" charset="-122"/>
                <a:cs typeface="Calibri" pitchFamily="34" charset="-120"/>
              </a:rPr>
              <a:t>Exact engine  </a:t>
            </a:r>
            <a:r>
              <a:rPr lang="en-US" sz="900" dirty="0">
                <a:solidFill>
                  <a:srgbClr val="1A1A1A"/>
                </a:solidFill>
                <a:latin typeface="Calibri" pitchFamily="34" charset="0"/>
                <a:ea typeface="Calibri" pitchFamily="34" charset="-122"/>
                <a:cs typeface="Calibri" pitchFamily="34" charset="-120"/>
              </a:rPr>
              <a:t>OR-Tools CP-SAT on a server. Proves the best plan.</a:t>
            </a:r>
            <a:endParaRPr lang="en-US" sz="900" dirty="0"/>
          </a:p>
        </p:txBody>
      </p:sp>
      <p:sp>
        <p:nvSpPr>
          <p:cNvPr id="83" name="Engine Built-in engine"/>
          <p:cNvSpPr/>
          <p:nvPr/>
        </p:nvSpPr>
        <p:spPr>
          <a:xfrm>
            <a:off x="5842000" y="4343400"/>
            <a:ext cx="3200400" cy="431800"/>
          </a:xfrm>
          <a:prstGeom prst="roundRect">
            <a:avLst>
              <a:gd name="adj" fmla="val 12706"/>
            </a:avLst>
          </a:prstGeom>
          <a:solidFill>
            <a:srgbClr val="FFFFFF"/>
          </a:solidFill>
          <a:ln w="12700">
            <a:solidFill>
              <a:srgbClr val="E07A1F"/>
            </a:solidFill>
            <a:prstDash val="solid"/>
          </a:ln>
        </p:spPr>
      </p:sp>
      <p:pic>
        <p:nvPicPr>
          <p:cNvPr id="84" name="Image 19" descr="Built-in engine icon">    </p:cNvPr>
          <p:cNvPicPr>
            <a:picLocks noChangeAspect="1"/>
          </p:cNvPicPr>
          <p:nvPr/>
        </p:nvPicPr>
        <p:blipFill>
          <a:blip r:embed="rId20"/>
          <a:stretch>
            <a:fillRect/>
          </a:stretch>
        </p:blipFill>
        <p:spPr>
          <a:xfrm>
            <a:off x="5956300" y="4457700"/>
            <a:ext cx="203200" cy="203200"/>
          </a:xfrm>
          <a:prstGeom prst="rect">
            <a:avLst/>
          </a:prstGeom>
        </p:spPr>
      </p:pic>
      <p:sp>
        <p:nvSpPr>
          <p:cNvPr id="85" name="Engine text Built-in engine"/>
          <p:cNvSpPr txBox="1"/>
          <p:nvPr/>
        </p:nvSpPr>
        <p:spPr>
          <a:xfrm>
            <a:off x="6248400" y="4343400"/>
            <a:ext cx="2717800" cy="431800"/>
          </a:xfrm>
          <a:prstGeom prst="rect">
            <a:avLst/>
          </a:prstGeom>
          <a:noFill/>
          <a:ln/>
        </p:spPr>
        <p:txBody>
          <a:bodyPr wrap="square" lIns="0" tIns="0" rIns="0" bIns="0" rtlCol="0" anchor="ctr"/>
          <a:lstStyle/>
          <a:p>
            <a:pPr indent="0" marL="0">
              <a:buNone/>
            </a:pPr>
            <a:r>
              <a:rPr lang="en-US" sz="900" b="1" dirty="0">
                <a:solidFill>
                  <a:srgbClr val="E07A1F"/>
                </a:solidFill>
                <a:latin typeface="Calibri" pitchFamily="34" charset="0"/>
                <a:ea typeface="Calibri" pitchFamily="34" charset="-122"/>
                <a:cs typeface="Calibri" pitchFamily="34" charset="-120"/>
              </a:rPr>
              <a:t>Built-in engine  </a:t>
            </a:r>
            <a:r>
              <a:rPr lang="en-US" sz="900" dirty="0">
                <a:solidFill>
                  <a:srgbClr val="1A1A1A"/>
                </a:solidFill>
                <a:latin typeface="Calibri" pitchFamily="34" charset="0"/>
                <a:ea typeface="Calibri" pitchFamily="34" charset="-122"/>
                <a:cs typeface="Calibri" pitchFamily="34" charset="-120"/>
              </a:rPr>
              <a:t>Adaptive search in the browser. 98.9% of exact in 0.3 s.</a:t>
            </a:r>
            <a:endParaRPr lang="en-US" sz="900" dirty="0"/>
          </a:p>
        </p:txBody>
      </p:sp>
      <p:sp>
        <p:nvSpPr>
          <p:cNvPr id="86" name="Engine note"/>
          <p:cNvSpPr txBox="1"/>
          <p:nvPr/>
        </p:nvSpPr>
        <p:spPr>
          <a:xfrm>
            <a:off x="2540000" y="4876800"/>
            <a:ext cx="6553200" cy="228600"/>
          </a:xfrm>
          <a:prstGeom prst="rect">
            <a:avLst/>
          </a:prstGeom>
          <a:noFill/>
          <a:ln/>
        </p:spPr>
        <p:txBody>
          <a:bodyPr wrap="square" lIns="0" tIns="0" rIns="0" bIns="0" rtlCol="0" anchor="ctr"/>
          <a:lstStyle/>
          <a:p>
            <a:pPr algn="ctr" indent="0" marL="0">
              <a:buNone/>
            </a:pPr>
            <a:r>
              <a:rPr lang="en-US" sz="900" i="1" dirty="0">
                <a:solidFill>
                  <a:srgbClr val="595959"/>
                </a:solidFill>
                <a:latin typeface="Calibri" pitchFamily="34" charset="0"/>
                <a:ea typeface="Calibri" pitchFamily="34" charset="-122"/>
                <a:cs typeface="Calibri" pitchFamily="34" charset="-120"/>
              </a:rPr>
              <a:t>Same rules and the same objective in both engines. Sorties already launched are locked.</a:t>
            </a:r>
            <a:endParaRPr lang="en-US" sz="900" dirty="0"/>
          </a:p>
        </p:txBody>
      </p:sp>
      <p:sp>
        <p:nvSpPr>
          <p:cNvPr id="87" name="Engine to outputs"/>
          <p:cNvSpPr/>
          <p:nvPr/>
        </p:nvSpPr>
        <p:spPr>
          <a:xfrm>
            <a:off x="9245600" y="3975100"/>
            <a:ext cx="228600" cy="0"/>
          </a:xfrm>
          <a:prstGeom prst="line">
            <a:avLst/>
          </a:prstGeom>
          <a:noFill/>
          <a:ln w="15875">
            <a:solidFill>
              <a:srgbClr val="7F93AD"/>
            </a:solidFill>
            <a:prstDash val="solid"/>
            <a:tailEnd type="triangle"/>
          </a:ln>
        </p:spPr>
      </p:sp>
      <p:sp>
        <p:nvSpPr>
          <p:cNvPr id="88" name="Output box Ranked options"/>
          <p:cNvSpPr/>
          <p:nvPr/>
        </p:nvSpPr>
        <p:spPr>
          <a:xfrm>
            <a:off x="9499600" y="2730500"/>
            <a:ext cx="2374900" cy="419100"/>
          </a:xfrm>
          <a:prstGeom prst="roundRect">
            <a:avLst>
              <a:gd name="adj" fmla="val 10909"/>
            </a:avLst>
          </a:prstGeom>
          <a:solidFill>
            <a:srgbClr val="F7F9FC"/>
          </a:solidFill>
          <a:ln w="9525">
            <a:solidFill>
              <a:srgbClr val="C9D5E6"/>
            </a:solidFill>
            <a:prstDash val="solid"/>
          </a:ln>
        </p:spPr>
      </p:sp>
      <p:sp>
        <p:nvSpPr>
          <p:cNvPr id="89" name="Output dot Ranked options"/>
          <p:cNvSpPr/>
          <p:nvPr/>
        </p:nvSpPr>
        <p:spPr>
          <a:xfrm>
            <a:off x="9601200" y="2889250"/>
            <a:ext cx="101600" cy="101600"/>
          </a:xfrm>
          <a:prstGeom prst="ellipse">
            <a:avLst/>
          </a:prstGeom>
          <a:solidFill>
            <a:srgbClr val="1F6FB2"/>
          </a:solidFill>
          <a:ln w="12700">
            <a:solidFill>
              <a:srgbClr val="1F6FB2"/>
            </a:solidFill>
            <a:prstDash val="solid"/>
          </a:ln>
        </p:spPr>
      </p:sp>
      <p:sp>
        <p:nvSpPr>
          <p:cNvPr id="90" name="Output Ranked options"/>
          <p:cNvSpPr txBox="1"/>
          <p:nvPr/>
        </p:nvSpPr>
        <p:spPr>
          <a:xfrm>
            <a:off x="9779000" y="2730500"/>
            <a:ext cx="2057400" cy="419100"/>
          </a:xfrm>
          <a:prstGeom prst="rect">
            <a:avLst/>
          </a:prstGeom>
          <a:noFill/>
          <a:ln/>
        </p:spPr>
        <p:txBody>
          <a:bodyPr wrap="square" lIns="0" tIns="0" rIns="0" bIns="0" rtlCol="0" anchor="ctr"/>
          <a:lstStyle/>
          <a:p>
            <a:pPr indent="0" marL="0">
              <a:buNone/>
            </a:pPr>
            <a:r>
              <a:rPr lang="en-US" sz="950" b="1" dirty="0">
                <a:solidFill>
                  <a:srgbClr val="1A1A1A"/>
                </a:solidFill>
                <a:latin typeface="Calibri" pitchFamily="34" charset="0"/>
                <a:ea typeface="Calibri" pitchFamily="34" charset="-122"/>
                <a:cs typeface="Calibri" pitchFamily="34" charset="-120"/>
              </a:rPr>
              <a:t>Ranked options</a:t>
            </a:r>
            <a:endParaRPr lang="en-US" sz="950" dirty="0"/>
          </a:p>
          <a:p>
            <a:pPr indent="0" marL="0">
              <a:buNone/>
            </a:pPr>
            <a:r>
              <a:rPr lang="en-US" sz="800" dirty="0">
                <a:solidFill>
                  <a:srgbClr val="595959"/>
                </a:solidFill>
                <a:latin typeface="Calibri" pitchFamily="34" charset="0"/>
                <a:ea typeface="Calibri" pitchFamily="34" charset="-122"/>
                <a:cs typeface="Calibri" pitchFamily="34" charset="-120"/>
              </a:rPr>
              <a:t>recommended, cautious, max coverage</a:t>
            </a:r>
            <a:endParaRPr lang="en-US" sz="950" dirty="0"/>
          </a:p>
        </p:txBody>
      </p:sp>
      <p:sp>
        <p:nvSpPr>
          <p:cNvPr id="91" name="Output box Change list"/>
          <p:cNvSpPr/>
          <p:nvPr/>
        </p:nvSpPr>
        <p:spPr>
          <a:xfrm>
            <a:off x="9499600" y="3213100"/>
            <a:ext cx="2374900" cy="419100"/>
          </a:xfrm>
          <a:prstGeom prst="roundRect">
            <a:avLst>
              <a:gd name="adj" fmla="val 10909"/>
            </a:avLst>
          </a:prstGeom>
          <a:solidFill>
            <a:srgbClr val="F7F9FC"/>
          </a:solidFill>
          <a:ln w="9525">
            <a:solidFill>
              <a:srgbClr val="C9D5E6"/>
            </a:solidFill>
            <a:prstDash val="solid"/>
          </a:ln>
        </p:spPr>
      </p:sp>
      <p:sp>
        <p:nvSpPr>
          <p:cNvPr id="92" name="Output dot Change list"/>
          <p:cNvSpPr/>
          <p:nvPr/>
        </p:nvSpPr>
        <p:spPr>
          <a:xfrm>
            <a:off x="9601200" y="3371850"/>
            <a:ext cx="101600" cy="101600"/>
          </a:xfrm>
          <a:prstGeom prst="ellipse">
            <a:avLst/>
          </a:prstGeom>
          <a:solidFill>
            <a:srgbClr val="E07A1F"/>
          </a:solidFill>
          <a:ln w="12700">
            <a:solidFill>
              <a:srgbClr val="E07A1F"/>
            </a:solidFill>
            <a:prstDash val="solid"/>
          </a:ln>
        </p:spPr>
      </p:sp>
      <p:sp>
        <p:nvSpPr>
          <p:cNvPr id="93" name="Output Change list"/>
          <p:cNvSpPr txBox="1"/>
          <p:nvPr/>
        </p:nvSpPr>
        <p:spPr>
          <a:xfrm>
            <a:off x="9779000" y="3213100"/>
            <a:ext cx="2057400" cy="419100"/>
          </a:xfrm>
          <a:prstGeom prst="rect">
            <a:avLst/>
          </a:prstGeom>
          <a:noFill/>
          <a:ln/>
        </p:spPr>
        <p:txBody>
          <a:bodyPr wrap="square" lIns="0" tIns="0" rIns="0" bIns="0" rtlCol="0" anchor="ctr"/>
          <a:lstStyle/>
          <a:p>
            <a:pPr indent="0" marL="0">
              <a:buNone/>
            </a:pPr>
            <a:r>
              <a:rPr lang="en-US" sz="950" b="1" dirty="0">
                <a:solidFill>
                  <a:srgbClr val="1A1A1A"/>
                </a:solidFill>
                <a:latin typeface="Calibri" pitchFamily="34" charset="0"/>
                <a:ea typeface="Calibri" pitchFamily="34" charset="-122"/>
                <a:cs typeface="Calibri" pitchFamily="34" charset="-120"/>
              </a:rPr>
              <a:t>Change list</a:t>
            </a:r>
            <a:endParaRPr lang="en-US" sz="950" dirty="0"/>
          </a:p>
          <a:p>
            <a:pPr indent="0" marL="0">
              <a:buNone/>
            </a:pPr>
            <a:r>
              <a:rPr lang="en-US" sz="800" dirty="0">
                <a:solidFill>
                  <a:srgbClr val="595959"/>
                </a:solidFill>
                <a:latin typeface="Calibri" pitchFamily="34" charset="0"/>
                <a:ea typeface="Calibri" pitchFamily="34" charset="-122"/>
                <a:cs typeface="Calibri" pitchFamily="34" charset="-120"/>
              </a:rPr>
              <a:t>what moves, and why</a:t>
            </a:r>
            <a:endParaRPr lang="en-US" sz="950" dirty="0"/>
          </a:p>
        </p:txBody>
      </p:sp>
      <p:sp>
        <p:nvSpPr>
          <p:cNvPr id="94" name="Output box Why not tasked"/>
          <p:cNvSpPr/>
          <p:nvPr/>
        </p:nvSpPr>
        <p:spPr>
          <a:xfrm>
            <a:off x="9499600" y="3695700"/>
            <a:ext cx="2374900" cy="419100"/>
          </a:xfrm>
          <a:prstGeom prst="roundRect">
            <a:avLst>
              <a:gd name="adj" fmla="val 10909"/>
            </a:avLst>
          </a:prstGeom>
          <a:solidFill>
            <a:srgbClr val="F7F9FC"/>
          </a:solidFill>
          <a:ln w="9525">
            <a:solidFill>
              <a:srgbClr val="C9D5E6"/>
            </a:solidFill>
            <a:prstDash val="solid"/>
          </a:ln>
        </p:spPr>
      </p:sp>
      <p:sp>
        <p:nvSpPr>
          <p:cNvPr id="95" name="Output dot Why not tasked"/>
          <p:cNvSpPr/>
          <p:nvPr/>
        </p:nvSpPr>
        <p:spPr>
          <a:xfrm>
            <a:off x="9601200" y="3854450"/>
            <a:ext cx="101600" cy="101600"/>
          </a:xfrm>
          <a:prstGeom prst="ellipse">
            <a:avLst/>
          </a:prstGeom>
          <a:solidFill>
            <a:srgbClr val="C8504B"/>
          </a:solidFill>
          <a:ln w="12700">
            <a:solidFill>
              <a:srgbClr val="C8504B"/>
            </a:solidFill>
            <a:prstDash val="solid"/>
          </a:ln>
        </p:spPr>
      </p:sp>
      <p:sp>
        <p:nvSpPr>
          <p:cNvPr id="96" name="Output Why not tasked"/>
          <p:cNvSpPr txBox="1"/>
          <p:nvPr/>
        </p:nvSpPr>
        <p:spPr>
          <a:xfrm>
            <a:off x="9779000" y="3695700"/>
            <a:ext cx="2057400" cy="419100"/>
          </a:xfrm>
          <a:prstGeom prst="rect">
            <a:avLst/>
          </a:prstGeom>
          <a:noFill/>
          <a:ln/>
        </p:spPr>
        <p:txBody>
          <a:bodyPr wrap="square" lIns="0" tIns="0" rIns="0" bIns="0" rtlCol="0" anchor="ctr"/>
          <a:lstStyle/>
          <a:p>
            <a:pPr indent="0" marL="0">
              <a:buNone/>
            </a:pPr>
            <a:r>
              <a:rPr lang="en-US" sz="950" b="1" dirty="0">
                <a:solidFill>
                  <a:srgbClr val="1A1A1A"/>
                </a:solidFill>
                <a:latin typeface="Calibri" pitchFamily="34" charset="0"/>
                <a:ea typeface="Calibri" pitchFamily="34" charset="-122"/>
                <a:cs typeface="Calibri" pitchFamily="34" charset="-120"/>
              </a:rPr>
              <a:t>Why not tasked</a:t>
            </a:r>
            <a:endParaRPr lang="en-US" sz="950" dirty="0"/>
          </a:p>
          <a:p>
            <a:pPr indent="0" marL="0">
              <a:buNone/>
            </a:pPr>
            <a:r>
              <a:rPr lang="en-US" sz="800" dirty="0">
                <a:solidFill>
                  <a:srgbClr val="595959"/>
                </a:solidFill>
                <a:latin typeface="Calibri" pitchFamily="34" charset="0"/>
                <a:ea typeface="Calibri" pitchFamily="34" charset="-122"/>
                <a:cs typeface="Calibri" pitchFamily="34" charset="-120"/>
              </a:rPr>
              <a:t>the limit that blocks a mission</a:t>
            </a:r>
            <a:endParaRPr lang="en-US" sz="950" dirty="0"/>
          </a:p>
        </p:txBody>
      </p:sp>
      <p:sp>
        <p:nvSpPr>
          <p:cNvPr id="97" name="Output box Plan confidence"/>
          <p:cNvSpPr/>
          <p:nvPr/>
        </p:nvSpPr>
        <p:spPr>
          <a:xfrm>
            <a:off x="9499600" y="4178300"/>
            <a:ext cx="2374900" cy="419100"/>
          </a:xfrm>
          <a:prstGeom prst="roundRect">
            <a:avLst>
              <a:gd name="adj" fmla="val 10909"/>
            </a:avLst>
          </a:prstGeom>
          <a:solidFill>
            <a:srgbClr val="F7F9FC"/>
          </a:solidFill>
          <a:ln w="9525">
            <a:solidFill>
              <a:srgbClr val="C9D5E6"/>
            </a:solidFill>
            <a:prstDash val="solid"/>
          </a:ln>
        </p:spPr>
      </p:sp>
      <p:sp>
        <p:nvSpPr>
          <p:cNvPr id="98" name="Output dot Plan confidence"/>
          <p:cNvSpPr/>
          <p:nvPr/>
        </p:nvSpPr>
        <p:spPr>
          <a:xfrm>
            <a:off x="9601200" y="4337050"/>
            <a:ext cx="101600" cy="101600"/>
          </a:xfrm>
          <a:prstGeom prst="ellipse">
            <a:avLst/>
          </a:prstGeom>
          <a:solidFill>
            <a:srgbClr val="1F9D8A"/>
          </a:solidFill>
          <a:ln w="12700">
            <a:solidFill>
              <a:srgbClr val="1F9D8A"/>
            </a:solidFill>
            <a:prstDash val="solid"/>
          </a:ln>
        </p:spPr>
      </p:sp>
      <p:sp>
        <p:nvSpPr>
          <p:cNvPr id="99" name="Output Plan confidence"/>
          <p:cNvSpPr txBox="1"/>
          <p:nvPr/>
        </p:nvSpPr>
        <p:spPr>
          <a:xfrm>
            <a:off x="9779000" y="4178300"/>
            <a:ext cx="2057400" cy="419100"/>
          </a:xfrm>
          <a:prstGeom prst="rect">
            <a:avLst/>
          </a:prstGeom>
          <a:noFill/>
          <a:ln/>
        </p:spPr>
        <p:txBody>
          <a:bodyPr wrap="square" lIns="0" tIns="0" rIns="0" bIns="0" rtlCol="0" anchor="ctr"/>
          <a:lstStyle/>
          <a:p>
            <a:pPr indent="0" marL="0">
              <a:buNone/>
            </a:pPr>
            <a:r>
              <a:rPr lang="en-US" sz="950" b="1" dirty="0">
                <a:solidFill>
                  <a:srgbClr val="1A1A1A"/>
                </a:solidFill>
                <a:latin typeface="Calibri" pitchFamily="34" charset="0"/>
                <a:ea typeface="Calibri" pitchFamily="34" charset="-122"/>
                <a:cs typeface="Calibri" pitchFamily="34" charset="-120"/>
              </a:rPr>
              <a:t>Plan confidence</a:t>
            </a:r>
            <a:endParaRPr lang="en-US" sz="950" dirty="0"/>
          </a:p>
          <a:p>
            <a:pPr indent="0" marL="0">
              <a:buNone/>
            </a:pPr>
            <a:r>
              <a:rPr lang="en-US" sz="800" dirty="0">
                <a:solidFill>
                  <a:srgbClr val="595959"/>
                </a:solidFill>
                <a:latin typeface="Calibri" pitchFamily="34" charset="0"/>
                <a:ea typeface="Calibri" pitchFamily="34" charset="-122"/>
                <a:cs typeface="Calibri" pitchFamily="34" charset="-120"/>
              </a:rPr>
              <a:t>1,000 simulated days</a:t>
            </a:r>
            <a:endParaRPr lang="en-US" sz="950" dirty="0"/>
          </a:p>
        </p:txBody>
      </p:sp>
      <p:sp>
        <p:nvSpPr>
          <p:cNvPr id="100" name="Outputs to approval"/>
          <p:cNvSpPr/>
          <p:nvPr/>
        </p:nvSpPr>
        <p:spPr>
          <a:xfrm>
            <a:off x="10680700" y="4660900"/>
            <a:ext cx="0" cy="127000"/>
          </a:xfrm>
          <a:prstGeom prst="line">
            <a:avLst/>
          </a:prstGeom>
          <a:noFill/>
          <a:ln w="15875">
            <a:solidFill>
              <a:srgbClr val="2E9E5B"/>
            </a:solidFill>
            <a:prstDash val="solid"/>
            <a:tailEnd type="triangle"/>
          </a:ln>
        </p:spPr>
      </p:sp>
      <p:sp>
        <p:nvSpPr>
          <p:cNvPr id="101" name="Approval box"/>
          <p:cNvSpPr/>
          <p:nvPr/>
        </p:nvSpPr>
        <p:spPr>
          <a:xfrm>
            <a:off x="9499600" y="4800600"/>
            <a:ext cx="2374900" cy="406400"/>
          </a:xfrm>
          <a:prstGeom prst="roundRect">
            <a:avLst>
              <a:gd name="adj" fmla="val 13500"/>
            </a:avLst>
          </a:prstGeom>
          <a:solidFill>
            <a:srgbClr val="E6F6EC"/>
          </a:solidFill>
          <a:ln w="9525">
            <a:solidFill>
              <a:srgbClr val="9FD3B4"/>
            </a:solidFill>
          </a:ln>
        </p:spPr>
        <p:txBody>
          <a:bodyPr wrap="square" lIns="25400" tIns="25400" rIns="25400" bIns="25400" rtlCol="0" anchor="ctr"/>
          <a:lstStyle/>
          <a:p>
            <a:pPr algn="ctr" indent="0" marL="0">
              <a:buNone/>
            </a:pPr>
            <a:r>
              <a:rPr lang="en-US" sz="950" b="1" dirty="0">
                <a:solidFill>
                  <a:srgbClr val="1F7A45"/>
                </a:solidFill>
                <a:latin typeface="Calibri" pitchFamily="34" charset="0"/>
                <a:ea typeface="Calibri" pitchFamily="34" charset="-122"/>
                <a:cs typeface="Calibri" pitchFamily="34" charset="-120"/>
              </a:rPr>
              <a:t>Commander approves</a:t>
            </a:r>
            <a:endParaRPr lang="en-US" sz="950" dirty="0"/>
          </a:p>
          <a:p>
            <a:pPr algn="ctr" indent="0" marL="0">
              <a:buNone/>
            </a:pPr>
            <a:r>
              <a:rPr lang="en-US" sz="800" dirty="0">
                <a:solidFill>
                  <a:srgbClr val="595959"/>
                </a:solidFill>
                <a:latin typeface="Calibri" pitchFamily="34" charset="0"/>
                <a:ea typeface="Calibri" pitchFamily="34" charset="-122"/>
                <a:cs typeface="Calibri" pitchFamily="34" charset="-120"/>
              </a:rPr>
              <a:t>the plan becomes the new baseline</a:t>
            </a:r>
            <a:endParaRPr lang="en-US" sz="950" dirty="0"/>
          </a:p>
        </p:txBody>
      </p:sp>
      <p:sp>
        <p:nvSpPr>
          <p:cNvPr id="102" name="Label WHAT IS NEW"/>
          <p:cNvSpPr txBox="1"/>
          <p:nvPr/>
        </p:nvSpPr>
        <p:spPr>
          <a:xfrm>
            <a:off x="317500" y="53594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WHAT IS NEW</a:t>
            </a:r>
            <a:endParaRPr lang="en-US" sz="850" dirty="0"/>
          </a:p>
        </p:txBody>
      </p:sp>
      <p:sp>
        <p:nvSpPr>
          <p:cNvPr id="103" name="New card 1"/>
          <p:cNvSpPr/>
          <p:nvPr/>
        </p:nvSpPr>
        <p:spPr>
          <a:xfrm>
            <a:off x="317500" y="5549900"/>
            <a:ext cx="2235200" cy="1016000"/>
          </a:xfrm>
          <a:prstGeom prst="roundRect">
            <a:avLst>
              <a:gd name="adj" fmla="val 630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104" name="New icon 1 bg"/>
          <p:cNvSpPr/>
          <p:nvPr/>
        </p:nvSpPr>
        <p:spPr>
          <a:xfrm>
            <a:off x="431800" y="5664200"/>
            <a:ext cx="330200" cy="330200"/>
          </a:xfrm>
          <a:prstGeom prst="ellipse">
            <a:avLst/>
          </a:prstGeom>
          <a:solidFill>
            <a:srgbClr val="1F6FB2">
              <a:alpha val="14000"/>
            </a:srgbClr>
          </a:solidFill>
          <a:ln w="12700">
            <a:solidFill>
              <a:srgbClr val="1F6FB2">
                <a:alpha val="0"/>
              </a:srgbClr>
            </a:solidFill>
            <a:prstDash val="solid"/>
          </a:ln>
        </p:spPr>
      </p:sp>
      <p:pic>
        <p:nvPicPr>
          <p:cNvPr id="105" name="Image 20" descr="New icon 1">    </p:cNvPr>
          <p:cNvPicPr>
            <a:picLocks noChangeAspect="1"/>
          </p:cNvPicPr>
          <p:nvPr/>
        </p:nvPicPr>
        <p:blipFill>
          <a:blip r:embed="rId21"/>
          <a:stretch>
            <a:fillRect/>
          </a:stretch>
        </p:blipFill>
        <p:spPr>
          <a:xfrm>
            <a:off x="514350" y="5746750"/>
            <a:ext cx="165100" cy="165100"/>
          </a:xfrm>
          <a:prstGeom prst="rect">
            <a:avLst/>
          </a:prstGeom>
        </p:spPr>
      </p:pic>
      <p:sp>
        <p:nvSpPr>
          <p:cNvPr id="106" name="New title 1"/>
          <p:cNvSpPr txBox="1"/>
          <p:nvPr/>
        </p:nvSpPr>
        <p:spPr>
          <a:xfrm>
            <a:off x="850900" y="5626100"/>
            <a:ext cx="1625600" cy="3810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Changes only what must change</a:t>
            </a:r>
            <a:endParaRPr lang="en-US" sz="1050" dirty="0"/>
          </a:p>
        </p:txBody>
      </p:sp>
      <p:sp>
        <p:nvSpPr>
          <p:cNvPr id="107" name="New text 1"/>
          <p:cNvSpPr txBox="1"/>
          <p:nvPr/>
        </p:nvSpPr>
        <p:spPr>
          <a:xfrm>
            <a:off x="444500" y="6083300"/>
            <a:ext cx="2006600" cy="406400"/>
          </a:xfrm>
          <a:prstGeom prst="rect">
            <a:avLst/>
          </a:prstGeom>
          <a:noFill/>
          <a:ln/>
        </p:spPr>
        <p:txBody>
          <a:bodyPr wrap="square" lIns="0" tIns="0" rIns="0" bIns="0" rtlCol="0" anchor="t"/>
          <a:lstStyle/>
          <a:p>
            <a:pPr indent="0" marL="0">
              <a:buNone/>
            </a:pPr>
            <a:r>
              <a:rPr lang="en-US" sz="920" dirty="0">
                <a:solidFill>
                  <a:srgbClr val="1A1A1A"/>
                </a:solidFill>
                <a:latin typeface="Calibri" pitchFamily="34" charset="0"/>
                <a:ea typeface="Calibri" pitchFamily="34" charset="-122"/>
                <a:cs typeface="Calibri" pitchFamily="34" charset="-120"/>
              </a:rPr>
              <a:t>4.0 plan changes per event, not 14.0</a:t>
            </a:r>
            <a:endParaRPr lang="en-US" sz="920" dirty="0"/>
          </a:p>
        </p:txBody>
      </p:sp>
      <p:sp>
        <p:nvSpPr>
          <p:cNvPr id="108" name="New card 2"/>
          <p:cNvSpPr/>
          <p:nvPr/>
        </p:nvSpPr>
        <p:spPr>
          <a:xfrm>
            <a:off x="2647950" y="5549900"/>
            <a:ext cx="2235200" cy="1016000"/>
          </a:xfrm>
          <a:prstGeom prst="roundRect">
            <a:avLst>
              <a:gd name="adj" fmla="val 630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109" name="New icon 2 bg"/>
          <p:cNvSpPr/>
          <p:nvPr/>
        </p:nvSpPr>
        <p:spPr>
          <a:xfrm>
            <a:off x="2762250" y="5664200"/>
            <a:ext cx="330200" cy="330200"/>
          </a:xfrm>
          <a:prstGeom prst="ellipse">
            <a:avLst/>
          </a:prstGeom>
          <a:solidFill>
            <a:srgbClr val="1F9D8A">
              <a:alpha val="14000"/>
            </a:srgbClr>
          </a:solidFill>
          <a:ln w="12700">
            <a:solidFill>
              <a:srgbClr val="1F9D8A">
                <a:alpha val="0"/>
              </a:srgbClr>
            </a:solidFill>
            <a:prstDash val="solid"/>
          </a:ln>
        </p:spPr>
      </p:sp>
      <p:pic>
        <p:nvPicPr>
          <p:cNvPr id="110" name="Image 21" descr="New icon 2">    </p:cNvPr>
          <p:cNvPicPr>
            <a:picLocks noChangeAspect="1"/>
          </p:cNvPicPr>
          <p:nvPr/>
        </p:nvPicPr>
        <p:blipFill>
          <a:blip r:embed="rId22"/>
          <a:stretch>
            <a:fillRect/>
          </a:stretch>
        </p:blipFill>
        <p:spPr>
          <a:xfrm>
            <a:off x="2844800" y="5746750"/>
            <a:ext cx="165100" cy="165100"/>
          </a:xfrm>
          <a:prstGeom prst="rect">
            <a:avLst/>
          </a:prstGeom>
        </p:spPr>
      </p:pic>
      <p:sp>
        <p:nvSpPr>
          <p:cNvPr id="111" name="New title 2"/>
          <p:cNvSpPr txBox="1"/>
          <p:nvPr/>
        </p:nvSpPr>
        <p:spPr>
          <a:xfrm>
            <a:off x="3181350" y="5626100"/>
            <a:ext cx="1625600" cy="3810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Readiness-aware tasking</a:t>
            </a:r>
            <a:endParaRPr lang="en-US" sz="1050" dirty="0"/>
          </a:p>
        </p:txBody>
      </p:sp>
      <p:sp>
        <p:nvSpPr>
          <p:cNvPr id="112" name="New text 2"/>
          <p:cNvSpPr txBox="1"/>
          <p:nvPr/>
        </p:nvSpPr>
        <p:spPr>
          <a:xfrm>
            <a:off x="2774950" y="6083300"/>
            <a:ext cx="2006600" cy="406400"/>
          </a:xfrm>
          <a:prstGeom prst="rect">
            <a:avLst/>
          </a:prstGeom>
          <a:noFill/>
          <a:ln/>
        </p:spPr>
        <p:txBody>
          <a:bodyPr wrap="square" lIns="0" tIns="0" rIns="0" bIns="0" rtlCol="0" anchor="t"/>
          <a:lstStyle/>
          <a:p>
            <a:pPr indent="0" marL="0">
              <a:buNone/>
            </a:pPr>
            <a:r>
              <a:rPr lang="en-US" sz="920" dirty="0">
                <a:solidFill>
                  <a:srgbClr val="1A1A1A"/>
                </a:solidFill>
                <a:latin typeface="Calibri" pitchFamily="34" charset="0"/>
                <a:ea typeface="Calibri" pitchFamily="34" charset="-122"/>
                <a:cs typeface="Calibri" pitchFamily="34" charset="-120"/>
              </a:rPr>
              <a:t>unreliable jets stay off top-priority missions</a:t>
            </a:r>
            <a:endParaRPr lang="en-US" sz="920" dirty="0"/>
          </a:p>
        </p:txBody>
      </p:sp>
      <p:sp>
        <p:nvSpPr>
          <p:cNvPr id="113" name="New card 3"/>
          <p:cNvSpPr/>
          <p:nvPr/>
        </p:nvSpPr>
        <p:spPr>
          <a:xfrm>
            <a:off x="4978400" y="5549900"/>
            <a:ext cx="2235200" cy="1016000"/>
          </a:xfrm>
          <a:prstGeom prst="roundRect">
            <a:avLst>
              <a:gd name="adj" fmla="val 630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114" name="New icon 3 bg"/>
          <p:cNvSpPr/>
          <p:nvPr/>
        </p:nvSpPr>
        <p:spPr>
          <a:xfrm>
            <a:off x="5092700" y="5664200"/>
            <a:ext cx="330200" cy="330200"/>
          </a:xfrm>
          <a:prstGeom prst="ellipse">
            <a:avLst/>
          </a:prstGeom>
          <a:solidFill>
            <a:srgbClr val="C8504B">
              <a:alpha val="14000"/>
            </a:srgbClr>
          </a:solidFill>
          <a:ln w="12700">
            <a:solidFill>
              <a:srgbClr val="C8504B">
                <a:alpha val="0"/>
              </a:srgbClr>
            </a:solidFill>
            <a:prstDash val="solid"/>
          </a:ln>
        </p:spPr>
      </p:sp>
      <p:pic>
        <p:nvPicPr>
          <p:cNvPr id="115" name="Image 22" descr="New icon 3">    </p:cNvPr>
          <p:cNvPicPr>
            <a:picLocks noChangeAspect="1"/>
          </p:cNvPicPr>
          <p:nvPr/>
        </p:nvPicPr>
        <p:blipFill>
          <a:blip r:embed="rId23"/>
          <a:stretch>
            <a:fillRect/>
          </a:stretch>
        </p:blipFill>
        <p:spPr>
          <a:xfrm>
            <a:off x="5175250" y="5746750"/>
            <a:ext cx="165100" cy="165100"/>
          </a:xfrm>
          <a:prstGeom prst="rect">
            <a:avLst/>
          </a:prstGeom>
        </p:spPr>
      </p:pic>
      <p:sp>
        <p:nvSpPr>
          <p:cNvPr id="116" name="New title 3"/>
          <p:cNvSpPr txBox="1"/>
          <p:nvPr/>
        </p:nvSpPr>
        <p:spPr>
          <a:xfrm>
            <a:off x="5511800" y="5626100"/>
            <a:ext cx="1625600" cy="3810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Says why</a:t>
            </a:r>
            <a:endParaRPr lang="en-US" sz="1050" dirty="0"/>
          </a:p>
        </p:txBody>
      </p:sp>
      <p:sp>
        <p:nvSpPr>
          <p:cNvPr id="117" name="New text 3"/>
          <p:cNvSpPr txBox="1"/>
          <p:nvPr/>
        </p:nvSpPr>
        <p:spPr>
          <a:xfrm>
            <a:off x="5105400" y="6083300"/>
            <a:ext cx="2006600" cy="406400"/>
          </a:xfrm>
          <a:prstGeom prst="rect">
            <a:avLst/>
          </a:prstGeom>
          <a:noFill/>
          <a:ln/>
        </p:spPr>
        <p:txBody>
          <a:bodyPr wrap="square" lIns="0" tIns="0" rIns="0" bIns="0" rtlCol="0" anchor="t"/>
          <a:lstStyle/>
          <a:p>
            <a:pPr indent="0" marL="0">
              <a:buNone/>
            </a:pPr>
            <a:r>
              <a:rPr lang="en-US" sz="920" dirty="0">
                <a:solidFill>
                  <a:srgbClr val="1A1A1A"/>
                </a:solidFill>
                <a:latin typeface="Calibri" pitchFamily="34" charset="0"/>
                <a:ea typeface="Calibri" pitchFamily="34" charset="-122"/>
                <a:cs typeface="Calibri" pitchFamily="34" charset="-120"/>
              </a:rPr>
              <a:t>names the limit that blocks a mission</a:t>
            </a:r>
            <a:endParaRPr lang="en-US" sz="920" dirty="0"/>
          </a:p>
        </p:txBody>
      </p:sp>
      <p:sp>
        <p:nvSpPr>
          <p:cNvPr id="118" name="New card 4"/>
          <p:cNvSpPr/>
          <p:nvPr/>
        </p:nvSpPr>
        <p:spPr>
          <a:xfrm>
            <a:off x="7308850" y="5549900"/>
            <a:ext cx="2235200" cy="1016000"/>
          </a:xfrm>
          <a:prstGeom prst="roundRect">
            <a:avLst>
              <a:gd name="adj" fmla="val 630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119" name="New icon 4 bg"/>
          <p:cNvSpPr/>
          <p:nvPr/>
        </p:nvSpPr>
        <p:spPr>
          <a:xfrm>
            <a:off x="7423150" y="5664200"/>
            <a:ext cx="330200" cy="330200"/>
          </a:xfrm>
          <a:prstGeom prst="ellipse">
            <a:avLst/>
          </a:prstGeom>
          <a:solidFill>
            <a:srgbClr val="8A5CD0">
              <a:alpha val="14000"/>
            </a:srgbClr>
          </a:solidFill>
          <a:ln w="12700">
            <a:solidFill>
              <a:srgbClr val="8A5CD0">
                <a:alpha val="0"/>
              </a:srgbClr>
            </a:solidFill>
            <a:prstDash val="solid"/>
          </a:ln>
        </p:spPr>
      </p:sp>
      <p:pic>
        <p:nvPicPr>
          <p:cNvPr id="120" name="Image 23" descr="New icon 4">    </p:cNvPr>
          <p:cNvPicPr>
            <a:picLocks noChangeAspect="1"/>
          </p:cNvPicPr>
          <p:nvPr/>
        </p:nvPicPr>
        <p:blipFill>
          <a:blip r:embed="rId24"/>
          <a:stretch>
            <a:fillRect/>
          </a:stretch>
        </p:blipFill>
        <p:spPr>
          <a:xfrm>
            <a:off x="7505700" y="5746750"/>
            <a:ext cx="165100" cy="165100"/>
          </a:xfrm>
          <a:prstGeom prst="rect">
            <a:avLst/>
          </a:prstGeom>
        </p:spPr>
      </p:pic>
      <p:sp>
        <p:nvSpPr>
          <p:cNvPr id="121" name="New title 4"/>
          <p:cNvSpPr txBox="1"/>
          <p:nvPr/>
        </p:nvSpPr>
        <p:spPr>
          <a:xfrm>
            <a:off x="7842250" y="5626100"/>
            <a:ext cx="1625600" cy="3810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Plan confidence</a:t>
            </a:r>
            <a:endParaRPr lang="en-US" sz="1050" dirty="0"/>
          </a:p>
        </p:txBody>
      </p:sp>
      <p:sp>
        <p:nvSpPr>
          <p:cNvPr id="122" name="New text 4"/>
          <p:cNvSpPr txBox="1"/>
          <p:nvPr/>
        </p:nvSpPr>
        <p:spPr>
          <a:xfrm>
            <a:off x="7435850" y="6083300"/>
            <a:ext cx="2006600" cy="406400"/>
          </a:xfrm>
          <a:prstGeom prst="rect">
            <a:avLst/>
          </a:prstGeom>
          <a:noFill/>
          <a:ln/>
        </p:spPr>
        <p:txBody>
          <a:bodyPr wrap="square" lIns="0" tIns="0" rIns="0" bIns="0" rtlCol="0" anchor="t"/>
          <a:lstStyle/>
          <a:p>
            <a:pPr indent="0" marL="0">
              <a:buNone/>
            </a:pPr>
            <a:r>
              <a:rPr lang="en-US" sz="920" dirty="0">
                <a:solidFill>
                  <a:srgbClr val="1A1A1A"/>
                </a:solidFill>
                <a:latin typeface="Calibri" pitchFamily="34" charset="0"/>
                <a:ea typeface="Calibri" pitchFamily="34" charset="-122"/>
                <a:cs typeface="Calibri" pitchFamily="34" charset="-120"/>
              </a:rPr>
              <a:t>tested against 1,000 simulated days</a:t>
            </a:r>
            <a:endParaRPr lang="en-US" sz="920" dirty="0"/>
          </a:p>
        </p:txBody>
      </p:sp>
      <p:sp>
        <p:nvSpPr>
          <p:cNvPr id="123" name="New card 5"/>
          <p:cNvSpPr/>
          <p:nvPr/>
        </p:nvSpPr>
        <p:spPr>
          <a:xfrm>
            <a:off x="9639300" y="5549900"/>
            <a:ext cx="2235200" cy="1016000"/>
          </a:xfrm>
          <a:prstGeom prst="roundRect">
            <a:avLst>
              <a:gd name="adj" fmla="val 630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124" name="New icon 5 bg"/>
          <p:cNvSpPr/>
          <p:nvPr/>
        </p:nvSpPr>
        <p:spPr>
          <a:xfrm>
            <a:off x="9753600" y="5664200"/>
            <a:ext cx="330200" cy="330200"/>
          </a:xfrm>
          <a:prstGeom prst="ellipse">
            <a:avLst/>
          </a:prstGeom>
          <a:solidFill>
            <a:srgbClr val="E07A1F">
              <a:alpha val="14000"/>
            </a:srgbClr>
          </a:solidFill>
          <a:ln w="12700">
            <a:solidFill>
              <a:srgbClr val="E07A1F">
                <a:alpha val="0"/>
              </a:srgbClr>
            </a:solidFill>
            <a:prstDash val="solid"/>
          </a:ln>
        </p:spPr>
      </p:sp>
      <p:pic>
        <p:nvPicPr>
          <p:cNvPr id="125" name="Image 24" descr="New icon 5">    </p:cNvPr>
          <p:cNvPicPr>
            <a:picLocks noChangeAspect="1"/>
          </p:cNvPicPr>
          <p:nvPr/>
        </p:nvPicPr>
        <p:blipFill>
          <a:blip r:embed="rId25"/>
          <a:stretch>
            <a:fillRect/>
          </a:stretch>
        </p:blipFill>
        <p:spPr>
          <a:xfrm>
            <a:off x="9836150" y="5746750"/>
            <a:ext cx="165100" cy="165100"/>
          </a:xfrm>
          <a:prstGeom prst="rect">
            <a:avLst/>
          </a:prstGeom>
        </p:spPr>
      </p:pic>
      <p:sp>
        <p:nvSpPr>
          <p:cNvPr id="126" name="New title 5"/>
          <p:cNvSpPr txBox="1"/>
          <p:nvPr/>
        </p:nvSpPr>
        <p:spPr>
          <a:xfrm>
            <a:off x="10172700" y="5626100"/>
            <a:ext cx="1625600" cy="3810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Runs anywhere</a:t>
            </a:r>
            <a:endParaRPr lang="en-US" sz="1050" dirty="0"/>
          </a:p>
        </p:txBody>
      </p:sp>
      <p:sp>
        <p:nvSpPr>
          <p:cNvPr id="127" name="New text 5"/>
          <p:cNvSpPr txBox="1"/>
          <p:nvPr/>
        </p:nvSpPr>
        <p:spPr>
          <a:xfrm>
            <a:off x="9766300" y="6083300"/>
            <a:ext cx="2006600" cy="406400"/>
          </a:xfrm>
          <a:prstGeom prst="rect">
            <a:avLst/>
          </a:prstGeom>
          <a:noFill/>
          <a:ln/>
        </p:spPr>
        <p:txBody>
          <a:bodyPr wrap="square" lIns="0" tIns="0" rIns="0" bIns="0" rtlCol="0" anchor="t"/>
          <a:lstStyle/>
          <a:p>
            <a:pPr indent="0" marL="0">
              <a:buNone/>
            </a:pPr>
            <a:r>
              <a:rPr lang="en-US" sz="920" dirty="0">
                <a:solidFill>
                  <a:srgbClr val="1A1A1A"/>
                </a:solidFill>
                <a:latin typeface="Calibri" pitchFamily="34" charset="0"/>
                <a:ea typeface="Calibri" pitchFamily="34" charset="-122"/>
                <a:cs typeface="Calibri" pitchFamily="34" charset="-120"/>
              </a:rPr>
              <a:t>one file, any browser, no install</a:t>
            </a:r>
            <a:endParaRPr lang="en-US" sz="920" dirty="0"/>
          </a:p>
        </p:txBody>
      </p:sp>
      <p:sp>
        <p:nvSpPr>
          <p:cNvPr id="25" name="Slide Number Placeholder 0"/>
          <p:cNvSpPr>
            <a:spLocks noGrp="1"/>
          </p:cNvSpPr>
          <p:nvPr>
            <p:ph type="sldNum" sz="quarter" idx="4294967295"/>
          </p:nvPr>
        </p:nvSpPr>
        <p:spPr>
          <a:xfrm>
            <a:off x="11379200" y="6502400"/>
            <a:ext cx="5588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9595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1905000" y="177800"/>
            <a:ext cx="8280400" cy="685800"/>
          </a:xfrm>
          <a:prstGeom prst="rect">
            <a:avLst/>
          </a:prstGeom>
          <a:noFill/>
          <a:ln/>
        </p:spPr>
        <p:txBody>
          <a:bodyPr wrap="square" lIns="0" tIns="0" rIns="0" bIns="0" rtlCol="0" anchor="ctr"/>
          <a:lstStyle/>
          <a:p>
            <a:pPr algn="ctr" indent="0" marL="0">
              <a:buNone/>
            </a:pPr>
            <a:r>
              <a:rPr lang="en-US" sz="2600" b="1" dirty="0">
                <a:solidFill>
                  <a:srgbClr val="1F3864"/>
                </a:solidFill>
                <a:latin typeface="Cambria" pitchFamily="34" charset="0"/>
                <a:ea typeface="Cambria" pitchFamily="34" charset="-122"/>
                <a:cs typeface="Cambria" pitchFamily="34" charset="-120"/>
              </a:rPr>
              <a:t>TECHNICAL APPROACH</a:t>
            </a:r>
            <a:endParaRPr lang="en-US" sz="2600" dirty="0"/>
          </a:p>
        </p:txBody>
      </p:sp>
      <p:sp>
        <p:nvSpPr>
          <p:cNvPr id="3" name="Label HOW A RE-PLAN HAPPENS"/>
          <p:cNvSpPr txBox="1"/>
          <p:nvPr/>
        </p:nvSpPr>
        <p:spPr>
          <a:xfrm>
            <a:off x="317500" y="11176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HOW A RE-PLAN HAPPENS</a:t>
            </a:r>
            <a:endParaRPr lang="en-US" sz="850" dirty="0"/>
          </a:p>
        </p:txBody>
      </p:sp>
      <p:sp>
        <p:nvSpPr>
          <p:cNvPr id="4" name="Flow node 1"/>
          <p:cNvSpPr/>
          <p:nvPr/>
        </p:nvSpPr>
        <p:spPr>
          <a:xfrm>
            <a:off x="584200" y="1346200"/>
            <a:ext cx="1854200" cy="457200"/>
          </a:xfrm>
          <a:prstGeom prst="roundRect">
            <a:avLst>
              <a:gd name="adj" fmla="val 16000"/>
            </a:avLst>
          </a:prstGeom>
          <a:solidFill>
            <a:srgbClr val="C8504B">
              <a:alpha val="10000"/>
            </a:srgbClr>
          </a:solidFill>
          <a:ln w="15875">
            <a:solidFill>
              <a:srgbClr val="C8504B"/>
            </a:solidFill>
            <a:prstDash val="solid"/>
          </a:ln>
        </p:spPr>
      </p:sp>
      <p:pic>
        <p:nvPicPr>
          <p:cNvPr id="5" name="Image 0" descr="Flow icon 1">    </p:cNvPr>
          <p:cNvPicPr>
            <a:picLocks noChangeAspect="1"/>
          </p:cNvPicPr>
          <p:nvPr/>
        </p:nvPicPr>
        <p:blipFill>
          <a:blip r:embed="rId1"/>
          <a:stretch>
            <a:fillRect/>
          </a:stretch>
        </p:blipFill>
        <p:spPr>
          <a:xfrm>
            <a:off x="698500" y="1485900"/>
            <a:ext cx="177800" cy="177800"/>
          </a:xfrm>
          <a:prstGeom prst="rect">
            <a:avLst/>
          </a:prstGeom>
        </p:spPr>
      </p:pic>
      <p:sp>
        <p:nvSpPr>
          <p:cNvPr id="6" name="Flow label 1"/>
          <p:cNvSpPr txBox="1"/>
          <p:nvPr/>
        </p:nvSpPr>
        <p:spPr>
          <a:xfrm>
            <a:off x="939800" y="1346200"/>
            <a:ext cx="1447800" cy="4572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Event arrives</a:t>
            </a:r>
            <a:endParaRPr lang="en-US" sz="1050" dirty="0"/>
          </a:p>
        </p:txBody>
      </p:sp>
      <p:sp>
        <p:nvSpPr>
          <p:cNvPr id="7" name="Flow note 1"/>
          <p:cNvSpPr txBox="1"/>
          <p:nvPr/>
        </p:nvSpPr>
        <p:spPr>
          <a:xfrm>
            <a:off x="2590800" y="1333500"/>
            <a:ext cx="4038600" cy="482600"/>
          </a:xfrm>
          <a:prstGeom prst="rect">
            <a:avLst/>
          </a:prstGeom>
          <a:noFill/>
          <a:ln/>
        </p:spPr>
        <p:txBody>
          <a:bodyPr wrap="square" lIns="0" tIns="0" rIns="0" bIns="0" rtlCol="0" anchor="ctr"/>
          <a:lstStyle/>
          <a:p>
            <a:pPr indent="0" marL="0">
              <a:buNone/>
            </a:pPr>
            <a:r>
              <a:rPr lang="en-US" sz="960" dirty="0">
                <a:solidFill>
                  <a:srgbClr val="1A1A1A"/>
                </a:solidFill>
                <a:latin typeface="Calibri" pitchFamily="34" charset="0"/>
                <a:ea typeface="Calibri" pitchFamily="34" charset="-122"/>
                <a:cs typeface="Calibri" pitchFamily="34" charset="-120"/>
              </a:rPr>
              <a:t>A jet is grounded, an air-defence site pops up, an urgent target appears, or a storm closes a corridor.</a:t>
            </a:r>
            <a:endParaRPr lang="en-US" sz="960" dirty="0"/>
          </a:p>
        </p:txBody>
      </p:sp>
      <p:sp>
        <p:nvSpPr>
          <p:cNvPr id="8" name="Flow arrow 1"/>
          <p:cNvSpPr/>
          <p:nvPr/>
        </p:nvSpPr>
        <p:spPr>
          <a:xfrm>
            <a:off x="1511300" y="1803400"/>
            <a:ext cx="0" cy="203200"/>
          </a:xfrm>
          <a:prstGeom prst="line">
            <a:avLst/>
          </a:prstGeom>
          <a:noFill/>
          <a:ln w="15875">
            <a:solidFill>
              <a:srgbClr val="7F93AD"/>
            </a:solidFill>
            <a:prstDash val="solid"/>
            <a:tailEnd type="triangle"/>
          </a:ln>
        </p:spPr>
      </p:sp>
      <p:sp>
        <p:nvSpPr>
          <p:cNvPr id="9" name="Flow node 2"/>
          <p:cNvSpPr/>
          <p:nvPr/>
        </p:nvSpPr>
        <p:spPr>
          <a:xfrm>
            <a:off x="584200" y="2006600"/>
            <a:ext cx="1854200" cy="457200"/>
          </a:xfrm>
          <a:prstGeom prst="roundRect">
            <a:avLst>
              <a:gd name="adj" fmla="val 16000"/>
            </a:avLst>
          </a:prstGeom>
          <a:solidFill>
            <a:srgbClr val="1F3864">
              <a:alpha val="10000"/>
            </a:srgbClr>
          </a:solidFill>
          <a:ln w="15875">
            <a:solidFill>
              <a:srgbClr val="1F3864"/>
            </a:solidFill>
            <a:prstDash val="solid"/>
          </a:ln>
        </p:spPr>
      </p:sp>
      <p:pic>
        <p:nvPicPr>
          <p:cNvPr id="10" name="Image 1" descr="Flow icon 2">    </p:cNvPr>
          <p:cNvPicPr>
            <a:picLocks noChangeAspect="1"/>
          </p:cNvPicPr>
          <p:nvPr/>
        </p:nvPicPr>
        <p:blipFill>
          <a:blip r:embed="rId2"/>
          <a:stretch>
            <a:fillRect/>
          </a:stretch>
        </p:blipFill>
        <p:spPr>
          <a:xfrm>
            <a:off x="698500" y="2146300"/>
            <a:ext cx="177800" cy="177800"/>
          </a:xfrm>
          <a:prstGeom prst="rect">
            <a:avLst/>
          </a:prstGeom>
        </p:spPr>
      </p:pic>
      <p:sp>
        <p:nvSpPr>
          <p:cNvPr id="11" name="Flow label 2"/>
          <p:cNvSpPr txBox="1"/>
          <p:nvPr/>
        </p:nvSpPr>
        <p:spPr>
          <a:xfrm>
            <a:off x="939800" y="2006600"/>
            <a:ext cx="1447800" cy="4572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Lock launched sorties</a:t>
            </a:r>
            <a:endParaRPr lang="en-US" sz="1050" dirty="0"/>
          </a:p>
        </p:txBody>
      </p:sp>
      <p:sp>
        <p:nvSpPr>
          <p:cNvPr id="12" name="Flow note 2"/>
          <p:cNvSpPr txBox="1"/>
          <p:nvPr/>
        </p:nvSpPr>
        <p:spPr>
          <a:xfrm>
            <a:off x="2590800" y="1993900"/>
            <a:ext cx="4038600" cy="482600"/>
          </a:xfrm>
          <a:prstGeom prst="rect">
            <a:avLst/>
          </a:prstGeom>
          <a:noFill/>
          <a:ln/>
        </p:spPr>
        <p:txBody>
          <a:bodyPr wrap="square" lIns="0" tIns="0" rIns="0" bIns="0" rtlCol="0" anchor="ctr"/>
          <a:lstStyle/>
          <a:p>
            <a:pPr indent="0" marL="0">
              <a:buNone/>
            </a:pPr>
            <a:r>
              <a:rPr lang="en-US" sz="960" dirty="0">
                <a:solidFill>
                  <a:srgbClr val="1A1A1A"/>
                </a:solidFill>
                <a:latin typeface="Calibri" pitchFamily="34" charset="0"/>
                <a:ea typeface="Calibri" pitchFamily="34" charset="-122"/>
                <a:cs typeface="Calibri" pitchFamily="34" charset="-120"/>
              </a:rPr>
              <a:t>Anything already airborne is fixed. Only the future is re-planned.</a:t>
            </a:r>
            <a:endParaRPr lang="en-US" sz="960" dirty="0"/>
          </a:p>
        </p:txBody>
      </p:sp>
      <p:sp>
        <p:nvSpPr>
          <p:cNvPr id="13" name="Flow arrow 2"/>
          <p:cNvSpPr/>
          <p:nvPr/>
        </p:nvSpPr>
        <p:spPr>
          <a:xfrm>
            <a:off x="1511300" y="2463800"/>
            <a:ext cx="0" cy="203200"/>
          </a:xfrm>
          <a:prstGeom prst="line">
            <a:avLst/>
          </a:prstGeom>
          <a:noFill/>
          <a:ln w="15875">
            <a:solidFill>
              <a:srgbClr val="7F93AD"/>
            </a:solidFill>
            <a:prstDash val="solid"/>
            <a:tailEnd type="triangle"/>
          </a:ln>
        </p:spPr>
      </p:sp>
      <p:sp>
        <p:nvSpPr>
          <p:cNvPr id="14" name="Flow node 3"/>
          <p:cNvSpPr/>
          <p:nvPr/>
        </p:nvSpPr>
        <p:spPr>
          <a:xfrm>
            <a:off x="584200" y="2667000"/>
            <a:ext cx="1854200" cy="457200"/>
          </a:xfrm>
          <a:prstGeom prst="roundRect">
            <a:avLst>
              <a:gd name="adj" fmla="val 16000"/>
            </a:avLst>
          </a:prstGeom>
          <a:solidFill>
            <a:srgbClr val="E07A1F">
              <a:alpha val="10000"/>
            </a:srgbClr>
          </a:solidFill>
          <a:ln w="15875">
            <a:solidFill>
              <a:srgbClr val="E07A1F"/>
            </a:solidFill>
            <a:prstDash val="solid"/>
          </a:ln>
        </p:spPr>
      </p:sp>
      <p:pic>
        <p:nvPicPr>
          <p:cNvPr id="15" name="Image 2" descr="Flow icon 3">    </p:cNvPr>
          <p:cNvPicPr>
            <a:picLocks noChangeAspect="1"/>
          </p:cNvPicPr>
          <p:nvPr/>
        </p:nvPicPr>
        <p:blipFill>
          <a:blip r:embed="rId3"/>
          <a:stretch>
            <a:fillRect/>
          </a:stretch>
        </p:blipFill>
        <p:spPr>
          <a:xfrm>
            <a:off x="698500" y="2806700"/>
            <a:ext cx="177800" cy="177800"/>
          </a:xfrm>
          <a:prstGeom prst="rect">
            <a:avLst/>
          </a:prstGeom>
        </p:spPr>
      </p:pic>
      <p:sp>
        <p:nvSpPr>
          <p:cNvPr id="16" name="Flow label 3"/>
          <p:cNvSpPr txBox="1"/>
          <p:nvPr/>
        </p:nvSpPr>
        <p:spPr>
          <a:xfrm>
            <a:off x="939800" y="2667000"/>
            <a:ext cx="1447800" cy="4572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Re-plan</a:t>
            </a:r>
            <a:endParaRPr lang="en-US" sz="1050" dirty="0"/>
          </a:p>
        </p:txBody>
      </p:sp>
      <p:sp>
        <p:nvSpPr>
          <p:cNvPr id="17" name="Flow note 3"/>
          <p:cNvSpPr txBox="1"/>
          <p:nvPr/>
        </p:nvSpPr>
        <p:spPr>
          <a:xfrm>
            <a:off x="2590800" y="2654300"/>
            <a:ext cx="4038600" cy="482600"/>
          </a:xfrm>
          <a:prstGeom prst="rect">
            <a:avLst/>
          </a:prstGeom>
          <a:noFill/>
          <a:ln/>
        </p:spPr>
        <p:txBody>
          <a:bodyPr wrap="square" lIns="0" tIns="0" rIns="0" bIns="0" rtlCol="0" anchor="ctr"/>
          <a:lstStyle/>
          <a:p>
            <a:pPr indent="0" marL="0">
              <a:buNone/>
            </a:pPr>
            <a:r>
              <a:rPr lang="en-US" sz="960" dirty="0">
                <a:solidFill>
                  <a:srgbClr val="1A1A1A"/>
                </a:solidFill>
                <a:latin typeface="Calibri" pitchFamily="34" charset="0"/>
                <a:ea typeface="Calibri" pitchFamily="34" charset="-122"/>
                <a:cs typeface="Calibri" pitchFamily="34" charset="-120"/>
              </a:rPr>
              <a:t>Exact CP-SAT on the server, or adaptive search in the browser, starting from the current plan.</a:t>
            </a:r>
            <a:endParaRPr lang="en-US" sz="960" dirty="0"/>
          </a:p>
        </p:txBody>
      </p:sp>
      <p:sp>
        <p:nvSpPr>
          <p:cNvPr id="18" name="Flow arrow 3"/>
          <p:cNvSpPr/>
          <p:nvPr/>
        </p:nvSpPr>
        <p:spPr>
          <a:xfrm>
            <a:off x="1511300" y="3124200"/>
            <a:ext cx="0" cy="203200"/>
          </a:xfrm>
          <a:prstGeom prst="line">
            <a:avLst/>
          </a:prstGeom>
          <a:noFill/>
          <a:ln w="15875">
            <a:solidFill>
              <a:srgbClr val="7F93AD"/>
            </a:solidFill>
            <a:prstDash val="solid"/>
            <a:tailEnd type="triangle"/>
          </a:ln>
        </p:spPr>
      </p:sp>
      <p:sp>
        <p:nvSpPr>
          <p:cNvPr id="19" name="Flow node 4"/>
          <p:cNvSpPr/>
          <p:nvPr/>
        </p:nvSpPr>
        <p:spPr>
          <a:xfrm>
            <a:off x="584200" y="3327400"/>
            <a:ext cx="1854200" cy="457200"/>
          </a:xfrm>
          <a:prstGeom prst="roundRect">
            <a:avLst>
              <a:gd name="adj" fmla="val 16000"/>
            </a:avLst>
          </a:prstGeom>
          <a:solidFill>
            <a:srgbClr val="2E9E5B">
              <a:alpha val="10000"/>
            </a:srgbClr>
          </a:solidFill>
          <a:ln w="15875">
            <a:solidFill>
              <a:srgbClr val="2E9E5B"/>
            </a:solidFill>
            <a:prstDash val="solid"/>
          </a:ln>
        </p:spPr>
      </p:sp>
      <p:pic>
        <p:nvPicPr>
          <p:cNvPr id="20" name="Image 3" descr="Flow icon 4">    </p:cNvPr>
          <p:cNvPicPr>
            <a:picLocks noChangeAspect="1"/>
          </p:cNvPicPr>
          <p:nvPr/>
        </p:nvPicPr>
        <p:blipFill>
          <a:blip r:embed="rId4"/>
          <a:stretch>
            <a:fillRect/>
          </a:stretch>
        </p:blipFill>
        <p:spPr>
          <a:xfrm>
            <a:off x="698500" y="3467100"/>
            <a:ext cx="177800" cy="177800"/>
          </a:xfrm>
          <a:prstGeom prst="rect">
            <a:avLst/>
          </a:prstGeom>
        </p:spPr>
      </p:pic>
      <p:sp>
        <p:nvSpPr>
          <p:cNvPr id="21" name="Flow label 4"/>
          <p:cNvSpPr txBox="1"/>
          <p:nvPr/>
        </p:nvSpPr>
        <p:spPr>
          <a:xfrm>
            <a:off x="939800" y="3327400"/>
            <a:ext cx="1447800" cy="4572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Validate</a:t>
            </a:r>
            <a:endParaRPr lang="en-US" sz="1050" dirty="0"/>
          </a:p>
        </p:txBody>
      </p:sp>
      <p:sp>
        <p:nvSpPr>
          <p:cNvPr id="22" name="Flow note 4"/>
          <p:cNvSpPr txBox="1"/>
          <p:nvPr/>
        </p:nvSpPr>
        <p:spPr>
          <a:xfrm>
            <a:off x="2590800" y="3314700"/>
            <a:ext cx="4038600" cy="482600"/>
          </a:xfrm>
          <a:prstGeom prst="rect">
            <a:avLst/>
          </a:prstGeom>
          <a:noFill/>
          <a:ln/>
        </p:spPr>
        <p:txBody>
          <a:bodyPr wrap="square" lIns="0" tIns="0" rIns="0" bIns="0" rtlCol="0" anchor="ctr"/>
          <a:lstStyle/>
          <a:p>
            <a:pPr indent="0" marL="0">
              <a:buNone/>
            </a:pPr>
            <a:r>
              <a:rPr lang="en-US" sz="960" dirty="0">
                <a:solidFill>
                  <a:srgbClr val="1A1A1A"/>
                </a:solidFill>
                <a:latin typeface="Calibri" pitchFamily="34" charset="0"/>
                <a:ea typeface="Calibri" pitchFamily="34" charset="-122"/>
                <a:cs typeface="Calibri" pitchFamily="34" charset="-120"/>
              </a:rPr>
              <a:t>Nine rule families are re-checked from scratch.</a:t>
            </a:r>
            <a:endParaRPr lang="en-US" sz="960" dirty="0"/>
          </a:p>
        </p:txBody>
      </p:sp>
      <p:sp>
        <p:nvSpPr>
          <p:cNvPr id="23" name="Flow arrow 4"/>
          <p:cNvSpPr/>
          <p:nvPr/>
        </p:nvSpPr>
        <p:spPr>
          <a:xfrm>
            <a:off x="1511300" y="3784600"/>
            <a:ext cx="0" cy="203200"/>
          </a:xfrm>
          <a:prstGeom prst="line">
            <a:avLst/>
          </a:prstGeom>
          <a:noFill/>
          <a:ln w="15875">
            <a:solidFill>
              <a:srgbClr val="7F93AD"/>
            </a:solidFill>
            <a:prstDash val="solid"/>
            <a:tailEnd type="triangle"/>
          </a:ln>
        </p:spPr>
      </p:sp>
      <p:sp>
        <p:nvSpPr>
          <p:cNvPr id="24" name="Flow node 5"/>
          <p:cNvSpPr/>
          <p:nvPr/>
        </p:nvSpPr>
        <p:spPr>
          <a:xfrm>
            <a:off x="584200" y="3987800"/>
            <a:ext cx="1854200" cy="457200"/>
          </a:xfrm>
          <a:prstGeom prst="roundRect">
            <a:avLst>
              <a:gd name="adj" fmla="val 16000"/>
            </a:avLst>
          </a:prstGeom>
          <a:solidFill>
            <a:srgbClr val="8A5CD0">
              <a:alpha val="10000"/>
            </a:srgbClr>
          </a:solidFill>
          <a:ln w="15875">
            <a:solidFill>
              <a:srgbClr val="8A5CD0"/>
            </a:solidFill>
            <a:prstDash val="solid"/>
          </a:ln>
        </p:spPr>
      </p:sp>
      <p:pic>
        <p:nvPicPr>
          <p:cNvPr id="25" name="Image 4" descr="Flow icon 5">    </p:cNvPr>
          <p:cNvPicPr>
            <a:picLocks noChangeAspect="1"/>
          </p:cNvPicPr>
          <p:nvPr/>
        </p:nvPicPr>
        <p:blipFill>
          <a:blip r:embed="rId5"/>
          <a:stretch>
            <a:fillRect/>
          </a:stretch>
        </p:blipFill>
        <p:spPr>
          <a:xfrm>
            <a:off x="698500" y="4127500"/>
            <a:ext cx="177800" cy="177800"/>
          </a:xfrm>
          <a:prstGeom prst="rect">
            <a:avLst/>
          </a:prstGeom>
        </p:spPr>
      </p:pic>
      <p:sp>
        <p:nvSpPr>
          <p:cNvPr id="26" name="Flow label 5"/>
          <p:cNvSpPr txBox="1"/>
          <p:nvPr/>
        </p:nvSpPr>
        <p:spPr>
          <a:xfrm>
            <a:off x="939800" y="3987800"/>
            <a:ext cx="1447800" cy="4572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Rank and explain</a:t>
            </a:r>
            <a:endParaRPr lang="en-US" sz="1050" dirty="0"/>
          </a:p>
        </p:txBody>
      </p:sp>
      <p:sp>
        <p:nvSpPr>
          <p:cNvPr id="27" name="Flow note 5"/>
          <p:cNvSpPr txBox="1"/>
          <p:nvPr/>
        </p:nvSpPr>
        <p:spPr>
          <a:xfrm>
            <a:off x="2590800" y="3975100"/>
            <a:ext cx="4038600" cy="482600"/>
          </a:xfrm>
          <a:prstGeom prst="rect">
            <a:avLst/>
          </a:prstGeom>
          <a:noFill/>
          <a:ln/>
        </p:spPr>
        <p:txBody>
          <a:bodyPr wrap="square" lIns="0" tIns="0" rIns="0" bIns="0" rtlCol="0" anchor="ctr"/>
          <a:lstStyle/>
          <a:p>
            <a:pPr indent="0" marL="0">
              <a:buNone/>
            </a:pPr>
            <a:r>
              <a:rPr lang="en-US" sz="960" dirty="0">
                <a:solidFill>
                  <a:srgbClr val="1A1A1A"/>
                </a:solidFill>
                <a:latin typeface="Calibri" pitchFamily="34" charset="0"/>
                <a:ea typeface="Calibri" pitchFamily="34" charset="-122"/>
                <a:cs typeface="Calibri" pitchFamily="34" charset="-120"/>
              </a:rPr>
              <a:t>Three options, a reason for each change, and why any mission is left out.</a:t>
            </a:r>
            <a:endParaRPr lang="en-US" sz="960" dirty="0"/>
          </a:p>
        </p:txBody>
      </p:sp>
      <p:sp>
        <p:nvSpPr>
          <p:cNvPr id="28" name="Flow arrow 5"/>
          <p:cNvSpPr/>
          <p:nvPr/>
        </p:nvSpPr>
        <p:spPr>
          <a:xfrm>
            <a:off x="1511300" y="4445000"/>
            <a:ext cx="0" cy="203200"/>
          </a:xfrm>
          <a:prstGeom prst="line">
            <a:avLst/>
          </a:prstGeom>
          <a:noFill/>
          <a:ln w="15875">
            <a:solidFill>
              <a:srgbClr val="7F93AD"/>
            </a:solidFill>
            <a:prstDash val="solid"/>
            <a:tailEnd type="triangle"/>
          </a:ln>
        </p:spPr>
      </p:sp>
      <p:sp>
        <p:nvSpPr>
          <p:cNvPr id="29" name="Flow node 6"/>
          <p:cNvSpPr/>
          <p:nvPr/>
        </p:nvSpPr>
        <p:spPr>
          <a:xfrm>
            <a:off x="584200" y="4648200"/>
            <a:ext cx="1854200" cy="457200"/>
          </a:xfrm>
          <a:prstGeom prst="roundRect">
            <a:avLst>
              <a:gd name="adj" fmla="val 16000"/>
            </a:avLst>
          </a:prstGeom>
          <a:solidFill>
            <a:srgbClr val="1F6FB2">
              <a:alpha val="10000"/>
            </a:srgbClr>
          </a:solidFill>
          <a:ln w="15875">
            <a:solidFill>
              <a:srgbClr val="1F6FB2"/>
            </a:solidFill>
            <a:prstDash val="solid"/>
          </a:ln>
        </p:spPr>
      </p:sp>
      <p:pic>
        <p:nvPicPr>
          <p:cNvPr id="30" name="Image 5" descr="Flow icon 6">    </p:cNvPr>
          <p:cNvPicPr>
            <a:picLocks noChangeAspect="1"/>
          </p:cNvPicPr>
          <p:nvPr/>
        </p:nvPicPr>
        <p:blipFill>
          <a:blip r:embed="rId6"/>
          <a:stretch>
            <a:fillRect/>
          </a:stretch>
        </p:blipFill>
        <p:spPr>
          <a:xfrm>
            <a:off x="698500" y="4787900"/>
            <a:ext cx="177800" cy="177800"/>
          </a:xfrm>
          <a:prstGeom prst="rect">
            <a:avLst/>
          </a:prstGeom>
        </p:spPr>
      </p:pic>
      <p:sp>
        <p:nvSpPr>
          <p:cNvPr id="31" name="Flow label 6"/>
          <p:cNvSpPr txBox="1"/>
          <p:nvPr/>
        </p:nvSpPr>
        <p:spPr>
          <a:xfrm>
            <a:off x="939800" y="4648200"/>
            <a:ext cx="1447800" cy="4572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Commander approves</a:t>
            </a:r>
            <a:endParaRPr lang="en-US" sz="1050" dirty="0"/>
          </a:p>
        </p:txBody>
      </p:sp>
      <p:sp>
        <p:nvSpPr>
          <p:cNvPr id="32" name="Flow note 6"/>
          <p:cNvSpPr txBox="1"/>
          <p:nvPr/>
        </p:nvSpPr>
        <p:spPr>
          <a:xfrm>
            <a:off x="2590800" y="4635500"/>
            <a:ext cx="4038600" cy="482600"/>
          </a:xfrm>
          <a:prstGeom prst="rect">
            <a:avLst/>
          </a:prstGeom>
          <a:noFill/>
          <a:ln/>
        </p:spPr>
        <p:txBody>
          <a:bodyPr wrap="square" lIns="0" tIns="0" rIns="0" bIns="0" rtlCol="0" anchor="ctr"/>
          <a:lstStyle/>
          <a:p>
            <a:pPr indent="0" marL="0">
              <a:buNone/>
            </a:pPr>
            <a:r>
              <a:rPr lang="en-US" sz="960" dirty="0">
                <a:solidFill>
                  <a:srgbClr val="1A1A1A"/>
                </a:solidFill>
                <a:latin typeface="Calibri" pitchFamily="34" charset="0"/>
                <a:ea typeface="Calibri" pitchFamily="34" charset="-122"/>
                <a:cs typeface="Calibri" pitchFamily="34" charset="-120"/>
              </a:rPr>
              <a:t>The chosen plan becomes the new baseline, and the loop waits for the next event.</a:t>
            </a:r>
            <a:endParaRPr lang="en-US" sz="960" dirty="0"/>
          </a:p>
        </p:txBody>
      </p:sp>
      <p:sp>
        <p:nvSpPr>
          <p:cNvPr id="33" name="Loop back vertical"/>
          <p:cNvSpPr/>
          <p:nvPr/>
        </p:nvSpPr>
        <p:spPr>
          <a:xfrm>
            <a:off x="393700" y="1574800"/>
            <a:ext cx="0" cy="3302000"/>
          </a:xfrm>
          <a:prstGeom prst="line">
            <a:avLst/>
          </a:prstGeom>
          <a:noFill/>
          <a:ln w="15875">
            <a:solidFill>
              <a:srgbClr val="7F93AD"/>
            </a:solidFill>
            <a:prstDash val="dash"/>
          </a:ln>
        </p:spPr>
      </p:sp>
      <p:sp>
        <p:nvSpPr>
          <p:cNvPr id="34" name="Loop back bottom"/>
          <p:cNvSpPr/>
          <p:nvPr/>
        </p:nvSpPr>
        <p:spPr>
          <a:xfrm>
            <a:off x="393700" y="4876800"/>
            <a:ext cx="190500" cy="0"/>
          </a:xfrm>
          <a:prstGeom prst="line">
            <a:avLst/>
          </a:prstGeom>
          <a:noFill/>
          <a:ln w="15875">
            <a:solidFill>
              <a:srgbClr val="7F93AD"/>
            </a:solidFill>
            <a:prstDash val="dash"/>
          </a:ln>
        </p:spPr>
      </p:sp>
      <p:sp>
        <p:nvSpPr>
          <p:cNvPr id="35" name="Loop back top"/>
          <p:cNvSpPr/>
          <p:nvPr/>
        </p:nvSpPr>
        <p:spPr>
          <a:xfrm>
            <a:off x="393700" y="1574800"/>
            <a:ext cx="190500" cy="0"/>
          </a:xfrm>
          <a:prstGeom prst="line">
            <a:avLst/>
          </a:prstGeom>
          <a:noFill/>
          <a:ln w="15875">
            <a:solidFill>
              <a:srgbClr val="7F93AD"/>
            </a:solidFill>
            <a:prstDash val="solid"/>
            <a:tailEnd type="triangle"/>
          </a:ln>
        </p:spPr>
      </p:sp>
      <p:sp>
        <p:nvSpPr>
          <p:cNvPr id="36" name="Label WORKING PROTOTYPE: THE COMMAND VIEW AFTER AN EVENT"/>
          <p:cNvSpPr txBox="1"/>
          <p:nvPr/>
        </p:nvSpPr>
        <p:spPr>
          <a:xfrm>
            <a:off x="6870700" y="11176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WORKING PROTOTYPE: THE COMMAND VIEW AFTER AN EVENT</a:t>
            </a:r>
            <a:endParaRPr lang="en-US" sz="850" dirty="0"/>
          </a:p>
        </p:txBody>
      </p:sp>
      <p:sp>
        <p:nvSpPr>
          <p:cNvPr id="37" name="Prototype screenshot frame"/>
          <p:cNvSpPr/>
          <p:nvPr/>
        </p:nvSpPr>
        <p:spPr>
          <a:xfrm>
            <a:off x="6851650" y="1327150"/>
            <a:ext cx="5041900" cy="3976902"/>
          </a:xfrm>
          <a:prstGeom prst="rect">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pic>
        <p:nvPicPr>
          <p:cNvPr id="38" name="Prototype screenshot" descr="Prototype screenshot">    </p:cNvPr>
          <p:cNvPicPr>
            <a:picLocks noChangeAspect="1"/>
          </p:cNvPicPr>
          <p:nvPr/>
        </p:nvPicPr>
        <p:blipFill>
          <a:blip r:embed="rId7"/>
          <a:stretch>
            <a:fillRect/>
          </a:stretch>
        </p:blipFill>
        <p:spPr>
          <a:xfrm>
            <a:off x="6870700" y="1346200"/>
            <a:ext cx="5003800" cy="3938802"/>
          </a:xfrm>
          <a:prstGeom prst="rect">
            <a:avLst/>
          </a:prstGeom>
        </p:spPr>
      </p:pic>
      <p:sp>
        <p:nvSpPr>
          <p:cNvPr id="39" name="Stack card"/>
          <p:cNvSpPr/>
          <p:nvPr/>
        </p:nvSpPr>
        <p:spPr>
          <a:xfrm>
            <a:off x="317500" y="5511800"/>
            <a:ext cx="3454400" cy="965200"/>
          </a:xfrm>
          <a:prstGeom prst="roundRect">
            <a:avLst>
              <a:gd name="adj" fmla="val 6632"/>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40" name="Label ENGINE STACK"/>
          <p:cNvSpPr txBox="1"/>
          <p:nvPr/>
        </p:nvSpPr>
        <p:spPr>
          <a:xfrm>
            <a:off x="469900" y="55880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ENGINE STACK</a:t>
            </a:r>
            <a:endParaRPr lang="en-US" sz="850" dirty="0"/>
          </a:p>
        </p:txBody>
      </p:sp>
      <p:sp>
        <p:nvSpPr>
          <p:cNvPr id="41" name="Chip Python"/>
          <p:cNvSpPr/>
          <p:nvPr/>
        </p:nvSpPr>
        <p:spPr>
          <a:xfrm>
            <a:off x="444500" y="5791200"/>
            <a:ext cx="1028700" cy="254000"/>
          </a:xfrm>
          <a:prstGeom prst="roundRect">
            <a:avLst>
              <a:gd name="adj" fmla="val 108000"/>
            </a:avLst>
          </a:prstGeom>
          <a:solidFill>
            <a:srgbClr val="1F6FB2">
              <a:alpha val="12000"/>
            </a:srgbClr>
          </a:solidFill>
          <a:ln w="9525">
            <a:solidFill>
              <a:srgbClr val="1F6FB2"/>
            </a:solidFill>
          </a:ln>
        </p:spPr>
        <p:txBody>
          <a:bodyPr wrap="square" lIns="0" tIns="0" rIns="0" bIns="0" rtlCol="0" anchor="ctr"/>
          <a:lstStyle/>
          <a:p>
            <a:pPr algn="ctr" indent="0" marL="0">
              <a:buNone/>
            </a:pPr>
            <a:r>
              <a:rPr lang="en-US" sz="860" b="1" dirty="0">
                <a:solidFill>
                  <a:srgbClr val="1F3864"/>
                </a:solidFill>
                <a:latin typeface="Calibri" pitchFamily="34" charset="0"/>
                <a:ea typeface="Calibri" pitchFamily="34" charset="-122"/>
                <a:cs typeface="Calibri" pitchFamily="34" charset="-120"/>
              </a:rPr>
              <a:t>Python</a:t>
            </a:r>
            <a:endParaRPr lang="en-US" sz="860" dirty="0"/>
          </a:p>
        </p:txBody>
      </p:sp>
      <p:sp>
        <p:nvSpPr>
          <p:cNvPr id="42" name="Chip OR-Tools CP-SAT"/>
          <p:cNvSpPr/>
          <p:nvPr/>
        </p:nvSpPr>
        <p:spPr>
          <a:xfrm>
            <a:off x="1536700" y="5791200"/>
            <a:ext cx="1028700" cy="254000"/>
          </a:xfrm>
          <a:prstGeom prst="roundRect">
            <a:avLst>
              <a:gd name="adj" fmla="val 108000"/>
            </a:avLst>
          </a:prstGeom>
          <a:solidFill>
            <a:srgbClr val="1F6FB2">
              <a:alpha val="12000"/>
            </a:srgbClr>
          </a:solidFill>
          <a:ln w="9525">
            <a:solidFill>
              <a:srgbClr val="1F6FB2"/>
            </a:solidFill>
          </a:ln>
        </p:spPr>
        <p:txBody>
          <a:bodyPr wrap="square" lIns="0" tIns="0" rIns="0" bIns="0" rtlCol="0" anchor="ctr"/>
          <a:lstStyle/>
          <a:p>
            <a:pPr algn="ctr" indent="0" marL="0">
              <a:buNone/>
            </a:pPr>
            <a:r>
              <a:rPr lang="en-US" sz="860" b="1" dirty="0">
                <a:solidFill>
                  <a:srgbClr val="1F3864"/>
                </a:solidFill>
                <a:latin typeface="Calibri" pitchFamily="34" charset="0"/>
                <a:ea typeface="Calibri" pitchFamily="34" charset="-122"/>
                <a:cs typeface="Calibri" pitchFamily="34" charset="-120"/>
              </a:rPr>
              <a:t>OR-Tools CP-SAT</a:t>
            </a:r>
            <a:endParaRPr lang="en-US" sz="860" dirty="0"/>
          </a:p>
        </p:txBody>
      </p:sp>
      <p:sp>
        <p:nvSpPr>
          <p:cNvPr id="43" name="Chip scikit-learn"/>
          <p:cNvSpPr/>
          <p:nvPr/>
        </p:nvSpPr>
        <p:spPr>
          <a:xfrm>
            <a:off x="2628900" y="5791200"/>
            <a:ext cx="1028700" cy="254000"/>
          </a:xfrm>
          <a:prstGeom prst="roundRect">
            <a:avLst>
              <a:gd name="adj" fmla="val 108000"/>
            </a:avLst>
          </a:prstGeom>
          <a:solidFill>
            <a:srgbClr val="1F9D8A">
              <a:alpha val="12000"/>
            </a:srgbClr>
          </a:solidFill>
          <a:ln w="9525">
            <a:solidFill>
              <a:srgbClr val="1F9D8A"/>
            </a:solidFill>
          </a:ln>
        </p:spPr>
        <p:txBody>
          <a:bodyPr wrap="square" lIns="0" tIns="0" rIns="0" bIns="0" rtlCol="0" anchor="ctr"/>
          <a:lstStyle/>
          <a:p>
            <a:pPr algn="ctr" indent="0" marL="0">
              <a:buNone/>
            </a:pPr>
            <a:r>
              <a:rPr lang="en-US" sz="860" b="1" dirty="0">
                <a:solidFill>
                  <a:srgbClr val="1F3864"/>
                </a:solidFill>
                <a:latin typeface="Calibri" pitchFamily="34" charset="0"/>
                <a:ea typeface="Calibri" pitchFamily="34" charset="-122"/>
                <a:cs typeface="Calibri" pitchFamily="34" charset="-120"/>
              </a:rPr>
              <a:t>scikit-learn</a:t>
            </a:r>
            <a:endParaRPr lang="en-US" sz="860" dirty="0"/>
          </a:p>
        </p:txBody>
      </p:sp>
      <p:sp>
        <p:nvSpPr>
          <p:cNvPr id="44" name="Chip JavaScript search"/>
          <p:cNvSpPr/>
          <p:nvPr/>
        </p:nvSpPr>
        <p:spPr>
          <a:xfrm>
            <a:off x="444500" y="6108700"/>
            <a:ext cx="1028700" cy="254000"/>
          </a:xfrm>
          <a:prstGeom prst="roundRect">
            <a:avLst>
              <a:gd name="adj" fmla="val 108000"/>
            </a:avLst>
          </a:prstGeom>
          <a:solidFill>
            <a:srgbClr val="E07A1F">
              <a:alpha val="12000"/>
            </a:srgbClr>
          </a:solidFill>
          <a:ln w="9525">
            <a:solidFill>
              <a:srgbClr val="E07A1F"/>
            </a:solidFill>
          </a:ln>
        </p:spPr>
        <p:txBody>
          <a:bodyPr wrap="square" lIns="0" tIns="0" rIns="0" bIns="0" rtlCol="0" anchor="ctr"/>
          <a:lstStyle/>
          <a:p>
            <a:pPr algn="ctr" indent="0" marL="0">
              <a:buNone/>
            </a:pPr>
            <a:r>
              <a:rPr lang="en-US" sz="860" b="1" dirty="0">
                <a:solidFill>
                  <a:srgbClr val="1F3864"/>
                </a:solidFill>
                <a:latin typeface="Calibri" pitchFamily="34" charset="0"/>
                <a:ea typeface="Calibri" pitchFamily="34" charset="-122"/>
                <a:cs typeface="Calibri" pitchFamily="34" charset="-120"/>
              </a:rPr>
              <a:t>JavaScript search</a:t>
            </a:r>
            <a:endParaRPr lang="en-US" sz="860" dirty="0"/>
          </a:p>
        </p:txBody>
      </p:sp>
      <p:sp>
        <p:nvSpPr>
          <p:cNvPr id="45" name="Chip REST API"/>
          <p:cNvSpPr/>
          <p:nvPr/>
        </p:nvSpPr>
        <p:spPr>
          <a:xfrm>
            <a:off x="1536700" y="6108700"/>
            <a:ext cx="1028700" cy="254000"/>
          </a:xfrm>
          <a:prstGeom prst="roundRect">
            <a:avLst>
              <a:gd name="adj" fmla="val 108000"/>
            </a:avLst>
          </a:prstGeom>
          <a:solidFill>
            <a:srgbClr val="8A5CD0">
              <a:alpha val="12000"/>
            </a:srgbClr>
          </a:solidFill>
          <a:ln w="9525">
            <a:solidFill>
              <a:srgbClr val="8A5CD0"/>
            </a:solidFill>
          </a:ln>
        </p:spPr>
        <p:txBody>
          <a:bodyPr wrap="square" lIns="0" tIns="0" rIns="0" bIns="0" rtlCol="0" anchor="ctr"/>
          <a:lstStyle/>
          <a:p>
            <a:pPr algn="ctr" indent="0" marL="0">
              <a:buNone/>
            </a:pPr>
            <a:r>
              <a:rPr lang="en-US" sz="860" b="1" dirty="0">
                <a:solidFill>
                  <a:srgbClr val="1F3864"/>
                </a:solidFill>
                <a:latin typeface="Calibri" pitchFamily="34" charset="0"/>
                <a:ea typeface="Calibri" pitchFamily="34" charset="-122"/>
                <a:cs typeface="Calibri" pitchFamily="34" charset="-120"/>
              </a:rPr>
              <a:t>REST API</a:t>
            </a:r>
            <a:endParaRPr lang="en-US" sz="860" dirty="0"/>
          </a:p>
        </p:txBody>
      </p:sp>
      <p:sp>
        <p:nvSpPr>
          <p:cNvPr id="46" name="Chip HTML + SVG app"/>
          <p:cNvSpPr/>
          <p:nvPr/>
        </p:nvSpPr>
        <p:spPr>
          <a:xfrm>
            <a:off x="2628900" y="6108700"/>
            <a:ext cx="1028700" cy="254000"/>
          </a:xfrm>
          <a:prstGeom prst="roundRect">
            <a:avLst>
              <a:gd name="adj" fmla="val 108000"/>
            </a:avLst>
          </a:prstGeom>
          <a:solidFill>
            <a:srgbClr val="2E9E5B">
              <a:alpha val="12000"/>
            </a:srgbClr>
          </a:solidFill>
          <a:ln w="9525">
            <a:solidFill>
              <a:srgbClr val="2E9E5B"/>
            </a:solidFill>
          </a:ln>
        </p:spPr>
        <p:txBody>
          <a:bodyPr wrap="square" lIns="0" tIns="0" rIns="0" bIns="0" rtlCol="0" anchor="ctr"/>
          <a:lstStyle/>
          <a:p>
            <a:pPr algn="ctr" indent="0" marL="0">
              <a:buNone/>
            </a:pPr>
            <a:r>
              <a:rPr lang="en-US" sz="860" b="1" dirty="0">
                <a:solidFill>
                  <a:srgbClr val="1F3864"/>
                </a:solidFill>
                <a:latin typeface="Calibri" pitchFamily="34" charset="0"/>
                <a:ea typeface="Calibri" pitchFamily="34" charset="-122"/>
                <a:cs typeface="Calibri" pitchFamily="34" charset="-120"/>
              </a:rPr>
              <a:t>HTML + SVG app</a:t>
            </a:r>
            <a:endParaRPr lang="en-US" sz="860" dirty="0"/>
          </a:p>
        </p:txBody>
      </p:sp>
      <p:sp>
        <p:nvSpPr>
          <p:cNvPr id="47" name="Model card"/>
          <p:cNvSpPr/>
          <p:nvPr/>
        </p:nvSpPr>
        <p:spPr>
          <a:xfrm>
            <a:off x="3898900" y="5511800"/>
            <a:ext cx="4470400" cy="965200"/>
          </a:xfrm>
          <a:prstGeom prst="roundRect">
            <a:avLst>
              <a:gd name="adj" fmla="val 6632"/>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48" name="Label THE OPTIMISATION MODEL"/>
          <p:cNvSpPr txBox="1"/>
          <p:nvPr/>
        </p:nvSpPr>
        <p:spPr>
          <a:xfrm>
            <a:off x="4051300" y="55880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THE OPTIMISATION MODEL</a:t>
            </a:r>
            <a:endParaRPr lang="en-US" sz="850" dirty="0"/>
          </a:p>
        </p:txBody>
      </p:sp>
      <p:sp>
        <p:nvSpPr>
          <p:cNvPr id="49" name="Model text"/>
          <p:cNvSpPr txBox="1"/>
          <p:nvPr/>
        </p:nvSpPr>
        <p:spPr>
          <a:xfrm>
            <a:off x="4051300" y="5765800"/>
            <a:ext cx="4216400" cy="685800"/>
          </a:xfrm>
          <a:prstGeom prst="rect">
            <a:avLst/>
          </a:prstGeom>
          <a:noFill/>
          <a:ln/>
        </p:spPr>
        <p:txBody>
          <a:bodyPr wrap="square" lIns="0" tIns="0" rIns="0" bIns="0" rtlCol="0" anchor="t"/>
          <a:lstStyle/>
          <a:p>
            <a:pPr indent="0" marL="0">
              <a:spcAft>
                <a:spcPts val="150"/>
              </a:spcAft>
              <a:buNone/>
            </a:pPr>
            <a:r>
              <a:rPr lang="en-US" sz="860" b="1" dirty="0">
                <a:solidFill>
                  <a:srgbClr val="1F6FB2"/>
                </a:solidFill>
                <a:latin typeface="Calibri" pitchFamily="34" charset="0"/>
                <a:ea typeface="Calibri" pitchFamily="34" charset="-122"/>
                <a:cs typeface="Calibri" pitchFamily="34" charset="-120"/>
              </a:rPr>
              <a:t>Decide  </a:t>
            </a:r>
            <a:r>
              <a:rPr lang="en-US" sz="860" dirty="0">
                <a:solidFill>
                  <a:srgbClr val="1A1A1A"/>
                </a:solidFill>
                <a:latin typeface="Calibri" pitchFamily="34" charset="0"/>
                <a:ea typeface="Calibri" pitchFamily="34" charset="-122"/>
                <a:cs typeface="Calibri" pitchFamily="34" charset="-120"/>
              </a:rPr>
              <a:t>which missions fly, when, with which aircraft, crew and weapons.</a:t>
            </a:r>
            <a:endParaRPr lang="en-US" sz="860" dirty="0"/>
          </a:p>
          <a:p>
            <a:pPr indent="0" marL="0">
              <a:spcAft>
                <a:spcPts val="150"/>
              </a:spcAft>
              <a:buNone/>
            </a:pPr>
            <a:r>
              <a:rPr lang="en-US" sz="860" b="1" dirty="0">
                <a:solidFill>
                  <a:srgbClr val="E07A1F"/>
                </a:solidFill>
                <a:latin typeface="Calibri" pitchFamily="34" charset="0"/>
                <a:ea typeface="Calibri" pitchFamily="34" charset="-122"/>
                <a:cs typeface="Calibri" pitchFamily="34" charset="-120"/>
              </a:rPr>
              <a:t>Rules  </a:t>
            </a:r>
            <a:r>
              <a:rPr lang="en-US" sz="860" dirty="0">
                <a:solidFill>
                  <a:srgbClr val="1A1A1A"/>
                </a:solidFill>
                <a:latin typeface="Calibri" pitchFamily="34" charset="0"/>
                <a:ea typeface="Calibri" pitchFamily="34" charset="-122"/>
                <a:cs typeface="Calibri" pitchFamily="34" charset="-120"/>
              </a:rPr>
              <a:t>roles, range, serviceability, turnaround, crew duty, weapon stock, runway cap, weather, escort.</a:t>
            </a:r>
            <a:endParaRPr lang="en-US" sz="860" dirty="0"/>
          </a:p>
          <a:p>
            <a:pPr indent="0" marL="0">
              <a:spcAft>
                <a:spcPts val="150"/>
              </a:spcAft>
              <a:buNone/>
            </a:pPr>
            <a:r>
              <a:rPr lang="en-US" sz="860" b="1" dirty="0">
                <a:solidFill>
                  <a:srgbClr val="2E9E5B"/>
                </a:solidFill>
                <a:latin typeface="Calibri" pitchFamily="34" charset="0"/>
                <a:ea typeface="Calibri" pitchFamily="34" charset="-122"/>
                <a:cs typeface="Calibri" pitchFamily="34" charset="-120"/>
              </a:rPr>
              <a:t>Maximise  </a:t>
            </a:r>
            <a:r>
              <a:rPr lang="en-US" sz="860" dirty="0">
                <a:solidFill>
                  <a:srgbClr val="1A1A1A"/>
                </a:solidFill>
                <a:latin typeface="Calibri" pitchFamily="34" charset="0"/>
                <a:ea typeface="Calibri" pitchFamily="34" charset="-122"/>
                <a:cs typeface="Calibri" pitchFamily="34" charset="-120"/>
              </a:rPr>
              <a:t>mission value minus risk, unreliability, flight time, delay and plan change.</a:t>
            </a:r>
            <a:endParaRPr lang="en-US" sz="860" dirty="0"/>
          </a:p>
        </p:txBody>
      </p:sp>
      <p:sp>
        <p:nvSpPr>
          <p:cNvPr id="50" name="Links card"/>
          <p:cNvSpPr/>
          <p:nvPr/>
        </p:nvSpPr>
        <p:spPr>
          <a:xfrm>
            <a:off x="8496300" y="5511800"/>
            <a:ext cx="3200400" cy="965200"/>
          </a:xfrm>
          <a:prstGeom prst="roundRect">
            <a:avLst>
              <a:gd name="adj" fmla="val 6632"/>
            </a:avLst>
          </a:prstGeom>
          <a:solidFill>
            <a:srgbClr val="DAE3F3"/>
          </a:solidFill>
          <a:ln w="9525">
            <a:solidFill>
              <a:srgbClr val="1F6FB2"/>
            </a:solidFill>
            <a:prstDash val="solid"/>
          </a:ln>
          <a:effectLst>
            <a:outerShdw sx="100000" sy="100000" kx="0" ky="0" algn="bl" rotWithShape="0" blurRad="63500" dist="19050" dir="5400000">
              <a:srgbClr val="1F3864">
                <a:alpha val="12000"/>
              </a:srgbClr>
            </a:outerShdw>
          </a:effectLst>
        </p:spPr>
      </p:sp>
      <p:sp>
        <p:nvSpPr>
          <p:cNvPr id="51" name="Label TRY IT"/>
          <p:cNvSpPr txBox="1"/>
          <p:nvPr/>
        </p:nvSpPr>
        <p:spPr>
          <a:xfrm>
            <a:off x="8648700" y="55880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TRY IT</a:t>
            </a:r>
            <a:endParaRPr lang="en-US" sz="850" dirty="0"/>
          </a:p>
        </p:txBody>
      </p:sp>
      <p:sp>
        <p:nvSpPr>
          <p:cNvPr id="52" name="Links text"/>
          <p:cNvSpPr txBox="1"/>
          <p:nvPr/>
        </p:nvSpPr>
        <p:spPr>
          <a:xfrm>
            <a:off x="8648700" y="5778500"/>
            <a:ext cx="2971800" cy="660400"/>
          </a:xfrm>
          <a:prstGeom prst="rect">
            <a:avLst/>
          </a:prstGeom>
          <a:noFill/>
          <a:ln/>
        </p:spPr>
        <p:txBody>
          <a:bodyPr wrap="square" lIns="0" tIns="0" rIns="0" bIns="0" rtlCol="0" anchor="t"/>
          <a:lstStyle/>
          <a:p>
            <a:pPr indent="0" marL="0">
              <a:buNone/>
            </a:pPr>
            <a:r>
              <a:rPr lang="en-US" sz="880" b="1" dirty="0">
                <a:solidFill>
                  <a:srgbClr val="1A1A1A"/>
                </a:solidFill>
                <a:latin typeface="Calibri" pitchFamily="34" charset="0"/>
                <a:ea typeface="Calibri" pitchFamily="34" charset="-122"/>
                <a:cs typeface="Calibri" pitchFamily="34" charset="-120"/>
              </a:rPr>
              <a:t>GitHub repository</a:t>
            </a:r>
            <a:endParaRPr lang="en-US" sz="880" dirty="0"/>
          </a:p>
          <a:p>
            <a:pPr indent="0" marL="0">
              <a:buNone/>
            </a:pPr>
            <a:r>
              <a:rPr lang="en-US" sz="880" u="sng" dirty="0">
                <a:solidFill>
                  <a:srgbClr val="0000FF"/>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github.com/thotapremkumar-tpk/VayuVyuha</a:t>
            </a:r>
            <a:endParaRPr lang="en-US" sz="880" dirty="0"/>
          </a:p>
          <a:p>
            <a:pPr indent="0" marL="0">
              <a:buNone/>
            </a:pPr>
            <a:r>
              <a:rPr lang="en-US" sz="880" b="1" dirty="0">
                <a:solidFill>
                  <a:srgbClr val="1A1A1A"/>
                </a:solidFill>
                <a:latin typeface="Calibri" pitchFamily="34" charset="0"/>
                <a:ea typeface="Calibri" pitchFamily="34" charset="-122"/>
                <a:cs typeface="Calibri" pitchFamily="34" charset="-120"/>
              </a:rPr>
              <a:t>Live prototype, opens in any browser</a:t>
            </a:r>
            <a:endParaRPr lang="en-US" sz="880" dirty="0"/>
          </a:p>
          <a:p>
            <a:pPr indent="0" marL="0">
              <a:buNone/>
            </a:pPr>
            <a:r>
              <a:rPr lang="en-US" sz="880" u="sng" dirty="0">
                <a:solidFill>
                  <a:srgbClr val="0000FF"/>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thotapremkumar-tpk.github.io/VayuVyuha</a:t>
            </a:r>
            <a:endParaRPr lang="en-US" sz="880" dirty="0"/>
          </a:p>
        </p:txBody>
      </p:sp>
      <p:sp>
        <p:nvSpPr>
          <p:cNvPr id="25" name="Slide Number Placeholder 0"/>
          <p:cNvSpPr>
            <a:spLocks noGrp="1"/>
          </p:cNvSpPr>
          <p:nvPr>
            <p:ph type="sldNum" sz="quarter" idx="4294967295"/>
          </p:nvPr>
        </p:nvSpPr>
        <p:spPr>
          <a:xfrm>
            <a:off x="11379200" y="6502400"/>
            <a:ext cx="5588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9595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1905000" y="177800"/>
            <a:ext cx="8280400" cy="685800"/>
          </a:xfrm>
          <a:prstGeom prst="rect">
            <a:avLst/>
          </a:prstGeom>
          <a:noFill/>
          <a:ln/>
        </p:spPr>
        <p:txBody>
          <a:bodyPr wrap="square" lIns="0" tIns="0" rIns="0" bIns="0" rtlCol="0" anchor="ctr"/>
          <a:lstStyle/>
          <a:p>
            <a:pPr algn="ctr" indent="0" marL="0">
              <a:buNone/>
            </a:pPr>
            <a:r>
              <a:rPr lang="en-US" sz="2600" b="1" dirty="0">
                <a:solidFill>
                  <a:srgbClr val="1F3864"/>
                </a:solidFill>
                <a:latin typeface="Cambria" pitchFamily="34" charset="0"/>
                <a:ea typeface="Cambria" pitchFamily="34" charset="-122"/>
                <a:cs typeface="Cambria" pitchFamily="34" charset="-120"/>
              </a:rPr>
              <a:t>FEASIBILITY AND VIABILITY</a:t>
            </a:r>
            <a:endParaRPr lang="en-US" sz="2600" dirty="0"/>
          </a:p>
        </p:txBody>
      </p:sp>
      <p:sp>
        <p:nvSpPr>
          <p:cNvPr id="3" name="Label IT WORKS TODAY: EVERY PLAN IS CHECKED AND STRESS-TESTED"/>
          <p:cNvSpPr txBox="1"/>
          <p:nvPr/>
        </p:nvSpPr>
        <p:spPr>
          <a:xfrm>
            <a:off x="317500" y="11176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IT WORKS TODAY: EVERY PLAN IS CHECKED AND STRESS-TESTED</a:t>
            </a:r>
            <a:endParaRPr lang="en-US" sz="850" dirty="0"/>
          </a:p>
        </p:txBody>
      </p:sp>
      <p:sp>
        <p:nvSpPr>
          <p:cNvPr id="4" name="Engine view screenshot frame"/>
          <p:cNvSpPr/>
          <p:nvPr/>
        </p:nvSpPr>
        <p:spPr>
          <a:xfrm>
            <a:off x="298450" y="1327150"/>
            <a:ext cx="6642100" cy="1723401"/>
          </a:xfrm>
          <a:prstGeom prst="rect">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pic>
        <p:nvPicPr>
          <p:cNvPr id="5" name="Engine view screenshot" descr="Engine view screenshot">    </p:cNvPr>
          <p:cNvPicPr>
            <a:picLocks noChangeAspect="1"/>
          </p:cNvPicPr>
          <p:nvPr/>
        </p:nvPicPr>
        <p:blipFill>
          <a:blip r:embed="rId1"/>
          <a:stretch>
            <a:fillRect/>
          </a:stretch>
        </p:blipFill>
        <p:spPr>
          <a:xfrm>
            <a:off x="317500" y="1346200"/>
            <a:ext cx="6604000" cy="1685301"/>
          </a:xfrm>
          <a:prstGeom prst="rect">
            <a:avLst/>
          </a:prstGeom>
        </p:spPr>
      </p:pic>
      <p:sp>
        <p:nvSpPr>
          <p:cNvPr id="6" name="Engine caption"/>
          <p:cNvSpPr txBox="1"/>
          <p:nvPr/>
        </p:nvSpPr>
        <p:spPr>
          <a:xfrm>
            <a:off x="317500" y="3120401"/>
            <a:ext cx="6604000" cy="304800"/>
          </a:xfrm>
          <a:prstGeom prst="rect">
            <a:avLst/>
          </a:prstGeom>
          <a:noFill/>
          <a:ln/>
        </p:spPr>
        <p:txBody>
          <a:bodyPr wrap="square" lIns="0" tIns="0" rIns="0" bIns="0" rtlCol="0" anchor="t"/>
          <a:lstStyle/>
          <a:p>
            <a:pPr indent="0" marL="0">
              <a:buNone/>
            </a:pPr>
            <a:r>
              <a:rPr lang="en-US" sz="900" i="1" dirty="0">
                <a:solidFill>
                  <a:srgbClr val="595959"/>
                </a:solidFill>
                <a:latin typeface="Calibri" pitchFamily="34" charset="0"/>
                <a:ea typeface="Calibri" pitchFamily="34" charset="-122"/>
                <a:cs typeface="Calibri" pitchFamily="34" charset="-120"/>
              </a:rPr>
              <a:t>The Engine view of the prototype: nine rule checks, how the plan was found, and how much mission value survives when aircraft fail.</a:t>
            </a:r>
            <a:endParaRPr lang="en-US" sz="900" dirty="0"/>
          </a:p>
        </p:txBody>
      </p:sp>
      <p:sp>
        <p:nvSpPr>
          <p:cNvPr id="7" name="Proof tile 1"/>
          <p:cNvSpPr/>
          <p:nvPr/>
        </p:nvSpPr>
        <p:spPr>
          <a:xfrm>
            <a:off x="317500" y="3505200"/>
            <a:ext cx="2120900" cy="558800"/>
          </a:xfrm>
          <a:prstGeom prst="roundRect">
            <a:avLst>
              <a:gd name="adj" fmla="val 11455"/>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8" name="Proof value 1"/>
          <p:cNvSpPr txBox="1"/>
          <p:nvPr/>
        </p:nvSpPr>
        <p:spPr>
          <a:xfrm>
            <a:off x="419100" y="3505200"/>
            <a:ext cx="939800" cy="558800"/>
          </a:xfrm>
          <a:prstGeom prst="rect">
            <a:avLst/>
          </a:prstGeom>
          <a:noFill/>
          <a:ln/>
        </p:spPr>
        <p:txBody>
          <a:bodyPr wrap="square" lIns="0" tIns="0" rIns="0" bIns="0" rtlCol="0" anchor="ctr"/>
          <a:lstStyle/>
          <a:p>
            <a:pPr algn="ctr" indent="0" marL="0">
              <a:buNone/>
            </a:pPr>
            <a:r>
              <a:rPr lang="en-US" sz="1800" b="1" dirty="0">
                <a:solidFill>
                  <a:srgbClr val="2E9E5B"/>
                </a:solidFill>
                <a:latin typeface="Cambria" pitchFamily="34" charset="0"/>
                <a:ea typeface="Cambria" pitchFamily="34" charset="-122"/>
                <a:cs typeface="Cambria" pitchFamily="34" charset="-120"/>
              </a:rPr>
              <a:t>142</a:t>
            </a:r>
            <a:endParaRPr lang="en-US" sz="1800" dirty="0"/>
          </a:p>
        </p:txBody>
      </p:sp>
      <p:sp>
        <p:nvSpPr>
          <p:cNvPr id="9" name="Proof label 1"/>
          <p:cNvSpPr txBox="1"/>
          <p:nvPr/>
        </p:nvSpPr>
        <p:spPr>
          <a:xfrm>
            <a:off x="1409700" y="3505200"/>
            <a:ext cx="965200" cy="558800"/>
          </a:xfrm>
          <a:prstGeom prst="rect">
            <a:avLst/>
          </a:prstGeom>
          <a:noFill/>
          <a:ln/>
        </p:spPr>
        <p:txBody>
          <a:bodyPr wrap="square" lIns="0" tIns="0" rIns="0" bIns="0" rtlCol="0" anchor="ctr"/>
          <a:lstStyle/>
          <a:p>
            <a:pPr indent="0" marL="0">
              <a:buNone/>
            </a:pPr>
            <a:r>
              <a:rPr lang="en-US" sz="880" dirty="0">
                <a:solidFill>
                  <a:srgbClr val="1A1A1A"/>
                </a:solidFill>
                <a:latin typeface="Calibri" pitchFamily="34" charset="0"/>
                <a:ea typeface="Calibri" pitchFamily="34" charset="-122"/>
                <a:cs typeface="Calibri" pitchFamily="34" charset="-120"/>
              </a:rPr>
              <a:t>plans checked, 0 rule violations</a:t>
            </a:r>
            <a:endParaRPr lang="en-US" sz="880" dirty="0"/>
          </a:p>
        </p:txBody>
      </p:sp>
      <p:sp>
        <p:nvSpPr>
          <p:cNvPr id="10" name="Proof tile 2"/>
          <p:cNvSpPr/>
          <p:nvPr/>
        </p:nvSpPr>
        <p:spPr>
          <a:xfrm>
            <a:off x="2559050" y="3505200"/>
            <a:ext cx="2120900" cy="558800"/>
          </a:xfrm>
          <a:prstGeom prst="roundRect">
            <a:avLst>
              <a:gd name="adj" fmla="val 11455"/>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11" name="Proof value 2"/>
          <p:cNvSpPr txBox="1"/>
          <p:nvPr/>
        </p:nvSpPr>
        <p:spPr>
          <a:xfrm>
            <a:off x="2660650" y="3505200"/>
            <a:ext cx="939800" cy="558800"/>
          </a:xfrm>
          <a:prstGeom prst="rect">
            <a:avLst/>
          </a:prstGeom>
          <a:noFill/>
          <a:ln/>
        </p:spPr>
        <p:txBody>
          <a:bodyPr wrap="square" lIns="0" tIns="0" rIns="0" bIns="0" rtlCol="0" anchor="ctr"/>
          <a:lstStyle/>
          <a:p>
            <a:pPr algn="ctr" indent="0" marL="0">
              <a:buNone/>
            </a:pPr>
            <a:r>
              <a:rPr lang="en-US" sz="1250" b="1" dirty="0">
                <a:solidFill>
                  <a:srgbClr val="1F6FB2"/>
                </a:solidFill>
                <a:latin typeface="Cambria" pitchFamily="34" charset="0"/>
                <a:ea typeface="Cambria" pitchFamily="34" charset="-122"/>
                <a:cs typeface="Cambria" pitchFamily="34" charset="-120"/>
              </a:rPr>
              <a:t>0.06–0.18 s</a:t>
            </a:r>
            <a:endParaRPr lang="en-US" sz="1250" dirty="0"/>
          </a:p>
        </p:txBody>
      </p:sp>
      <p:sp>
        <p:nvSpPr>
          <p:cNvPr id="12" name="Proof label 2"/>
          <p:cNvSpPr txBox="1"/>
          <p:nvPr/>
        </p:nvSpPr>
        <p:spPr>
          <a:xfrm>
            <a:off x="3651250" y="3505200"/>
            <a:ext cx="965200" cy="558800"/>
          </a:xfrm>
          <a:prstGeom prst="rect">
            <a:avLst/>
          </a:prstGeom>
          <a:noFill/>
          <a:ln/>
        </p:spPr>
        <p:txBody>
          <a:bodyPr wrap="square" lIns="0" tIns="0" rIns="0" bIns="0" rtlCol="0" anchor="ctr"/>
          <a:lstStyle/>
          <a:p>
            <a:pPr indent="0" marL="0">
              <a:buNone/>
            </a:pPr>
            <a:r>
              <a:rPr lang="en-US" sz="880" dirty="0">
                <a:solidFill>
                  <a:srgbClr val="1A1A1A"/>
                </a:solidFill>
                <a:latin typeface="Calibri" pitchFamily="34" charset="0"/>
                <a:ea typeface="Calibri" pitchFamily="34" charset="-122"/>
                <a:cs typeface="Calibri" pitchFamily="34" charset="-120"/>
              </a:rPr>
              <a:t>exact re-plan after an event</a:t>
            </a:r>
            <a:endParaRPr lang="en-US" sz="880" dirty="0"/>
          </a:p>
        </p:txBody>
      </p:sp>
      <p:sp>
        <p:nvSpPr>
          <p:cNvPr id="13" name="Proof tile 3"/>
          <p:cNvSpPr/>
          <p:nvPr/>
        </p:nvSpPr>
        <p:spPr>
          <a:xfrm>
            <a:off x="4800600" y="3505200"/>
            <a:ext cx="2120900" cy="558800"/>
          </a:xfrm>
          <a:prstGeom prst="roundRect">
            <a:avLst>
              <a:gd name="adj" fmla="val 11455"/>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14" name="Proof value 3"/>
          <p:cNvSpPr txBox="1"/>
          <p:nvPr/>
        </p:nvSpPr>
        <p:spPr>
          <a:xfrm>
            <a:off x="4902200" y="3505200"/>
            <a:ext cx="939800" cy="558800"/>
          </a:xfrm>
          <a:prstGeom prst="rect">
            <a:avLst/>
          </a:prstGeom>
          <a:noFill/>
          <a:ln/>
        </p:spPr>
        <p:txBody>
          <a:bodyPr wrap="square" lIns="0" tIns="0" rIns="0" bIns="0" rtlCol="0" anchor="ctr"/>
          <a:lstStyle/>
          <a:p>
            <a:pPr algn="ctr" indent="0" marL="0">
              <a:buNone/>
            </a:pPr>
            <a:r>
              <a:rPr lang="en-US" sz="1800" b="1" dirty="0">
                <a:solidFill>
                  <a:srgbClr val="E07A1F"/>
                </a:solidFill>
                <a:latin typeface="Cambria" pitchFamily="34" charset="0"/>
                <a:ea typeface="Cambria" pitchFamily="34" charset="-122"/>
                <a:cs typeface="Cambria" pitchFamily="34" charset="-120"/>
              </a:rPr>
              <a:t>98.9%</a:t>
            </a:r>
            <a:endParaRPr lang="en-US" sz="1800" dirty="0"/>
          </a:p>
        </p:txBody>
      </p:sp>
      <p:sp>
        <p:nvSpPr>
          <p:cNvPr id="15" name="Proof label 3"/>
          <p:cNvSpPr txBox="1"/>
          <p:nvPr/>
        </p:nvSpPr>
        <p:spPr>
          <a:xfrm>
            <a:off x="5892800" y="3505200"/>
            <a:ext cx="965200" cy="558800"/>
          </a:xfrm>
          <a:prstGeom prst="rect">
            <a:avLst/>
          </a:prstGeom>
          <a:noFill/>
          <a:ln/>
        </p:spPr>
        <p:txBody>
          <a:bodyPr wrap="square" lIns="0" tIns="0" rIns="0" bIns="0" rtlCol="0" anchor="ctr"/>
          <a:lstStyle/>
          <a:p>
            <a:pPr indent="0" marL="0">
              <a:buNone/>
            </a:pPr>
            <a:r>
              <a:rPr lang="en-US" sz="880" dirty="0">
                <a:solidFill>
                  <a:srgbClr val="1A1A1A"/>
                </a:solidFill>
                <a:latin typeface="Calibri" pitchFamily="34" charset="0"/>
                <a:ea typeface="Calibri" pitchFamily="34" charset="-122"/>
                <a:cs typeface="Calibri" pitchFamily="34" charset="-120"/>
              </a:rPr>
              <a:t>of the exact score, in a browser</a:t>
            </a:r>
            <a:endParaRPr lang="en-US" sz="880" dirty="0"/>
          </a:p>
        </p:txBody>
      </p:sp>
      <p:sp>
        <p:nvSpPr>
          <p:cNvPr id="16" name="Label IT SCALES: SCORE GAIN OVER MANUAL-STYLE PLANNING (%)"/>
          <p:cNvSpPr txBox="1"/>
          <p:nvPr/>
        </p:nvSpPr>
        <p:spPr>
          <a:xfrm>
            <a:off x="7150100" y="11176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IT SCALES: SCORE GAIN OVER MANUAL-STYLE PLANNING (%)</a:t>
            </a:r>
            <a:endParaRPr lang="en-US" sz="850" dirty="0"/>
          </a:p>
        </p:txBody>
      </p:sp>
      <p:graphicFrame>
        <p:nvGraphicFramePr>
          <p:cNvPr id="17" name="Scale chart" descr=""/>
          <p:cNvGraphicFramePr/>
          <p:nvPr/>
        </p:nvGraphicFramePr>
        <p:xfrm>
          <a:off x="7086600" y="1295400"/>
          <a:ext cx="4826000" cy="2413000"/>
        </p:xfrm>
        <a:graphic xmlns:a="http://schemas.openxmlformats.org/drawingml/2006/main">
          <a:graphicData uri="http://schemas.openxmlformats.org/drawingml/2006/chart">
            <c:chart xmlns:c="http://schemas.openxmlformats.org/drawingml/2006/chart" r:id="rId2"/>
          </a:graphicData>
        </a:graphic>
      </p:graphicFrame>
      <p:sp>
        <p:nvSpPr>
          <p:cNvPr id="18" name="Scale caption"/>
          <p:cNvSpPr txBox="1"/>
          <p:nvPr/>
        </p:nvSpPr>
        <p:spPr>
          <a:xfrm>
            <a:off x="7150100" y="3733800"/>
            <a:ext cx="4724400" cy="304800"/>
          </a:xfrm>
          <a:prstGeom prst="rect">
            <a:avLst/>
          </a:prstGeom>
          <a:noFill/>
          <a:ln/>
        </p:spPr>
        <p:txBody>
          <a:bodyPr wrap="square" lIns="0" tIns="0" rIns="0" bIns="0" rtlCol="0" anchor="t"/>
          <a:lstStyle/>
          <a:p>
            <a:pPr indent="0" marL="0">
              <a:buNone/>
            </a:pPr>
            <a:r>
              <a:rPr lang="en-US" sz="900" i="1" dirty="0">
                <a:solidFill>
                  <a:srgbClr val="595959"/>
                </a:solidFill>
                <a:latin typeface="Calibri" pitchFamily="34" charset="0"/>
                <a:ea typeface="Calibri" pitchFamily="34" charset="-122"/>
                <a:cs typeface="Calibri" pitchFamily="34" charset="-120"/>
              </a:rPr>
              <a:t>The gain holds as the force grows: +6.6% at 112 aircraft in 2 s. Three synthetic instances per size.</a:t>
            </a:r>
            <a:endParaRPr lang="en-US" sz="900" dirty="0"/>
          </a:p>
        </p:txBody>
      </p:sp>
      <p:sp>
        <p:nvSpPr>
          <p:cNvPr id="19" name="Label CHALLENGES AND HOW WE HANDLE THEM"/>
          <p:cNvSpPr txBox="1"/>
          <p:nvPr/>
        </p:nvSpPr>
        <p:spPr>
          <a:xfrm>
            <a:off x="317500" y="42164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CHALLENGES AND HOW WE HANDLE THEM</a:t>
            </a:r>
            <a:endParaRPr lang="en-US" sz="850" dirty="0"/>
          </a:p>
        </p:txBody>
      </p:sp>
      <p:sp>
        <p:nvSpPr>
          <p:cNvPr id="20" name="Challenge box 1"/>
          <p:cNvSpPr/>
          <p:nvPr/>
        </p:nvSpPr>
        <p:spPr>
          <a:xfrm>
            <a:off x="317500" y="4419600"/>
            <a:ext cx="2806700" cy="508000"/>
          </a:xfrm>
          <a:prstGeom prst="roundRect">
            <a:avLst>
              <a:gd name="adj" fmla="val 14400"/>
            </a:avLst>
          </a:prstGeom>
          <a:solidFill>
            <a:srgbClr val="C8504B">
              <a:alpha val="9000"/>
            </a:srgbClr>
          </a:solidFill>
          <a:ln w="9525">
            <a:solidFill>
              <a:srgbClr val="C8504B">
                <a:alpha val="50000"/>
              </a:srgbClr>
            </a:solidFill>
            <a:prstDash val="solid"/>
          </a:ln>
        </p:spPr>
      </p:sp>
      <p:pic>
        <p:nvPicPr>
          <p:cNvPr id="21" name="Image 1" descr="Challenge icon 1">    </p:cNvPr>
          <p:cNvPicPr>
            <a:picLocks noChangeAspect="1"/>
          </p:cNvPicPr>
          <p:nvPr/>
        </p:nvPicPr>
        <p:blipFill>
          <a:blip r:embed="rId3"/>
          <a:stretch>
            <a:fillRect/>
          </a:stretch>
        </p:blipFill>
        <p:spPr>
          <a:xfrm>
            <a:off x="444500" y="4572000"/>
            <a:ext cx="203200" cy="203200"/>
          </a:xfrm>
          <a:prstGeom prst="rect">
            <a:avLst/>
          </a:prstGeom>
        </p:spPr>
      </p:pic>
      <p:sp>
        <p:nvSpPr>
          <p:cNvPr id="22" name="Challenge 1"/>
          <p:cNvSpPr txBox="1"/>
          <p:nvPr/>
        </p:nvSpPr>
        <p:spPr>
          <a:xfrm>
            <a:off x="749300" y="4419600"/>
            <a:ext cx="2311400" cy="508000"/>
          </a:xfrm>
          <a:prstGeom prst="rect">
            <a:avLst/>
          </a:prstGeom>
          <a:noFill/>
          <a:ln/>
        </p:spPr>
        <p:txBody>
          <a:bodyPr wrap="square" lIns="0" tIns="0" rIns="0" bIns="0"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Real data is classified and scattered</a:t>
            </a:r>
            <a:endParaRPr lang="en-US" sz="1000" dirty="0"/>
          </a:p>
        </p:txBody>
      </p:sp>
      <p:sp>
        <p:nvSpPr>
          <p:cNvPr id="23" name="Challenge arrow 1"/>
          <p:cNvSpPr/>
          <p:nvPr/>
        </p:nvSpPr>
        <p:spPr>
          <a:xfrm>
            <a:off x="1720850" y="4940300"/>
            <a:ext cx="0" cy="127000"/>
          </a:xfrm>
          <a:prstGeom prst="line">
            <a:avLst/>
          </a:prstGeom>
          <a:noFill/>
          <a:ln w="15875">
            <a:solidFill>
              <a:srgbClr val="2E9E5B"/>
            </a:solidFill>
            <a:prstDash val="solid"/>
            <a:tailEnd type="triangle"/>
          </a:ln>
        </p:spPr>
      </p:sp>
      <p:sp>
        <p:nvSpPr>
          <p:cNvPr id="24" name="Strategy box 1"/>
          <p:cNvSpPr/>
          <p:nvPr/>
        </p:nvSpPr>
        <p:spPr>
          <a:xfrm>
            <a:off x="317500" y="5080000"/>
            <a:ext cx="2806700" cy="812800"/>
          </a:xfrm>
          <a:prstGeom prst="roundRect">
            <a:avLst>
              <a:gd name="adj" fmla="val 6750"/>
            </a:avLst>
          </a:prstGeom>
          <a:solidFill>
            <a:srgbClr val="2E9E5B">
              <a:alpha val="8000"/>
            </a:srgbClr>
          </a:solidFill>
          <a:ln w="9525">
            <a:solidFill>
              <a:srgbClr val="2E9E5B">
                <a:alpha val="55000"/>
              </a:srgbClr>
            </a:solidFill>
            <a:prstDash val="solid"/>
          </a:ln>
        </p:spPr>
      </p:sp>
      <p:sp>
        <p:nvSpPr>
          <p:cNvPr id="25" name="Strategy 1"/>
          <p:cNvSpPr txBox="1"/>
          <p:nvPr/>
        </p:nvSpPr>
        <p:spPr>
          <a:xfrm>
            <a:off x="444500" y="5080000"/>
            <a:ext cx="2578100" cy="812800"/>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Open state schema with adapters. Built on synthetic data, deployed on-premise.</a:t>
            </a:r>
            <a:endParaRPr lang="en-US" sz="950" dirty="0"/>
          </a:p>
        </p:txBody>
      </p:sp>
      <p:sp>
        <p:nvSpPr>
          <p:cNvPr id="26" name="Challenge box 2"/>
          <p:cNvSpPr/>
          <p:nvPr/>
        </p:nvSpPr>
        <p:spPr>
          <a:xfrm>
            <a:off x="3232150" y="4419600"/>
            <a:ext cx="2806700" cy="508000"/>
          </a:xfrm>
          <a:prstGeom prst="roundRect">
            <a:avLst>
              <a:gd name="adj" fmla="val 14400"/>
            </a:avLst>
          </a:prstGeom>
          <a:solidFill>
            <a:srgbClr val="C8504B">
              <a:alpha val="9000"/>
            </a:srgbClr>
          </a:solidFill>
          <a:ln w="9525">
            <a:solidFill>
              <a:srgbClr val="C8504B">
                <a:alpha val="50000"/>
              </a:srgbClr>
            </a:solidFill>
            <a:prstDash val="solid"/>
          </a:ln>
        </p:spPr>
      </p:sp>
      <p:pic>
        <p:nvPicPr>
          <p:cNvPr id="27" name="Image 2" descr="Challenge icon 2">    </p:cNvPr>
          <p:cNvPicPr>
            <a:picLocks noChangeAspect="1"/>
          </p:cNvPicPr>
          <p:nvPr/>
        </p:nvPicPr>
        <p:blipFill>
          <a:blip r:embed="rId4"/>
          <a:stretch>
            <a:fillRect/>
          </a:stretch>
        </p:blipFill>
        <p:spPr>
          <a:xfrm>
            <a:off x="3359150" y="4572000"/>
            <a:ext cx="203200" cy="203200"/>
          </a:xfrm>
          <a:prstGeom prst="rect">
            <a:avLst/>
          </a:prstGeom>
        </p:spPr>
      </p:pic>
      <p:sp>
        <p:nvSpPr>
          <p:cNvPr id="28" name="Challenge 2"/>
          <p:cNvSpPr txBox="1"/>
          <p:nvPr/>
        </p:nvSpPr>
        <p:spPr>
          <a:xfrm>
            <a:off x="3663950" y="4419600"/>
            <a:ext cx="2311400" cy="508000"/>
          </a:xfrm>
          <a:prstGeom prst="rect">
            <a:avLst/>
          </a:prstGeom>
          <a:noFill/>
          <a:ln/>
        </p:spPr>
        <p:txBody>
          <a:bodyPr wrap="square" lIns="0" tIns="0" rIns="0" bIns="0"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Commanders will not act on a black box</a:t>
            </a:r>
            <a:endParaRPr lang="en-US" sz="1000" dirty="0"/>
          </a:p>
        </p:txBody>
      </p:sp>
      <p:sp>
        <p:nvSpPr>
          <p:cNvPr id="29" name="Challenge arrow 2"/>
          <p:cNvSpPr/>
          <p:nvPr/>
        </p:nvSpPr>
        <p:spPr>
          <a:xfrm>
            <a:off x="4635500" y="4940300"/>
            <a:ext cx="0" cy="127000"/>
          </a:xfrm>
          <a:prstGeom prst="line">
            <a:avLst/>
          </a:prstGeom>
          <a:noFill/>
          <a:ln w="15875">
            <a:solidFill>
              <a:srgbClr val="2E9E5B"/>
            </a:solidFill>
            <a:prstDash val="solid"/>
            <a:tailEnd type="triangle"/>
          </a:ln>
        </p:spPr>
      </p:sp>
      <p:sp>
        <p:nvSpPr>
          <p:cNvPr id="30" name="Strategy box 2"/>
          <p:cNvSpPr/>
          <p:nvPr/>
        </p:nvSpPr>
        <p:spPr>
          <a:xfrm>
            <a:off x="3232150" y="5080000"/>
            <a:ext cx="2806700" cy="812800"/>
          </a:xfrm>
          <a:prstGeom prst="roundRect">
            <a:avLst>
              <a:gd name="adj" fmla="val 6750"/>
            </a:avLst>
          </a:prstGeom>
          <a:solidFill>
            <a:srgbClr val="2E9E5B">
              <a:alpha val="8000"/>
            </a:srgbClr>
          </a:solidFill>
          <a:ln w="9525">
            <a:solidFill>
              <a:srgbClr val="2E9E5B">
                <a:alpha val="55000"/>
              </a:srgbClr>
            </a:solidFill>
            <a:prstDash val="solid"/>
          </a:ln>
        </p:spPr>
      </p:sp>
      <p:sp>
        <p:nvSpPr>
          <p:cNvPr id="31" name="Strategy 2"/>
          <p:cNvSpPr txBox="1"/>
          <p:nvPr/>
        </p:nvSpPr>
        <p:spPr>
          <a:xfrm>
            <a:off x="3359150" y="5080000"/>
            <a:ext cx="2578100" cy="812800"/>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Ranked options, a reason for every change, human approval, independent validator.</a:t>
            </a:r>
            <a:endParaRPr lang="en-US" sz="950" dirty="0"/>
          </a:p>
        </p:txBody>
      </p:sp>
      <p:sp>
        <p:nvSpPr>
          <p:cNvPr id="32" name="Challenge box 3"/>
          <p:cNvSpPr/>
          <p:nvPr/>
        </p:nvSpPr>
        <p:spPr>
          <a:xfrm>
            <a:off x="6146800" y="4419600"/>
            <a:ext cx="2806700" cy="508000"/>
          </a:xfrm>
          <a:prstGeom prst="roundRect">
            <a:avLst>
              <a:gd name="adj" fmla="val 14400"/>
            </a:avLst>
          </a:prstGeom>
          <a:solidFill>
            <a:srgbClr val="C8504B">
              <a:alpha val="9000"/>
            </a:srgbClr>
          </a:solidFill>
          <a:ln w="9525">
            <a:solidFill>
              <a:srgbClr val="C8504B">
                <a:alpha val="50000"/>
              </a:srgbClr>
            </a:solidFill>
            <a:prstDash val="solid"/>
          </a:ln>
        </p:spPr>
      </p:sp>
      <p:pic>
        <p:nvPicPr>
          <p:cNvPr id="33" name="Image 3" descr="Challenge icon 3">    </p:cNvPr>
          <p:cNvPicPr>
            <a:picLocks noChangeAspect="1"/>
          </p:cNvPicPr>
          <p:nvPr/>
        </p:nvPicPr>
        <p:blipFill>
          <a:blip r:embed="rId5"/>
          <a:stretch>
            <a:fillRect/>
          </a:stretch>
        </p:blipFill>
        <p:spPr>
          <a:xfrm>
            <a:off x="6273800" y="4572000"/>
            <a:ext cx="203200" cy="203200"/>
          </a:xfrm>
          <a:prstGeom prst="rect">
            <a:avLst/>
          </a:prstGeom>
        </p:spPr>
      </p:pic>
      <p:sp>
        <p:nvSpPr>
          <p:cNvPr id="34" name="Challenge 3"/>
          <p:cNvSpPr txBox="1"/>
          <p:nvPr/>
        </p:nvSpPr>
        <p:spPr>
          <a:xfrm>
            <a:off x="6578600" y="4419600"/>
            <a:ext cx="2311400" cy="508000"/>
          </a:xfrm>
          <a:prstGeom prst="rect">
            <a:avLst/>
          </a:prstGeom>
          <a:noFill/>
          <a:ln/>
        </p:spPr>
        <p:txBody>
          <a:bodyPr wrap="square" lIns="0" tIns="0" rIns="0" bIns="0"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The problem grows fast with force size</a:t>
            </a:r>
            <a:endParaRPr lang="en-US" sz="1000" dirty="0"/>
          </a:p>
        </p:txBody>
      </p:sp>
      <p:sp>
        <p:nvSpPr>
          <p:cNvPr id="35" name="Challenge arrow 3"/>
          <p:cNvSpPr/>
          <p:nvPr/>
        </p:nvSpPr>
        <p:spPr>
          <a:xfrm>
            <a:off x="7550150" y="4940300"/>
            <a:ext cx="0" cy="127000"/>
          </a:xfrm>
          <a:prstGeom prst="line">
            <a:avLst/>
          </a:prstGeom>
          <a:noFill/>
          <a:ln w="15875">
            <a:solidFill>
              <a:srgbClr val="2E9E5B"/>
            </a:solidFill>
            <a:prstDash val="solid"/>
            <a:tailEnd type="triangle"/>
          </a:ln>
        </p:spPr>
      </p:sp>
      <p:sp>
        <p:nvSpPr>
          <p:cNvPr id="36" name="Strategy box 3"/>
          <p:cNvSpPr/>
          <p:nvPr/>
        </p:nvSpPr>
        <p:spPr>
          <a:xfrm>
            <a:off x="6146800" y="5080000"/>
            <a:ext cx="2806700" cy="812800"/>
          </a:xfrm>
          <a:prstGeom prst="roundRect">
            <a:avLst>
              <a:gd name="adj" fmla="val 6750"/>
            </a:avLst>
          </a:prstGeom>
          <a:solidFill>
            <a:srgbClr val="2E9E5B">
              <a:alpha val="8000"/>
            </a:srgbClr>
          </a:solidFill>
          <a:ln w="9525">
            <a:solidFill>
              <a:srgbClr val="2E9E5B">
                <a:alpha val="55000"/>
              </a:srgbClr>
            </a:solidFill>
            <a:prstDash val="solid"/>
          </a:ln>
        </p:spPr>
      </p:sp>
      <p:sp>
        <p:nvSpPr>
          <p:cNvPr id="37" name="Strategy 3"/>
          <p:cNvSpPr txBox="1"/>
          <p:nvPr/>
        </p:nvSpPr>
        <p:spPr>
          <a:xfrm>
            <a:off x="6273800" y="5080000"/>
            <a:ext cx="2578100" cy="812800"/>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Search engines hold the gain at 112 aircraft. Rolling-horizon planning is next.</a:t>
            </a:r>
            <a:endParaRPr lang="en-US" sz="950" dirty="0"/>
          </a:p>
        </p:txBody>
      </p:sp>
      <p:sp>
        <p:nvSpPr>
          <p:cNvPr id="38" name="Challenge box 4"/>
          <p:cNvSpPr/>
          <p:nvPr/>
        </p:nvSpPr>
        <p:spPr>
          <a:xfrm>
            <a:off x="9061450" y="4419600"/>
            <a:ext cx="2806700" cy="508000"/>
          </a:xfrm>
          <a:prstGeom prst="roundRect">
            <a:avLst>
              <a:gd name="adj" fmla="val 14400"/>
            </a:avLst>
          </a:prstGeom>
          <a:solidFill>
            <a:srgbClr val="C8504B">
              <a:alpha val="9000"/>
            </a:srgbClr>
          </a:solidFill>
          <a:ln w="9525">
            <a:solidFill>
              <a:srgbClr val="C8504B">
                <a:alpha val="50000"/>
              </a:srgbClr>
            </a:solidFill>
            <a:prstDash val="solid"/>
          </a:ln>
        </p:spPr>
      </p:sp>
      <p:pic>
        <p:nvPicPr>
          <p:cNvPr id="39" name="Image 4" descr="Challenge icon 4">    </p:cNvPr>
          <p:cNvPicPr>
            <a:picLocks noChangeAspect="1"/>
          </p:cNvPicPr>
          <p:nvPr/>
        </p:nvPicPr>
        <p:blipFill>
          <a:blip r:embed="rId6"/>
          <a:stretch>
            <a:fillRect/>
          </a:stretch>
        </p:blipFill>
        <p:spPr>
          <a:xfrm>
            <a:off x="9188450" y="4572000"/>
            <a:ext cx="203200" cy="203200"/>
          </a:xfrm>
          <a:prstGeom prst="rect">
            <a:avLst/>
          </a:prstGeom>
        </p:spPr>
      </p:pic>
      <p:sp>
        <p:nvSpPr>
          <p:cNvPr id="40" name="Challenge 4"/>
          <p:cNvSpPr txBox="1"/>
          <p:nvPr/>
        </p:nvSpPr>
        <p:spPr>
          <a:xfrm>
            <a:off x="9493250" y="4419600"/>
            <a:ext cx="2311400" cy="508000"/>
          </a:xfrm>
          <a:prstGeom prst="rect">
            <a:avLst/>
          </a:prstGeom>
          <a:noFill/>
          <a:ln/>
        </p:spPr>
        <p:txBody>
          <a:bodyPr wrap="square" lIns="0" tIns="0" rIns="0" bIns="0"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Links to a central planner can be jammed</a:t>
            </a:r>
            <a:endParaRPr lang="en-US" sz="1000" dirty="0"/>
          </a:p>
        </p:txBody>
      </p:sp>
      <p:sp>
        <p:nvSpPr>
          <p:cNvPr id="41" name="Challenge arrow 4"/>
          <p:cNvSpPr/>
          <p:nvPr/>
        </p:nvSpPr>
        <p:spPr>
          <a:xfrm>
            <a:off x="10464800" y="4940300"/>
            <a:ext cx="0" cy="127000"/>
          </a:xfrm>
          <a:prstGeom prst="line">
            <a:avLst/>
          </a:prstGeom>
          <a:noFill/>
          <a:ln w="15875">
            <a:solidFill>
              <a:srgbClr val="2E9E5B"/>
            </a:solidFill>
            <a:prstDash val="solid"/>
            <a:tailEnd type="triangle"/>
          </a:ln>
        </p:spPr>
      </p:sp>
      <p:sp>
        <p:nvSpPr>
          <p:cNvPr id="42" name="Strategy box 4"/>
          <p:cNvSpPr/>
          <p:nvPr/>
        </p:nvSpPr>
        <p:spPr>
          <a:xfrm>
            <a:off x="9061450" y="5080000"/>
            <a:ext cx="2806700" cy="812800"/>
          </a:xfrm>
          <a:prstGeom prst="roundRect">
            <a:avLst>
              <a:gd name="adj" fmla="val 6750"/>
            </a:avLst>
          </a:prstGeom>
          <a:solidFill>
            <a:srgbClr val="2E9E5B">
              <a:alpha val="8000"/>
            </a:srgbClr>
          </a:solidFill>
          <a:ln w="9525">
            <a:solidFill>
              <a:srgbClr val="2E9E5B">
                <a:alpha val="55000"/>
              </a:srgbClr>
            </a:solidFill>
            <a:prstDash val="solid"/>
          </a:ln>
        </p:spPr>
      </p:sp>
      <p:sp>
        <p:nvSpPr>
          <p:cNvPr id="43" name="Strategy 4"/>
          <p:cNvSpPr txBox="1"/>
          <p:nvPr/>
        </p:nvSpPr>
        <p:spPr>
          <a:xfrm>
            <a:off x="9188450" y="5080000"/>
            <a:ext cx="2578100" cy="812800"/>
          </a:xfrm>
          <a:prstGeom prst="rect">
            <a:avLst/>
          </a:prstGeom>
          <a:noFill/>
          <a:ln/>
        </p:spPr>
        <p:txBody>
          <a:bodyPr wrap="square" lIns="0" tIns="0" rIns="0" bIns="0" rtlCol="0" anchor="ctr"/>
          <a:lstStyle/>
          <a:p>
            <a:pPr indent="0" marL="0">
              <a:buNone/>
            </a:pPr>
            <a:r>
              <a:rPr lang="en-US" sz="950" dirty="0">
                <a:solidFill>
                  <a:srgbClr val="1A1A1A"/>
                </a:solidFill>
                <a:latin typeface="Calibri" pitchFamily="34" charset="0"/>
                <a:ea typeface="Calibri" pitchFamily="34" charset="-122"/>
                <a:cs typeface="Calibri" pitchFamily="34" charset="-120"/>
              </a:rPr>
              <a:t>The built-in engine runs offline on any device. Decentralised auctions as fallback.</a:t>
            </a:r>
            <a:endParaRPr lang="en-US" sz="950" dirty="0"/>
          </a:p>
        </p:txBody>
      </p:sp>
      <p:sp>
        <p:nvSpPr>
          <p:cNvPr id="44" name="Roadmap label"/>
          <p:cNvSpPr txBox="1"/>
          <p:nvPr/>
        </p:nvSpPr>
        <p:spPr>
          <a:xfrm>
            <a:off x="317500" y="6134100"/>
            <a:ext cx="812800" cy="381000"/>
          </a:xfrm>
          <a:prstGeom prst="rect">
            <a:avLst/>
          </a:prstGeom>
          <a:noFill/>
          <a:ln/>
        </p:spPr>
        <p:txBody>
          <a:bodyPr wrap="square" lIns="0" tIns="0" rIns="0" bIns="0" rtlCol="0" anchor="ctr"/>
          <a:lstStyle/>
          <a:p>
            <a:pPr indent="0" marL="0">
              <a:buNone/>
            </a:pPr>
            <a:r>
              <a:rPr lang="en-US" sz="850" b="1" spc="120" kern="0" dirty="0">
                <a:solidFill>
                  <a:srgbClr val="1F6FB2"/>
                </a:solidFill>
                <a:latin typeface="Calibri" pitchFamily="34" charset="0"/>
                <a:ea typeface="Calibri" pitchFamily="34" charset="-122"/>
                <a:cs typeface="Calibri" pitchFamily="34" charset="-120"/>
              </a:rPr>
              <a:t>ROADMAP</a:t>
            </a:r>
            <a:endParaRPr lang="en-US" sz="850" dirty="0"/>
          </a:p>
        </p:txBody>
      </p:sp>
      <p:sp>
        <p:nvSpPr>
          <p:cNvPr id="45" name="Roadmap 1"/>
          <p:cNvSpPr/>
          <p:nvPr/>
        </p:nvSpPr>
        <p:spPr>
          <a:xfrm>
            <a:off x="1168400" y="6134100"/>
            <a:ext cx="3479800" cy="381000"/>
          </a:xfrm>
          <a:prstGeom prst="homePlate">
            <a:avLst/>
          </a:prstGeom>
          <a:solidFill>
            <a:srgbClr val="2E9E5B">
              <a:alpha val="12000"/>
            </a:srgbClr>
          </a:solidFill>
          <a:ln w="9525">
            <a:solidFill>
              <a:srgbClr val="2E9E5B"/>
            </a:solidFill>
          </a:ln>
        </p:spPr>
        <p:txBody>
          <a:bodyPr wrap="square" lIns="127000" tIns="0" rIns="177800" bIns="0" rtlCol="0" anchor="ctr"/>
          <a:lstStyle/>
          <a:p>
            <a:pPr indent="0" marL="0">
              <a:buNone/>
            </a:pPr>
            <a:r>
              <a:rPr lang="en-US" sz="950" b="1" dirty="0">
                <a:solidFill>
                  <a:srgbClr val="2E9E5B"/>
                </a:solidFill>
                <a:latin typeface="Calibri" pitchFamily="34" charset="0"/>
                <a:ea typeface="Calibri" pitchFamily="34" charset="-122"/>
                <a:cs typeface="Calibri" pitchFamily="34" charset="-120"/>
              </a:rPr>
              <a:t>Phase 1  Prototype</a:t>
            </a:r>
            <a:r>
              <a:rPr lang="en-US" sz="950" dirty="0">
                <a:solidFill>
                  <a:srgbClr val="1A1A1A"/>
                </a:solidFill>
                <a:latin typeface="Calibri" pitchFamily="34" charset="0"/>
                <a:ea typeface="Calibri" pitchFamily="34" charset="-122"/>
                <a:cs typeface="Calibri" pitchFamily="34" charset="-120"/>
              </a:rPr>
              <a:t>    solver, validator, app: done</a:t>
            </a:r>
            <a:endParaRPr lang="en-US" sz="950" dirty="0"/>
          </a:p>
        </p:txBody>
      </p:sp>
      <p:sp>
        <p:nvSpPr>
          <p:cNvPr id="46" name="Roadmap 2"/>
          <p:cNvSpPr/>
          <p:nvPr/>
        </p:nvSpPr>
        <p:spPr>
          <a:xfrm>
            <a:off x="4762500" y="6134100"/>
            <a:ext cx="3479800" cy="381000"/>
          </a:xfrm>
          <a:prstGeom prst="homePlate">
            <a:avLst/>
          </a:prstGeom>
          <a:solidFill>
            <a:srgbClr val="1F6FB2">
              <a:alpha val="12000"/>
            </a:srgbClr>
          </a:solidFill>
          <a:ln w="9525">
            <a:solidFill>
              <a:srgbClr val="1F6FB2"/>
            </a:solidFill>
          </a:ln>
        </p:spPr>
        <p:txBody>
          <a:bodyPr wrap="square" lIns="127000" tIns="0" rIns="177800" bIns="0" rtlCol="0" anchor="ctr"/>
          <a:lstStyle/>
          <a:p>
            <a:pPr indent="0" marL="0">
              <a:buNone/>
            </a:pPr>
            <a:r>
              <a:rPr lang="en-US" sz="950" b="1" dirty="0">
                <a:solidFill>
                  <a:srgbClr val="1F6FB2"/>
                </a:solidFill>
                <a:latin typeface="Calibri" pitchFamily="34" charset="0"/>
                <a:ea typeface="Calibri" pitchFamily="34" charset="-122"/>
                <a:cs typeface="Calibri" pitchFamily="34" charset="-120"/>
              </a:rPr>
              <a:t>Phase 2  Simulator pilot</a:t>
            </a:r>
            <a:r>
              <a:rPr lang="en-US" sz="950" dirty="0">
                <a:solidFill>
                  <a:srgbClr val="1A1A1A"/>
                </a:solidFill>
                <a:latin typeface="Calibri" pitchFamily="34" charset="0"/>
                <a:ea typeface="Calibri" pitchFamily="34" charset="-122"/>
                <a:cs typeface="Calibri" pitchFamily="34" charset="-120"/>
              </a:rPr>
              <a:t>    wargame feeds, planner trials</a:t>
            </a:r>
            <a:endParaRPr lang="en-US" sz="950" dirty="0"/>
          </a:p>
        </p:txBody>
      </p:sp>
      <p:sp>
        <p:nvSpPr>
          <p:cNvPr id="47" name="Roadmap 3"/>
          <p:cNvSpPr/>
          <p:nvPr/>
        </p:nvSpPr>
        <p:spPr>
          <a:xfrm>
            <a:off x="8356600" y="6134100"/>
            <a:ext cx="3479800" cy="381000"/>
          </a:xfrm>
          <a:prstGeom prst="homePlate">
            <a:avLst/>
          </a:prstGeom>
          <a:solidFill>
            <a:srgbClr val="8A5CD0">
              <a:alpha val="12000"/>
            </a:srgbClr>
          </a:solidFill>
          <a:ln w="9525">
            <a:solidFill>
              <a:srgbClr val="8A5CD0"/>
            </a:solidFill>
          </a:ln>
        </p:spPr>
        <p:txBody>
          <a:bodyPr wrap="square" lIns="127000" tIns="0" rIns="177800" bIns="0" rtlCol="0" anchor="ctr"/>
          <a:lstStyle/>
          <a:p>
            <a:pPr indent="0" marL="0">
              <a:buNone/>
            </a:pPr>
            <a:r>
              <a:rPr lang="en-US" sz="950" b="1" dirty="0">
                <a:solidFill>
                  <a:srgbClr val="8A5CD0"/>
                </a:solidFill>
                <a:latin typeface="Calibri" pitchFamily="34" charset="0"/>
                <a:ea typeface="Calibri" pitchFamily="34" charset="-122"/>
                <a:cs typeface="Calibri" pitchFamily="34" charset="-120"/>
              </a:rPr>
              <a:t>Phase 3  Integrate and scale</a:t>
            </a:r>
            <a:r>
              <a:rPr lang="en-US" sz="950" dirty="0">
                <a:solidFill>
                  <a:srgbClr val="1A1A1A"/>
                </a:solidFill>
                <a:latin typeface="Calibri" pitchFamily="34" charset="0"/>
                <a:ea typeface="Calibri" pitchFamily="34" charset="-122"/>
                <a:cs typeface="Calibri" pitchFamily="34" charset="-120"/>
              </a:rPr>
              <a:t>    C2 interfaces, larger forces</a:t>
            </a:r>
            <a:endParaRPr lang="en-US" sz="950" dirty="0"/>
          </a:p>
        </p:txBody>
      </p:sp>
      <p:sp>
        <p:nvSpPr>
          <p:cNvPr id="25" name="Slide Number Placeholder 0"/>
          <p:cNvSpPr>
            <a:spLocks noGrp="1"/>
          </p:cNvSpPr>
          <p:nvPr>
            <p:ph type="sldNum" sz="quarter" idx="4294967295"/>
          </p:nvPr>
        </p:nvSpPr>
        <p:spPr>
          <a:xfrm>
            <a:off x="11379200" y="6502400"/>
            <a:ext cx="5588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9595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1905000" y="177800"/>
            <a:ext cx="8280400" cy="685800"/>
          </a:xfrm>
          <a:prstGeom prst="rect">
            <a:avLst/>
          </a:prstGeom>
          <a:noFill/>
          <a:ln/>
        </p:spPr>
        <p:txBody>
          <a:bodyPr wrap="square" lIns="0" tIns="0" rIns="0" bIns="0" rtlCol="0" anchor="ctr"/>
          <a:lstStyle/>
          <a:p>
            <a:pPr algn="ctr" indent="0" marL="0">
              <a:buNone/>
            </a:pPr>
            <a:r>
              <a:rPr lang="en-US" sz="2600" b="1" dirty="0">
                <a:solidFill>
                  <a:srgbClr val="1F3864"/>
                </a:solidFill>
                <a:latin typeface="Cambria" pitchFamily="34" charset="0"/>
                <a:ea typeface="Cambria" pitchFamily="34" charset="-122"/>
                <a:cs typeface="Cambria" pitchFamily="34" charset="-120"/>
              </a:rPr>
              <a:t>IMPACT AND BENEFITS</a:t>
            </a:r>
            <a:endParaRPr lang="en-US" sz="2600" dirty="0"/>
          </a:p>
        </p:txBody>
      </p:sp>
      <p:sp>
        <p:nvSpPr>
          <p:cNvPr id="3" name="Label MEASURED IN THE PROTOTYPE"/>
          <p:cNvSpPr txBox="1"/>
          <p:nvPr/>
        </p:nvSpPr>
        <p:spPr>
          <a:xfrm>
            <a:off x="317500" y="11176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MEASURED IN THE PROTOTYPE</a:t>
            </a:r>
            <a:endParaRPr lang="en-US" sz="850" dirty="0"/>
          </a:p>
        </p:txBody>
      </p:sp>
      <p:sp>
        <p:nvSpPr>
          <p:cNvPr id="4" name="Stat tile 1"/>
          <p:cNvSpPr/>
          <p:nvPr/>
        </p:nvSpPr>
        <p:spPr>
          <a:xfrm>
            <a:off x="317500" y="1320800"/>
            <a:ext cx="2806700" cy="736600"/>
          </a:xfrm>
          <a:prstGeom prst="roundRect">
            <a:avLst>
              <a:gd name="adj" fmla="val 869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5" name="Stat icon 1 bg"/>
          <p:cNvSpPr/>
          <p:nvPr/>
        </p:nvSpPr>
        <p:spPr>
          <a:xfrm>
            <a:off x="444500" y="1473200"/>
            <a:ext cx="431800" cy="431800"/>
          </a:xfrm>
          <a:prstGeom prst="ellipse">
            <a:avLst/>
          </a:prstGeom>
          <a:solidFill>
            <a:srgbClr val="1F6FB2">
              <a:alpha val="14000"/>
            </a:srgbClr>
          </a:solidFill>
          <a:ln w="12700">
            <a:solidFill>
              <a:srgbClr val="1F6FB2">
                <a:alpha val="0"/>
              </a:srgbClr>
            </a:solidFill>
            <a:prstDash val="solid"/>
          </a:ln>
        </p:spPr>
      </p:sp>
      <p:pic>
        <p:nvPicPr>
          <p:cNvPr id="6" name="Image 0" descr="Stat icon 1">    </p:cNvPr>
          <p:cNvPicPr>
            <a:picLocks noChangeAspect="1"/>
          </p:cNvPicPr>
          <p:nvPr/>
        </p:nvPicPr>
        <p:blipFill>
          <a:blip r:embed="rId1"/>
          <a:stretch>
            <a:fillRect/>
          </a:stretch>
        </p:blipFill>
        <p:spPr>
          <a:xfrm>
            <a:off x="552450" y="1581150"/>
            <a:ext cx="215900" cy="215900"/>
          </a:xfrm>
          <a:prstGeom prst="rect">
            <a:avLst/>
          </a:prstGeom>
        </p:spPr>
      </p:pic>
      <p:sp>
        <p:nvSpPr>
          <p:cNvPr id="7" name="Stat value 1"/>
          <p:cNvSpPr txBox="1"/>
          <p:nvPr/>
        </p:nvSpPr>
        <p:spPr>
          <a:xfrm>
            <a:off x="977900" y="1358900"/>
            <a:ext cx="2082800" cy="381000"/>
          </a:xfrm>
          <a:prstGeom prst="rect">
            <a:avLst/>
          </a:prstGeom>
          <a:noFill/>
          <a:ln/>
        </p:spPr>
        <p:txBody>
          <a:bodyPr wrap="square" lIns="0" tIns="0" rIns="0" bIns="0" rtlCol="0" anchor="ctr"/>
          <a:lstStyle/>
          <a:p>
            <a:pPr indent="0" marL="0">
              <a:buNone/>
            </a:pPr>
            <a:r>
              <a:rPr lang="en-US" sz="2100" b="1" dirty="0">
                <a:solidFill>
                  <a:srgbClr val="1F6FB2"/>
                </a:solidFill>
                <a:latin typeface="Cambria" pitchFamily="34" charset="0"/>
                <a:ea typeface="Cambria" pitchFamily="34" charset="-122"/>
                <a:cs typeface="Cambria" pitchFamily="34" charset="-120"/>
              </a:rPr>
              <a:t>0.06–0.18 s</a:t>
            </a:r>
            <a:endParaRPr lang="en-US" sz="2100" dirty="0"/>
          </a:p>
        </p:txBody>
      </p:sp>
      <p:sp>
        <p:nvSpPr>
          <p:cNvPr id="8" name="Stat label 1"/>
          <p:cNvSpPr txBox="1"/>
          <p:nvPr/>
        </p:nvSpPr>
        <p:spPr>
          <a:xfrm>
            <a:off x="977900" y="1739900"/>
            <a:ext cx="2082800" cy="254000"/>
          </a:xfrm>
          <a:prstGeom prst="rect">
            <a:avLst/>
          </a:prstGeom>
          <a:noFill/>
          <a:ln/>
        </p:spPr>
        <p:txBody>
          <a:bodyPr wrap="square" lIns="0" tIns="0" rIns="0" bIns="0" rtlCol="0" anchor="t"/>
          <a:lstStyle/>
          <a:p>
            <a:pPr indent="0" marL="0">
              <a:buNone/>
            </a:pPr>
            <a:r>
              <a:rPr lang="en-US" sz="920" dirty="0">
                <a:solidFill>
                  <a:srgbClr val="595959"/>
                </a:solidFill>
                <a:latin typeface="Calibri" pitchFamily="34" charset="0"/>
                <a:ea typeface="Calibri" pitchFamily="34" charset="-122"/>
                <a:cs typeface="Calibri" pitchFamily="34" charset="-120"/>
              </a:rPr>
              <a:t>to re-plan after an event</a:t>
            </a:r>
            <a:endParaRPr lang="en-US" sz="920" dirty="0"/>
          </a:p>
        </p:txBody>
      </p:sp>
      <p:sp>
        <p:nvSpPr>
          <p:cNvPr id="9" name="Stat tile 2"/>
          <p:cNvSpPr/>
          <p:nvPr/>
        </p:nvSpPr>
        <p:spPr>
          <a:xfrm>
            <a:off x="3232150" y="1320800"/>
            <a:ext cx="2806700" cy="736600"/>
          </a:xfrm>
          <a:prstGeom prst="roundRect">
            <a:avLst>
              <a:gd name="adj" fmla="val 869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10" name="Stat icon 2 bg"/>
          <p:cNvSpPr/>
          <p:nvPr/>
        </p:nvSpPr>
        <p:spPr>
          <a:xfrm>
            <a:off x="3359150" y="1473200"/>
            <a:ext cx="431800" cy="431800"/>
          </a:xfrm>
          <a:prstGeom prst="ellipse">
            <a:avLst/>
          </a:prstGeom>
          <a:solidFill>
            <a:srgbClr val="1F9D8A">
              <a:alpha val="14000"/>
            </a:srgbClr>
          </a:solidFill>
          <a:ln w="12700">
            <a:solidFill>
              <a:srgbClr val="1F9D8A">
                <a:alpha val="0"/>
              </a:srgbClr>
            </a:solidFill>
            <a:prstDash val="solid"/>
          </a:ln>
        </p:spPr>
      </p:sp>
      <p:pic>
        <p:nvPicPr>
          <p:cNvPr id="11" name="Image 1" descr="Stat icon 2">    </p:cNvPr>
          <p:cNvPicPr>
            <a:picLocks noChangeAspect="1"/>
          </p:cNvPicPr>
          <p:nvPr/>
        </p:nvPicPr>
        <p:blipFill>
          <a:blip r:embed="rId2"/>
          <a:stretch>
            <a:fillRect/>
          </a:stretch>
        </p:blipFill>
        <p:spPr>
          <a:xfrm>
            <a:off x="3467100" y="1581150"/>
            <a:ext cx="215900" cy="215900"/>
          </a:xfrm>
          <a:prstGeom prst="rect">
            <a:avLst/>
          </a:prstGeom>
        </p:spPr>
      </p:pic>
      <p:sp>
        <p:nvSpPr>
          <p:cNvPr id="12" name="Stat value 2"/>
          <p:cNvSpPr txBox="1"/>
          <p:nvPr/>
        </p:nvSpPr>
        <p:spPr>
          <a:xfrm>
            <a:off x="3892550" y="1358900"/>
            <a:ext cx="2082800" cy="381000"/>
          </a:xfrm>
          <a:prstGeom prst="rect">
            <a:avLst/>
          </a:prstGeom>
          <a:noFill/>
          <a:ln/>
        </p:spPr>
        <p:txBody>
          <a:bodyPr wrap="square" lIns="0" tIns="0" rIns="0" bIns="0" rtlCol="0" anchor="ctr"/>
          <a:lstStyle/>
          <a:p>
            <a:pPr indent="0" marL="0">
              <a:buNone/>
            </a:pPr>
            <a:r>
              <a:rPr lang="en-US" sz="2100" b="1" dirty="0">
                <a:solidFill>
                  <a:srgbClr val="1F9D8A"/>
                </a:solidFill>
                <a:latin typeface="Cambria" pitchFamily="34" charset="0"/>
                <a:ea typeface="Cambria" pitchFamily="34" charset="-122"/>
                <a:cs typeface="Cambria" pitchFamily="34" charset="-120"/>
              </a:rPr>
              <a:t>−26%</a:t>
            </a:r>
            <a:endParaRPr lang="en-US" sz="2100" dirty="0"/>
          </a:p>
        </p:txBody>
      </p:sp>
      <p:sp>
        <p:nvSpPr>
          <p:cNvPr id="13" name="Stat label 2"/>
          <p:cNvSpPr txBox="1"/>
          <p:nvPr/>
        </p:nvSpPr>
        <p:spPr>
          <a:xfrm>
            <a:off x="3892550" y="1739900"/>
            <a:ext cx="2082800" cy="254000"/>
          </a:xfrm>
          <a:prstGeom prst="rect">
            <a:avLst/>
          </a:prstGeom>
          <a:noFill/>
          <a:ln/>
        </p:spPr>
        <p:txBody>
          <a:bodyPr wrap="square" lIns="0" tIns="0" rIns="0" bIns="0" rtlCol="0" anchor="t"/>
          <a:lstStyle/>
          <a:p>
            <a:pPr indent="0" marL="0">
              <a:buNone/>
            </a:pPr>
            <a:r>
              <a:rPr lang="en-US" sz="920" dirty="0">
                <a:solidFill>
                  <a:srgbClr val="595959"/>
                </a:solidFill>
                <a:latin typeface="Calibri" pitchFamily="34" charset="0"/>
                <a:ea typeface="Calibri" pitchFamily="34" charset="-122"/>
                <a:cs typeface="Calibri" pitchFamily="34" charset="-120"/>
              </a:rPr>
              <a:t>average risk per sortie</a:t>
            </a:r>
            <a:endParaRPr lang="en-US" sz="920" dirty="0"/>
          </a:p>
        </p:txBody>
      </p:sp>
      <p:sp>
        <p:nvSpPr>
          <p:cNvPr id="14" name="Stat tile 3"/>
          <p:cNvSpPr/>
          <p:nvPr/>
        </p:nvSpPr>
        <p:spPr>
          <a:xfrm>
            <a:off x="6146800" y="1320800"/>
            <a:ext cx="2806700" cy="736600"/>
          </a:xfrm>
          <a:prstGeom prst="roundRect">
            <a:avLst>
              <a:gd name="adj" fmla="val 869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15" name="Stat icon 3 bg"/>
          <p:cNvSpPr/>
          <p:nvPr/>
        </p:nvSpPr>
        <p:spPr>
          <a:xfrm>
            <a:off x="6273800" y="1473200"/>
            <a:ext cx="431800" cy="431800"/>
          </a:xfrm>
          <a:prstGeom prst="ellipse">
            <a:avLst/>
          </a:prstGeom>
          <a:solidFill>
            <a:srgbClr val="E07A1F">
              <a:alpha val="14000"/>
            </a:srgbClr>
          </a:solidFill>
          <a:ln w="12700">
            <a:solidFill>
              <a:srgbClr val="E07A1F">
                <a:alpha val="0"/>
              </a:srgbClr>
            </a:solidFill>
            <a:prstDash val="solid"/>
          </a:ln>
        </p:spPr>
      </p:sp>
      <p:pic>
        <p:nvPicPr>
          <p:cNvPr id="16" name="Image 2" descr="Stat icon 3">    </p:cNvPr>
          <p:cNvPicPr>
            <a:picLocks noChangeAspect="1"/>
          </p:cNvPicPr>
          <p:nvPr/>
        </p:nvPicPr>
        <p:blipFill>
          <a:blip r:embed="rId3"/>
          <a:stretch>
            <a:fillRect/>
          </a:stretch>
        </p:blipFill>
        <p:spPr>
          <a:xfrm>
            <a:off x="6381750" y="1581150"/>
            <a:ext cx="215900" cy="215900"/>
          </a:xfrm>
          <a:prstGeom prst="rect">
            <a:avLst/>
          </a:prstGeom>
        </p:spPr>
      </p:pic>
      <p:sp>
        <p:nvSpPr>
          <p:cNvPr id="17" name="Stat value 3"/>
          <p:cNvSpPr txBox="1"/>
          <p:nvPr/>
        </p:nvSpPr>
        <p:spPr>
          <a:xfrm>
            <a:off x="6807200" y="1358900"/>
            <a:ext cx="2082800" cy="381000"/>
          </a:xfrm>
          <a:prstGeom prst="rect">
            <a:avLst/>
          </a:prstGeom>
          <a:noFill/>
          <a:ln/>
        </p:spPr>
        <p:txBody>
          <a:bodyPr wrap="square" lIns="0" tIns="0" rIns="0" bIns="0" rtlCol="0" anchor="ctr"/>
          <a:lstStyle/>
          <a:p>
            <a:pPr indent="0" marL="0">
              <a:buNone/>
            </a:pPr>
            <a:r>
              <a:rPr lang="en-US" sz="2100" b="1" dirty="0">
                <a:solidFill>
                  <a:srgbClr val="E07A1F"/>
                </a:solidFill>
                <a:latin typeface="Cambria" pitchFamily="34" charset="0"/>
                <a:ea typeface="Cambria" pitchFamily="34" charset="-122"/>
                <a:cs typeface="Cambria" pitchFamily="34" charset="-120"/>
              </a:rPr>
              <a:t>3.5× fewer</a:t>
            </a:r>
            <a:endParaRPr lang="en-US" sz="2100" dirty="0"/>
          </a:p>
        </p:txBody>
      </p:sp>
      <p:sp>
        <p:nvSpPr>
          <p:cNvPr id="18" name="Stat label 3"/>
          <p:cNvSpPr txBox="1"/>
          <p:nvPr/>
        </p:nvSpPr>
        <p:spPr>
          <a:xfrm>
            <a:off x="6807200" y="1739900"/>
            <a:ext cx="2082800" cy="254000"/>
          </a:xfrm>
          <a:prstGeom prst="rect">
            <a:avLst/>
          </a:prstGeom>
          <a:noFill/>
          <a:ln/>
        </p:spPr>
        <p:txBody>
          <a:bodyPr wrap="square" lIns="0" tIns="0" rIns="0" bIns="0" rtlCol="0" anchor="t"/>
          <a:lstStyle/>
          <a:p>
            <a:pPr indent="0" marL="0">
              <a:buNone/>
            </a:pPr>
            <a:r>
              <a:rPr lang="en-US" sz="920" dirty="0">
                <a:solidFill>
                  <a:srgbClr val="595959"/>
                </a:solidFill>
                <a:latin typeface="Calibri" pitchFamily="34" charset="0"/>
                <a:ea typeface="Calibri" pitchFamily="34" charset="-122"/>
                <a:cs typeface="Calibri" pitchFamily="34" charset="-120"/>
              </a:rPr>
              <a:t>plan changes per event</a:t>
            </a:r>
            <a:endParaRPr lang="en-US" sz="920" dirty="0"/>
          </a:p>
        </p:txBody>
      </p:sp>
      <p:sp>
        <p:nvSpPr>
          <p:cNvPr id="19" name="Stat tile 4"/>
          <p:cNvSpPr/>
          <p:nvPr/>
        </p:nvSpPr>
        <p:spPr>
          <a:xfrm>
            <a:off x="9061450" y="1320800"/>
            <a:ext cx="2806700" cy="736600"/>
          </a:xfrm>
          <a:prstGeom prst="roundRect">
            <a:avLst>
              <a:gd name="adj" fmla="val 869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20" name="Stat icon 4 bg"/>
          <p:cNvSpPr/>
          <p:nvPr/>
        </p:nvSpPr>
        <p:spPr>
          <a:xfrm>
            <a:off x="9188450" y="1473200"/>
            <a:ext cx="431800" cy="431800"/>
          </a:xfrm>
          <a:prstGeom prst="ellipse">
            <a:avLst/>
          </a:prstGeom>
          <a:solidFill>
            <a:srgbClr val="8A5CD0">
              <a:alpha val="14000"/>
            </a:srgbClr>
          </a:solidFill>
          <a:ln w="12700">
            <a:solidFill>
              <a:srgbClr val="8A5CD0">
                <a:alpha val="0"/>
              </a:srgbClr>
            </a:solidFill>
            <a:prstDash val="solid"/>
          </a:ln>
        </p:spPr>
      </p:sp>
      <p:pic>
        <p:nvPicPr>
          <p:cNvPr id="21" name="Image 3" descr="Stat icon 4">    </p:cNvPr>
          <p:cNvPicPr>
            <a:picLocks noChangeAspect="1"/>
          </p:cNvPicPr>
          <p:nvPr/>
        </p:nvPicPr>
        <p:blipFill>
          <a:blip r:embed="rId4"/>
          <a:stretch>
            <a:fillRect/>
          </a:stretch>
        </p:blipFill>
        <p:spPr>
          <a:xfrm>
            <a:off x="9296400" y="1581150"/>
            <a:ext cx="215900" cy="215900"/>
          </a:xfrm>
          <a:prstGeom prst="rect">
            <a:avLst/>
          </a:prstGeom>
        </p:spPr>
      </p:pic>
      <p:sp>
        <p:nvSpPr>
          <p:cNvPr id="22" name="Stat value 4"/>
          <p:cNvSpPr txBox="1"/>
          <p:nvPr/>
        </p:nvSpPr>
        <p:spPr>
          <a:xfrm>
            <a:off x="9721850" y="1358900"/>
            <a:ext cx="2082800" cy="381000"/>
          </a:xfrm>
          <a:prstGeom prst="rect">
            <a:avLst/>
          </a:prstGeom>
          <a:noFill/>
          <a:ln/>
        </p:spPr>
        <p:txBody>
          <a:bodyPr wrap="square" lIns="0" tIns="0" rIns="0" bIns="0" rtlCol="0" anchor="ctr"/>
          <a:lstStyle/>
          <a:p>
            <a:pPr indent="0" marL="0">
              <a:buNone/>
            </a:pPr>
            <a:r>
              <a:rPr lang="en-US" sz="2100" b="1" dirty="0">
                <a:solidFill>
                  <a:srgbClr val="8A5CD0"/>
                </a:solidFill>
                <a:latin typeface="Cambria" pitchFamily="34" charset="0"/>
                <a:ea typeface="Cambria" pitchFamily="34" charset="-122"/>
                <a:cs typeface="Cambria" pitchFamily="34" charset="-120"/>
              </a:rPr>
              <a:t>+11.8%</a:t>
            </a:r>
            <a:endParaRPr lang="en-US" sz="2100" dirty="0"/>
          </a:p>
        </p:txBody>
      </p:sp>
      <p:sp>
        <p:nvSpPr>
          <p:cNvPr id="23" name="Stat label 4"/>
          <p:cNvSpPr txBox="1"/>
          <p:nvPr/>
        </p:nvSpPr>
        <p:spPr>
          <a:xfrm>
            <a:off x="9721850" y="1739900"/>
            <a:ext cx="2082800" cy="254000"/>
          </a:xfrm>
          <a:prstGeom prst="rect">
            <a:avLst/>
          </a:prstGeom>
          <a:noFill/>
          <a:ln/>
        </p:spPr>
        <p:txBody>
          <a:bodyPr wrap="square" lIns="0" tIns="0" rIns="0" bIns="0" rtlCol="0" anchor="t"/>
          <a:lstStyle/>
          <a:p>
            <a:pPr indent="0" marL="0">
              <a:buNone/>
            </a:pPr>
            <a:r>
              <a:rPr lang="en-US" sz="920" dirty="0">
                <a:solidFill>
                  <a:srgbClr val="595959"/>
                </a:solidFill>
                <a:latin typeface="Calibri" pitchFamily="34" charset="0"/>
                <a:ea typeface="Calibri" pitchFamily="34" charset="-122"/>
                <a:cs typeface="Calibri" pitchFamily="34" charset="-120"/>
              </a:rPr>
              <a:t>plan score, better in 20 of 20 scenarios</a:t>
            </a:r>
            <a:endParaRPr lang="en-US" sz="920" dirty="0"/>
          </a:p>
        </p:txBody>
      </p:sp>
      <p:sp>
        <p:nvSpPr>
          <p:cNvPr id="24" name="Label MISSION VALUE STILL COVERED AFTER EACH EVENT (%)"/>
          <p:cNvSpPr txBox="1"/>
          <p:nvPr/>
        </p:nvSpPr>
        <p:spPr>
          <a:xfrm>
            <a:off x="317500" y="22098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MISSION VALUE STILL COVERED AFTER EACH EVENT (%)</a:t>
            </a:r>
            <a:endParaRPr lang="en-US" sz="850" dirty="0"/>
          </a:p>
        </p:txBody>
      </p:sp>
      <p:graphicFrame>
        <p:nvGraphicFramePr>
          <p:cNvPr id="25" name="Coverage chart" descr=""/>
          <p:cNvGraphicFramePr/>
          <p:nvPr/>
        </p:nvGraphicFramePr>
        <p:xfrm>
          <a:off x="254000" y="2362200"/>
          <a:ext cx="3810000" cy="2260600"/>
        </p:xfrm>
        <a:graphic xmlns:a="http://schemas.openxmlformats.org/drawingml/2006/main">
          <a:graphicData uri="http://schemas.openxmlformats.org/drawingml/2006/chart">
            <c:chart xmlns:c="http://schemas.openxmlformats.org/drawingml/2006/chart" r:id="rId5"/>
          </a:graphicData>
        </a:graphic>
      </p:graphicFrame>
      <p:sp>
        <p:nvSpPr>
          <p:cNvPr id="26" name="Label PLANNED MISSIONS CHANGED PER EVENT"/>
          <p:cNvSpPr txBox="1"/>
          <p:nvPr/>
        </p:nvSpPr>
        <p:spPr>
          <a:xfrm>
            <a:off x="4241800" y="22098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PLANNED MISSIONS CHANGED PER EVENT</a:t>
            </a:r>
            <a:endParaRPr lang="en-US" sz="850" dirty="0"/>
          </a:p>
        </p:txBody>
      </p:sp>
      <p:graphicFrame>
        <p:nvGraphicFramePr>
          <p:cNvPr id="27" name="Changes chart" descr=""/>
          <p:cNvGraphicFramePr/>
          <p:nvPr/>
        </p:nvGraphicFramePr>
        <p:xfrm>
          <a:off x="4178300" y="2362200"/>
          <a:ext cx="3810000" cy="2260600"/>
        </p:xfrm>
        <a:graphic xmlns:a="http://schemas.openxmlformats.org/drawingml/2006/main">
          <a:graphicData uri="http://schemas.openxmlformats.org/drawingml/2006/chart">
            <c:chart xmlns:c="http://schemas.openxmlformats.org/drawingml/2006/chart" r:id="rId6"/>
          </a:graphicData>
        </a:graphic>
      </p:graphicFrame>
      <p:sp>
        <p:nvSpPr>
          <p:cNvPr id="28" name="Label THE DECISION SCREEN"/>
          <p:cNvSpPr txBox="1"/>
          <p:nvPr/>
        </p:nvSpPr>
        <p:spPr>
          <a:xfrm>
            <a:off x="8204200" y="22098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THE DECISION SCREEN</a:t>
            </a:r>
            <a:endParaRPr lang="en-US" sz="850" dirty="0"/>
          </a:p>
        </p:txBody>
      </p:sp>
      <p:sp>
        <p:nvSpPr>
          <p:cNvPr id="29" name="Options screenshot frame"/>
          <p:cNvSpPr/>
          <p:nvPr/>
        </p:nvSpPr>
        <p:spPr>
          <a:xfrm>
            <a:off x="8185150" y="2393950"/>
            <a:ext cx="3708400" cy="1675618"/>
          </a:xfrm>
          <a:prstGeom prst="rect">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pic>
        <p:nvPicPr>
          <p:cNvPr id="30" name="Options screenshot" descr="Options screenshot">    </p:cNvPr>
          <p:cNvPicPr>
            <a:picLocks noChangeAspect="1"/>
          </p:cNvPicPr>
          <p:nvPr/>
        </p:nvPicPr>
        <p:blipFill>
          <a:blip r:embed="rId7"/>
          <a:stretch>
            <a:fillRect/>
          </a:stretch>
        </p:blipFill>
        <p:spPr>
          <a:xfrm>
            <a:off x="8204200" y="2413000"/>
            <a:ext cx="3670300" cy="1637518"/>
          </a:xfrm>
          <a:prstGeom prst="rect">
            <a:avLst/>
          </a:prstGeom>
        </p:spPr>
      </p:pic>
      <p:sp>
        <p:nvSpPr>
          <p:cNvPr id="31" name="Options caption"/>
          <p:cNvSpPr txBox="1"/>
          <p:nvPr/>
        </p:nvSpPr>
        <p:spPr>
          <a:xfrm>
            <a:off x="8204200" y="4139418"/>
            <a:ext cx="3670300" cy="330200"/>
          </a:xfrm>
          <a:prstGeom prst="rect">
            <a:avLst/>
          </a:prstGeom>
          <a:noFill/>
          <a:ln/>
        </p:spPr>
        <p:txBody>
          <a:bodyPr wrap="square" lIns="0" tIns="0" rIns="0" bIns="0" rtlCol="0" anchor="t"/>
          <a:lstStyle/>
          <a:p>
            <a:pPr indent="0" marL="0">
              <a:buNone/>
            </a:pPr>
            <a:r>
              <a:rPr lang="en-US" sz="900" i="1" dirty="0">
                <a:solidFill>
                  <a:srgbClr val="595959"/>
                </a:solidFill>
                <a:latin typeface="Calibri" pitchFamily="34" charset="0"/>
                <a:ea typeface="Calibri" pitchFamily="34" charset="-122"/>
                <a:cs typeface="Calibri" pitchFamily="34" charset="-120"/>
              </a:rPr>
              <a:t>Three valid options side by side. The commander picks how much risk and change to accept.</a:t>
            </a:r>
            <a:endParaRPr lang="en-US" sz="900" dirty="0"/>
          </a:p>
        </p:txBody>
      </p:sp>
      <p:sp>
        <p:nvSpPr>
          <p:cNvPr id="32" name="Label WHO BENEFITS"/>
          <p:cNvSpPr txBox="1"/>
          <p:nvPr/>
        </p:nvSpPr>
        <p:spPr>
          <a:xfrm>
            <a:off x="317500" y="47752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WHO BENEFITS</a:t>
            </a:r>
            <a:endParaRPr lang="en-US" sz="850" dirty="0"/>
          </a:p>
        </p:txBody>
      </p:sp>
      <p:sp>
        <p:nvSpPr>
          <p:cNvPr id="33" name="Benefit card 1"/>
          <p:cNvSpPr/>
          <p:nvPr/>
        </p:nvSpPr>
        <p:spPr>
          <a:xfrm>
            <a:off x="317500" y="4978400"/>
            <a:ext cx="2844800" cy="711200"/>
          </a:xfrm>
          <a:prstGeom prst="roundRect">
            <a:avLst>
              <a:gd name="adj" fmla="val 900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34" name="Benefit icon 1 bg"/>
          <p:cNvSpPr/>
          <p:nvPr/>
        </p:nvSpPr>
        <p:spPr>
          <a:xfrm>
            <a:off x="431800" y="5130800"/>
            <a:ext cx="406400" cy="406400"/>
          </a:xfrm>
          <a:prstGeom prst="ellipse">
            <a:avLst/>
          </a:prstGeom>
          <a:solidFill>
            <a:srgbClr val="1F6FB2">
              <a:alpha val="14000"/>
            </a:srgbClr>
          </a:solidFill>
          <a:ln w="12700">
            <a:solidFill>
              <a:srgbClr val="1F6FB2">
                <a:alpha val="0"/>
              </a:srgbClr>
            </a:solidFill>
            <a:prstDash val="solid"/>
          </a:ln>
        </p:spPr>
      </p:sp>
      <p:pic>
        <p:nvPicPr>
          <p:cNvPr id="35" name="Image 5" descr="Benefit icon 1">    </p:cNvPr>
          <p:cNvPicPr>
            <a:picLocks noChangeAspect="1"/>
          </p:cNvPicPr>
          <p:nvPr/>
        </p:nvPicPr>
        <p:blipFill>
          <a:blip r:embed="rId8"/>
          <a:stretch>
            <a:fillRect/>
          </a:stretch>
        </p:blipFill>
        <p:spPr>
          <a:xfrm>
            <a:off x="533400" y="5232400"/>
            <a:ext cx="203200" cy="203200"/>
          </a:xfrm>
          <a:prstGeom prst="rect">
            <a:avLst/>
          </a:prstGeom>
        </p:spPr>
      </p:pic>
      <p:sp>
        <p:nvSpPr>
          <p:cNvPr id="36" name="Benefit text 1"/>
          <p:cNvSpPr txBox="1"/>
          <p:nvPr/>
        </p:nvSpPr>
        <p:spPr>
          <a:xfrm>
            <a:off x="939800" y="4978400"/>
            <a:ext cx="2159000" cy="711200"/>
          </a:xfrm>
          <a:prstGeom prst="rect">
            <a:avLst/>
          </a:prstGeom>
          <a:noFill/>
          <a:ln/>
        </p:spPr>
        <p:txBody>
          <a:bodyPr wrap="square" lIns="0" tIns="0" rIns="0" bIns="0"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Air operations planners</a:t>
            </a:r>
            <a:endParaRPr lang="en-US" sz="1000" dirty="0"/>
          </a:p>
          <a:p>
            <a:pPr indent="0" marL="0">
              <a:buNone/>
            </a:pPr>
            <a:r>
              <a:rPr lang="en-US" sz="880" dirty="0">
                <a:solidFill>
                  <a:srgbClr val="1A1A1A"/>
                </a:solidFill>
                <a:latin typeface="Calibri" pitchFamily="34" charset="0"/>
                <a:ea typeface="Calibri" pitchFamily="34" charset="-122"/>
                <a:cs typeface="Calibri" pitchFamily="34" charset="-120"/>
              </a:rPr>
              <a:t>Re-planning becomes a sub-second computation plus one decision.</a:t>
            </a:r>
            <a:endParaRPr lang="en-US" sz="1000" dirty="0"/>
          </a:p>
        </p:txBody>
      </p:sp>
      <p:sp>
        <p:nvSpPr>
          <p:cNvPr id="37" name="Benefit card 2"/>
          <p:cNvSpPr/>
          <p:nvPr/>
        </p:nvSpPr>
        <p:spPr>
          <a:xfrm>
            <a:off x="3263900" y="4978400"/>
            <a:ext cx="2844800" cy="711200"/>
          </a:xfrm>
          <a:prstGeom prst="roundRect">
            <a:avLst>
              <a:gd name="adj" fmla="val 900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38" name="Benefit icon 2 bg"/>
          <p:cNvSpPr/>
          <p:nvPr/>
        </p:nvSpPr>
        <p:spPr>
          <a:xfrm>
            <a:off x="3378200" y="5130800"/>
            <a:ext cx="406400" cy="406400"/>
          </a:xfrm>
          <a:prstGeom prst="ellipse">
            <a:avLst/>
          </a:prstGeom>
          <a:solidFill>
            <a:srgbClr val="8A5CD0">
              <a:alpha val="14000"/>
            </a:srgbClr>
          </a:solidFill>
          <a:ln w="12700">
            <a:solidFill>
              <a:srgbClr val="8A5CD0">
                <a:alpha val="0"/>
              </a:srgbClr>
            </a:solidFill>
            <a:prstDash val="solid"/>
          </a:ln>
        </p:spPr>
      </p:sp>
      <p:pic>
        <p:nvPicPr>
          <p:cNvPr id="39" name="Image 6" descr="Benefit icon 2">    </p:cNvPr>
          <p:cNvPicPr>
            <a:picLocks noChangeAspect="1"/>
          </p:cNvPicPr>
          <p:nvPr/>
        </p:nvPicPr>
        <p:blipFill>
          <a:blip r:embed="rId9"/>
          <a:stretch>
            <a:fillRect/>
          </a:stretch>
        </p:blipFill>
        <p:spPr>
          <a:xfrm>
            <a:off x="3479800" y="5232400"/>
            <a:ext cx="203200" cy="203200"/>
          </a:xfrm>
          <a:prstGeom prst="rect">
            <a:avLst/>
          </a:prstGeom>
        </p:spPr>
      </p:pic>
      <p:sp>
        <p:nvSpPr>
          <p:cNvPr id="40" name="Benefit text 2"/>
          <p:cNvSpPr txBox="1"/>
          <p:nvPr/>
        </p:nvSpPr>
        <p:spPr>
          <a:xfrm>
            <a:off x="3886200" y="4978400"/>
            <a:ext cx="2159000" cy="711200"/>
          </a:xfrm>
          <a:prstGeom prst="rect">
            <a:avLst/>
          </a:prstGeom>
          <a:noFill/>
          <a:ln/>
        </p:spPr>
        <p:txBody>
          <a:bodyPr wrap="square" lIns="0" tIns="0" rIns="0" bIns="0"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Commanders</a:t>
            </a:r>
            <a:endParaRPr lang="en-US" sz="1000" dirty="0"/>
          </a:p>
          <a:p>
            <a:pPr indent="0" marL="0">
              <a:buNone/>
            </a:pPr>
            <a:r>
              <a:rPr lang="en-US" sz="880" dirty="0">
                <a:solidFill>
                  <a:srgbClr val="1A1A1A"/>
                </a:solidFill>
                <a:latin typeface="Calibri" pitchFamily="34" charset="0"/>
                <a:ea typeface="Calibri" pitchFamily="34" charset="-122"/>
                <a:cs typeface="Calibri" pitchFamily="34" charset="-120"/>
              </a:rPr>
              <a:t>Complete options with coverage, risk and change counts.</a:t>
            </a:r>
            <a:endParaRPr lang="en-US" sz="1000" dirty="0"/>
          </a:p>
        </p:txBody>
      </p:sp>
      <p:sp>
        <p:nvSpPr>
          <p:cNvPr id="41" name="Benefit card 3"/>
          <p:cNvSpPr/>
          <p:nvPr/>
        </p:nvSpPr>
        <p:spPr>
          <a:xfrm>
            <a:off x="317500" y="5791200"/>
            <a:ext cx="2844800" cy="711200"/>
          </a:xfrm>
          <a:prstGeom prst="roundRect">
            <a:avLst>
              <a:gd name="adj" fmla="val 900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42" name="Benefit icon 3 bg"/>
          <p:cNvSpPr/>
          <p:nvPr/>
        </p:nvSpPr>
        <p:spPr>
          <a:xfrm>
            <a:off x="431800" y="5943600"/>
            <a:ext cx="406400" cy="406400"/>
          </a:xfrm>
          <a:prstGeom prst="ellipse">
            <a:avLst/>
          </a:prstGeom>
          <a:solidFill>
            <a:srgbClr val="1F9D8A">
              <a:alpha val="14000"/>
            </a:srgbClr>
          </a:solidFill>
          <a:ln w="12700">
            <a:solidFill>
              <a:srgbClr val="1F9D8A">
                <a:alpha val="0"/>
              </a:srgbClr>
            </a:solidFill>
            <a:prstDash val="solid"/>
          </a:ln>
        </p:spPr>
      </p:sp>
      <p:pic>
        <p:nvPicPr>
          <p:cNvPr id="43" name="Image 7" descr="Benefit icon 3">    </p:cNvPr>
          <p:cNvPicPr>
            <a:picLocks noChangeAspect="1"/>
          </p:cNvPicPr>
          <p:nvPr/>
        </p:nvPicPr>
        <p:blipFill>
          <a:blip r:embed="rId10"/>
          <a:stretch>
            <a:fillRect/>
          </a:stretch>
        </p:blipFill>
        <p:spPr>
          <a:xfrm>
            <a:off x="533400" y="6045200"/>
            <a:ext cx="203200" cy="203200"/>
          </a:xfrm>
          <a:prstGeom prst="rect">
            <a:avLst/>
          </a:prstGeom>
        </p:spPr>
      </p:pic>
      <p:sp>
        <p:nvSpPr>
          <p:cNvPr id="44" name="Benefit text 3"/>
          <p:cNvSpPr txBox="1"/>
          <p:nvPr/>
        </p:nvSpPr>
        <p:spPr>
          <a:xfrm>
            <a:off x="939800" y="5791200"/>
            <a:ext cx="2159000" cy="711200"/>
          </a:xfrm>
          <a:prstGeom prst="rect">
            <a:avLst/>
          </a:prstGeom>
          <a:noFill/>
          <a:ln/>
        </p:spPr>
        <p:txBody>
          <a:bodyPr wrap="square" lIns="0" tIns="0" rIns="0" bIns="0"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Maintenance and logistics</a:t>
            </a:r>
            <a:endParaRPr lang="en-US" sz="1000" dirty="0"/>
          </a:p>
          <a:p>
            <a:pPr indent="0" marL="0">
              <a:buNone/>
            </a:pPr>
            <a:r>
              <a:rPr lang="en-US" sz="880" dirty="0">
                <a:solidFill>
                  <a:srgbClr val="1A1A1A"/>
                </a:solidFill>
                <a:latin typeface="Calibri" pitchFamily="34" charset="0"/>
                <a:ea typeface="Calibri" pitchFamily="34" charset="-122"/>
                <a:cs typeface="Calibri" pitchFamily="34" charset="-120"/>
              </a:rPr>
              <a:t>Sorties matched to aircraft health and weapon stock per base.</a:t>
            </a:r>
            <a:endParaRPr lang="en-US" sz="1000" dirty="0"/>
          </a:p>
        </p:txBody>
      </p:sp>
      <p:sp>
        <p:nvSpPr>
          <p:cNvPr id="45" name="Benefit card 4"/>
          <p:cNvSpPr/>
          <p:nvPr/>
        </p:nvSpPr>
        <p:spPr>
          <a:xfrm>
            <a:off x="3263900" y="5791200"/>
            <a:ext cx="2844800" cy="711200"/>
          </a:xfrm>
          <a:prstGeom prst="roundRect">
            <a:avLst>
              <a:gd name="adj" fmla="val 9000"/>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46" name="Benefit icon 4 bg"/>
          <p:cNvSpPr/>
          <p:nvPr/>
        </p:nvSpPr>
        <p:spPr>
          <a:xfrm>
            <a:off x="3378200" y="5943600"/>
            <a:ext cx="406400" cy="406400"/>
          </a:xfrm>
          <a:prstGeom prst="ellipse">
            <a:avLst/>
          </a:prstGeom>
          <a:solidFill>
            <a:srgbClr val="C8504B">
              <a:alpha val="14000"/>
            </a:srgbClr>
          </a:solidFill>
          <a:ln w="12700">
            <a:solidFill>
              <a:srgbClr val="C8504B">
                <a:alpha val="0"/>
              </a:srgbClr>
            </a:solidFill>
            <a:prstDash val="solid"/>
          </a:ln>
        </p:spPr>
      </p:sp>
      <p:pic>
        <p:nvPicPr>
          <p:cNvPr id="47" name="Image 8" descr="Benefit icon 4">    </p:cNvPr>
          <p:cNvPicPr>
            <a:picLocks noChangeAspect="1"/>
          </p:cNvPicPr>
          <p:nvPr/>
        </p:nvPicPr>
        <p:blipFill>
          <a:blip r:embed="rId11"/>
          <a:stretch>
            <a:fillRect/>
          </a:stretch>
        </p:blipFill>
        <p:spPr>
          <a:xfrm>
            <a:off x="3479800" y="6045200"/>
            <a:ext cx="203200" cy="203200"/>
          </a:xfrm>
          <a:prstGeom prst="rect">
            <a:avLst/>
          </a:prstGeom>
        </p:spPr>
      </p:pic>
      <p:sp>
        <p:nvSpPr>
          <p:cNvPr id="48" name="Benefit text 4"/>
          <p:cNvSpPr txBox="1"/>
          <p:nvPr/>
        </p:nvSpPr>
        <p:spPr>
          <a:xfrm>
            <a:off x="3886200" y="5791200"/>
            <a:ext cx="2159000" cy="711200"/>
          </a:xfrm>
          <a:prstGeom prst="rect">
            <a:avLst/>
          </a:prstGeom>
          <a:noFill/>
          <a:ln/>
        </p:spPr>
        <p:txBody>
          <a:bodyPr wrap="square" lIns="0" tIns="0" rIns="0" bIns="0" rtlCol="0" anchor="ctr"/>
          <a:lstStyle/>
          <a:p>
            <a:pPr indent="0" marL="0">
              <a:buNone/>
            </a:pPr>
            <a:r>
              <a:rPr lang="en-US" sz="1000" b="1" dirty="0">
                <a:solidFill>
                  <a:srgbClr val="1F3864"/>
                </a:solidFill>
                <a:latin typeface="Calibri" pitchFamily="34" charset="0"/>
                <a:ea typeface="Calibri" pitchFamily="34" charset="-122"/>
                <a:cs typeface="Calibri" pitchFamily="34" charset="-120"/>
              </a:rPr>
              <a:t>Aircrew</a:t>
            </a:r>
            <a:endParaRPr lang="en-US" sz="1000" dirty="0"/>
          </a:p>
          <a:p>
            <a:pPr indent="0" marL="0">
              <a:buNone/>
            </a:pPr>
            <a:r>
              <a:rPr lang="en-US" sz="880" dirty="0">
                <a:solidFill>
                  <a:srgbClr val="1A1A1A"/>
                </a:solidFill>
                <a:latin typeface="Calibri" pitchFamily="34" charset="0"/>
                <a:ea typeface="Calibri" pitchFamily="34" charset="-122"/>
                <a:cs typeface="Calibri" pitchFamily="34" charset="-120"/>
              </a:rPr>
              <a:t>26% lower average threat exposure per sortie in tests.</a:t>
            </a:r>
            <a:endParaRPr lang="en-US" sz="1000" dirty="0"/>
          </a:p>
        </p:txBody>
      </p:sp>
      <p:sp>
        <p:nvSpPr>
          <p:cNvPr id="49" name="Label STRATEGIC IMPACT"/>
          <p:cNvSpPr txBox="1"/>
          <p:nvPr/>
        </p:nvSpPr>
        <p:spPr>
          <a:xfrm>
            <a:off x="6350000" y="47752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STRATEGIC IMPACT</a:t>
            </a:r>
            <a:endParaRPr lang="en-US" sz="850" dirty="0"/>
          </a:p>
        </p:txBody>
      </p:sp>
      <p:sp>
        <p:nvSpPr>
          <p:cNvPr id="50" name="Timeline screenshot frame"/>
          <p:cNvSpPr/>
          <p:nvPr/>
        </p:nvSpPr>
        <p:spPr>
          <a:xfrm>
            <a:off x="6330950" y="4959350"/>
            <a:ext cx="2832100" cy="1378988"/>
          </a:xfrm>
          <a:prstGeom prst="rect">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pic>
        <p:nvPicPr>
          <p:cNvPr id="51" name="Timeline screenshot" descr="Timeline screenshot">    </p:cNvPr>
          <p:cNvPicPr>
            <a:picLocks noChangeAspect="1"/>
          </p:cNvPicPr>
          <p:nvPr/>
        </p:nvPicPr>
        <p:blipFill>
          <a:blip r:embed="rId12"/>
          <a:stretch>
            <a:fillRect/>
          </a:stretch>
        </p:blipFill>
        <p:spPr>
          <a:xfrm>
            <a:off x="6350000" y="4978400"/>
            <a:ext cx="2794000" cy="1340888"/>
          </a:xfrm>
          <a:prstGeom prst="rect">
            <a:avLst/>
          </a:prstGeom>
        </p:spPr>
      </p:pic>
      <p:sp>
        <p:nvSpPr>
          <p:cNvPr id="52" name="Strategic text"/>
          <p:cNvSpPr txBox="1"/>
          <p:nvPr/>
        </p:nvSpPr>
        <p:spPr>
          <a:xfrm>
            <a:off x="9296400" y="4978400"/>
            <a:ext cx="2578100" cy="1422400"/>
          </a:xfrm>
          <a:prstGeom prst="rect">
            <a:avLst/>
          </a:prstGeom>
          <a:noFill/>
          <a:ln/>
        </p:spPr>
        <p:txBody>
          <a:bodyPr wrap="square" lIns="0" tIns="0" rIns="0" bIns="0" rtlCol="0" anchor="t"/>
          <a:lstStyle/>
          <a:p>
            <a:pPr marL="127000" indent="-127000">
              <a:spcAft>
                <a:spcPts val="400"/>
              </a:spcAft>
              <a:buSzPct val="100000"/>
              <a:buChar char="●"/>
            </a:pPr>
            <a:r>
              <a:rPr lang="en-US" sz="920" b="1" dirty="0">
                <a:solidFill>
                  <a:srgbClr val="1F3864"/>
                </a:solidFill>
                <a:latin typeface="Calibri" pitchFamily="34" charset="0"/>
                <a:ea typeface="Calibri" pitchFamily="34" charset="-122"/>
                <a:cs typeface="Calibri" pitchFamily="34" charset="-120"/>
              </a:rPr>
              <a:t>Fits a stated need: </a:t>
            </a:r>
            <a:r>
              <a:rPr lang="en-US" sz="920" dirty="0">
                <a:solidFill>
                  <a:srgbClr val="1A1A1A"/>
                </a:solidFill>
                <a:latin typeface="Calibri" pitchFamily="34" charset="0"/>
                <a:ea typeface="Calibri" pitchFamily="34" charset="-122"/>
                <a:cs typeface="Calibri" pitchFamily="34" charset="-120"/>
              </a:rPr>
              <a:t>the IAF plans AI decision support for air battle managers on IACCS (IDRW, 2025).</a:t>
            </a:r>
            <a:endParaRPr lang="en-US" sz="920" dirty="0"/>
          </a:p>
          <a:p>
            <a:pPr marL="127000" indent="-127000">
              <a:spcAft>
                <a:spcPts val="400"/>
              </a:spcAft>
              <a:buSzPct val="100000"/>
              <a:buChar char="●"/>
            </a:pPr>
            <a:r>
              <a:rPr lang="en-US" sz="920" b="1" dirty="0">
                <a:solidFill>
                  <a:srgbClr val="1F3864"/>
                </a:solidFill>
                <a:latin typeface="Calibri" pitchFamily="34" charset="0"/>
                <a:ea typeface="Calibri" pitchFamily="34" charset="-122"/>
                <a:cs typeface="Calibri" pitchFamily="34" charset="-120"/>
              </a:rPr>
              <a:t>Indigenous and open: </a:t>
            </a:r>
            <a:r>
              <a:rPr lang="en-US" sz="920" dirty="0">
                <a:solidFill>
                  <a:srgbClr val="1A1A1A"/>
                </a:solidFill>
                <a:latin typeface="Calibri" pitchFamily="34" charset="0"/>
                <a:ea typeface="Calibri" pitchFamily="34" charset="-122"/>
                <a:cs typeface="Calibri" pitchFamily="34" charset="-120"/>
              </a:rPr>
              <a:t>no foreign licence; runs on-premise or offline.</a:t>
            </a:r>
            <a:endParaRPr lang="en-US" sz="920" dirty="0"/>
          </a:p>
          <a:p>
            <a:pPr marL="127000" indent="-127000">
              <a:spcAft>
                <a:spcPts val="400"/>
              </a:spcAft>
              <a:buSzPct val="100000"/>
              <a:buChar char="●"/>
            </a:pPr>
            <a:r>
              <a:rPr lang="en-US" sz="920" b="1" dirty="0">
                <a:solidFill>
                  <a:srgbClr val="1F3864"/>
                </a:solidFill>
                <a:latin typeface="Calibri" pitchFamily="34" charset="0"/>
                <a:ea typeface="Calibri" pitchFamily="34" charset="-122"/>
                <a:cs typeface="Calibri" pitchFamily="34" charset="-120"/>
              </a:rPr>
              <a:t>Reusable: </a:t>
            </a:r>
            <a:r>
              <a:rPr lang="en-US" sz="920" dirty="0">
                <a:solidFill>
                  <a:srgbClr val="1A1A1A"/>
                </a:solidFill>
                <a:latin typeface="Calibri" pitchFamily="34" charset="0"/>
                <a:ea typeface="Calibri" pitchFamily="34" charset="-122"/>
                <a:cs typeface="Calibri" pitchFamily="34" charset="-120"/>
              </a:rPr>
              <a:t>the same engine plans airlift, tanker and relief sorties.</a:t>
            </a:r>
            <a:endParaRPr lang="en-US" sz="920" dirty="0"/>
          </a:p>
        </p:txBody>
      </p:sp>
      <p:sp>
        <p:nvSpPr>
          <p:cNvPr id="53" name="Method note"/>
          <p:cNvSpPr txBox="1"/>
          <p:nvPr/>
        </p:nvSpPr>
        <p:spPr>
          <a:xfrm>
            <a:off x="6350000" y="6382788"/>
            <a:ext cx="5524500" cy="254000"/>
          </a:xfrm>
          <a:prstGeom prst="rect">
            <a:avLst/>
          </a:prstGeom>
          <a:noFill/>
          <a:ln/>
        </p:spPr>
        <p:txBody>
          <a:bodyPr wrap="square" lIns="0" tIns="0" rIns="0" bIns="0" rtlCol="0" anchor="t"/>
          <a:lstStyle/>
          <a:p>
            <a:pPr indent="0" marL="0">
              <a:buNone/>
            </a:pPr>
            <a:r>
              <a:rPr lang="en-US" sz="720" i="1" dirty="0">
                <a:solidFill>
                  <a:srgbClr val="595959"/>
                </a:solidFill>
                <a:latin typeface="Calibri" pitchFamily="34" charset="0"/>
                <a:ea typeface="Calibri" pitchFamily="34" charset="-122"/>
                <a:cs typeface="Calibri" pitchFamily="34" charset="-120"/>
              </a:rPr>
              <a:t>Prototype results on synthetic scenarios (20 scenarios; 4-event chain, exact engine). Baseline: a priority-first sequential planner standing in for manual planning.</a:t>
            </a:r>
            <a:endParaRPr lang="en-US" sz="720" dirty="0"/>
          </a:p>
        </p:txBody>
      </p:sp>
      <p:sp>
        <p:nvSpPr>
          <p:cNvPr id="25" name="Slide Number Placeholder 0"/>
          <p:cNvSpPr>
            <a:spLocks noGrp="1"/>
          </p:cNvSpPr>
          <p:nvPr>
            <p:ph type="sldNum" sz="quarter" idx="4294967295"/>
          </p:nvPr>
        </p:nvSpPr>
        <p:spPr>
          <a:xfrm>
            <a:off x="11379200" y="6502400"/>
            <a:ext cx="5588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9595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1905000" y="177800"/>
            <a:ext cx="8280400" cy="685800"/>
          </a:xfrm>
          <a:prstGeom prst="rect">
            <a:avLst/>
          </a:prstGeom>
          <a:noFill/>
          <a:ln/>
        </p:spPr>
        <p:txBody>
          <a:bodyPr wrap="square" lIns="0" tIns="0" rIns="0" bIns="0" rtlCol="0" anchor="ctr"/>
          <a:lstStyle/>
          <a:p>
            <a:pPr algn="ctr" indent="0" marL="0">
              <a:buNone/>
            </a:pPr>
            <a:r>
              <a:rPr lang="en-US" sz="2600" b="1" dirty="0">
                <a:solidFill>
                  <a:srgbClr val="1F3864"/>
                </a:solidFill>
                <a:latin typeface="Cambria" pitchFamily="34" charset="0"/>
                <a:ea typeface="Cambria" pitchFamily="34" charset="-122"/>
                <a:cs typeface="Cambria" pitchFamily="34" charset="-120"/>
              </a:rPr>
              <a:t>RESEARCH AND REFERENCES</a:t>
            </a:r>
            <a:endParaRPr lang="en-US" sz="2600" dirty="0"/>
          </a:p>
        </p:txBody>
      </p:sp>
      <p:sp>
        <p:nvSpPr>
          <p:cNvPr id="3" name="Label HOW THE RESEARCH SHAPED THE DESIGN"/>
          <p:cNvSpPr txBox="1"/>
          <p:nvPr/>
        </p:nvSpPr>
        <p:spPr>
          <a:xfrm>
            <a:off x="317500" y="1117600"/>
            <a:ext cx="3810000" cy="165100"/>
          </a:xfrm>
          <a:prstGeom prst="rect">
            <a:avLst/>
          </a:prstGeom>
          <a:noFill/>
          <a:ln/>
        </p:spPr>
        <p:txBody>
          <a:bodyPr wrap="square" lIns="0" tIns="0" rIns="0" bIns="0" rtlCol="0" anchor="t"/>
          <a:lstStyle/>
          <a:p>
            <a:pPr indent="0" marL="0">
              <a:buNone/>
            </a:pPr>
            <a:r>
              <a:rPr lang="en-US" sz="850" b="1" spc="120" kern="0" dirty="0">
                <a:solidFill>
                  <a:srgbClr val="1F6FB2"/>
                </a:solidFill>
                <a:latin typeface="Calibri" pitchFamily="34" charset="0"/>
                <a:ea typeface="Calibri" pitchFamily="34" charset="-122"/>
                <a:cs typeface="Calibri" pitchFamily="34" charset="-120"/>
              </a:rPr>
              <a:t>HOW THE RESEARCH SHAPED THE DESIGN</a:t>
            </a:r>
            <a:endParaRPr lang="en-US" sz="850" dirty="0"/>
          </a:p>
        </p:txBody>
      </p:sp>
      <p:sp>
        <p:nvSpPr>
          <p:cNvPr id="4" name="Design tile Problem"/>
          <p:cNvSpPr/>
          <p:nvPr/>
        </p:nvSpPr>
        <p:spPr>
          <a:xfrm>
            <a:off x="317500" y="1320800"/>
            <a:ext cx="1854200" cy="914400"/>
          </a:xfrm>
          <a:prstGeom prst="roundRect">
            <a:avLst>
              <a:gd name="adj" fmla="val 7000"/>
            </a:avLst>
          </a:prstGeom>
          <a:solidFill>
            <a:srgbClr val="C8504B">
              <a:alpha val="9000"/>
            </a:srgbClr>
          </a:solidFill>
          <a:ln w="9525">
            <a:solidFill>
              <a:srgbClr val="C8504B">
                <a:alpha val="55000"/>
              </a:srgbClr>
            </a:solidFill>
            <a:prstDash val="solid"/>
          </a:ln>
        </p:spPr>
      </p:sp>
      <p:sp>
        <p:nvSpPr>
          <p:cNvPr id="5" name="Design text Problem"/>
          <p:cNvSpPr txBox="1"/>
          <p:nvPr/>
        </p:nvSpPr>
        <p:spPr>
          <a:xfrm>
            <a:off x="419100" y="1320800"/>
            <a:ext cx="1676400" cy="914400"/>
          </a:xfrm>
          <a:prstGeom prst="rect">
            <a:avLst/>
          </a:prstGeom>
          <a:noFill/>
          <a:ln/>
        </p:spPr>
        <p:txBody>
          <a:bodyPr wrap="square" lIns="0" tIns="0" rIns="0" bIns="0" rtlCol="0" anchor="ctr"/>
          <a:lstStyle/>
          <a:p>
            <a:pPr indent="0" marL="0">
              <a:buNone/>
            </a:pPr>
            <a:r>
              <a:rPr lang="en-US" sz="1100" b="1" dirty="0">
                <a:solidFill>
                  <a:srgbClr val="C8504B"/>
                </a:solidFill>
                <a:latin typeface="Calibri" pitchFamily="34" charset="0"/>
                <a:ea typeface="Calibri" pitchFamily="34" charset="-122"/>
                <a:cs typeface="Calibri" pitchFamily="34" charset="-120"/>
              </a:rPr>
              <a:t>Problem</a:t>
            </a:r>
            <a:endParaRPr lang="en-US" sz="1100" dirty="0"/>
          </a:p>
          <a:p>
            <a:pPr indent="0" marL="0">
              <a:buNone/>
            </a:pPr>
            <a:r>
              <a:rPr lang="en-US" sz="880" dirty="0">
                <a:solidFill>
                  <a:srgbClr val="1A1A1A"/>
                </a:solidFill>
                <a:latin typeface="Calibri" pitchFamily="34" charset="0"/>
                <a:ea typeface="Calibri" pitchFamily="34" charset="-122"/>
                <a:cs typeface="Calibri" pitchFamily="34" charset="-120"/>
              </a:rPr>
              <a:t>A 72–96 hour cycle, manual steps, a stated IAF need</a:t>
            </a:r>
            <a:endParaRPr lang="en-US" sz="1100" dirty="0"/>
          </a:p>
          <a:p>
            <a:pPr indent="0" marL="0">
              <a:buNone/>
            </a:pPr>
            <a:r>
              <a:rPr lang="en-US" sz="800" i="1" dirty="0">
                <a:solidFill>
                  <a:srgbClr val="595959"/>
                </a:solidFill>
                <a:latin typeface="Calibri" pitchFamily="34" charset="0"/>
                <a:ea typeface="Calibri" pitchFamily="34" charset="-122"/>
                <a:cs typeface="Calibri" pitchFamily="34" charset="-120"/>
              </a:rPr>
              <a:t>CALL · RAND · USAF · IDRW</a:t>
            </a:r>
            <a:endParaRPr lang="en-US" sz="1100" dirty="0"/>
          </a:p>
        </p:txBody>
      </p:sp>
      <p:sp>
        <p:nvSpPr>
          <p:cNvPr id="6" name="Design arrow 1"/>
          <p:cNvSpPr/>
          <p:nvPr/>
        </p:nvSpPr>
        <p:spPr>
          <a:xfrm>
            <a:off x="2178050" y="1778000"/>
            <a:ext cx="69850" cy="0"/>
          </a:xfrm>
          <a:prstGeom prst="line">
            <a:avLst/>
          </a:prstGeom>
          <a:noFill/>
          <a:ln w="15875">
            <a:solidFill>
              <a:srgbClr val="7F93AD"/>
            </a:solidFill>
            <a:prstDash val="solid"/>
            <a:tailEnd type="triangle"/>
          </a:ln>
        </p:spPr>
      </p:sp>
      <p:sp>
        <p:nvSpPr>
          <p:cNvPr id="7" name="Design tile Predict"/>
          <p:cNvSpPr/>
          <p:nvPr/>
        </p:nvSpPr>
        <p:spPr>
          <a:xfrm>
            <a:off x="2254250" y="1320800"/>
            <a:ext cx="1854200" cy="914400"/>
          </a:xfrm>
          <a:prstGeom prst="roundRect">
            <a:avLst>
              <a:gd name="adj" fmla="val 7000"/>
            </a:avLst>
          </a:prstGeom>
          <a:solidFill>
            <a:srgbClr val="1F9D8A">
              <a:alpha val="9000"/>
            </a:srgbClr>
          </a:solidFill>
          <a:ln w="9525">
            <a:solidFill>
              <a:srgbClr val="1F9D8A">
                <a:alpha val="55000"/>
              </a:srgbClr>
            </a:solidFill>
            <a:prstDash val="solid"/>
          </a:ln>
        </p:spPr>
      </p:sp>
      <p:sp>
        <p:nvSpPr>
          <p:cNvPr id="8" name="Design text Predict"/>
          <p:cNvSpPr txBox="1"/>
          <p:nvPr/>
        </p:nvSpPr>
        <p:spPr>
          <a:xfrm>
            <a:off x="2355850" y="1320800"/>
            <a:ext cx="1676400" cy="914400"/>
          </a:xfrm>
          <a:prstGeom prst="rect">
            <a:avLst/>
          </a:prstGeom>
          <a:noFill/>
          <a:ln/>
        </p:spPr>
        <p:txBody>
          <a:bodyPr wrap="square" lIns="0" tIns="0" rIns="0" bIns="0" rtlCol="0" anchor="ctr"/>
          <a:lstStyle/>
          <a:p>
            <a:pPr indent="0" marL="0">
              <a:buNone/>
            </a:pPr>
            <a:r>
              <a:rPr lang="en-US" sz="1100" b="1" dirty="0">
                <a:solidFill>
                  <a:srgbClr val="1F9D8A"/>
                </a:solidFill>
                <a:latin typeface="Calibri" pitchFamily="34" charset="0"/>
                <a:ea typeface="Calibri" pitchFamily="34" charset="-122"/>
                <a:cs typeface="Calibri" pitchFamily="34" charset="-120"/>
              </a:rPr>
              <a:t>Predict</a:t>
            </a:r>
            <a:endParaRPr lang="en-US" sz="1100" dirty="0"/>
          </a:p>
          <a:p>
            <a:pPr indent="0" marL="0">
              <a:buNone/>
            </a:pPr>
            <a:r>
              <a:rPr lang="en-US" sz="880" dirty="0">
                <a:solidFill>
                  <a:srgbClr val="1A1A1A"/>
                </a:solidFill>
                <a:latin typeface="Calibri" pitchFamily="34" charset="0"/>
                <a:ea typeface="Calibri" pitchFamily="34" charset="-122"/>
                <a:cs typeface="Calibri" pitchFamily="34" charset="-120"/>
              </a:rPr>
              <a:t>Plan maintenance and missions together</a:t>
            </a:r>
            <a:endParaRPr lang="en-US" sz="1100" dirty="0"/>
          </a:p>
          <a:p>
            <a:pPr indent="0" marL="0">
              <a:buNone/>
            </a:pPr>
            <a:r>
              <a:rPr lang="en-US" sz="800" i="1" dirty="0">
                <a:solidFill>
                  <a:srgbClr val="595959"/>
                </a:solidFill>
                <a:latin typeface="Calibri" pitchFamily="34" charset="0"/>
                <a:ea typeface="Calibri" pitchFamily="34" charset="-122"/>
                <a:cs typeface="Calibri" pitchFamily="34" charset="-120"/>
              </a:rPr>
              <a:t>O'Neil 2025</a:t>
            </a:r>
            <a:endParaRPr lang="en-US" sz="1100" dirty="0"/>
          </a:p>
        </p:txBody>
      </p:sp>
      <p:sp>
        <p:nvSpPr>
          <p:cNvPr id="9" name="Design arrow 2"/>
          <p:cNvSpPr/>
          <p:nvPr/>
        </p:nvSpPr>
        <p:spPr>
          <a:xfrm>
            <a:off x="4114800" y="1778000"/>
            <a:ext cx="69850" cy="0"/>
          </a:xfrm>
          <a:prstGeom prst="line">
            <a:avLst/>
          </a:prstGeom>
          <a:noFill/>
          <a:ln w="15875">
            <a:solidFill>
              <a:srgbClr val="7F93AD"/>
            </a:solidFill>
            <a:prstDash val="solid"/>
            <a:tailEnd type="triangle"/>
          </a:ln>
        </p:spPr>
      </p:sp>
      <p:sp>
        <p:nvSpPr>
          <p:cNvPr id="10" name="Design tile Optimise"/>
          <p:cNvSpPr/>
          <p:nvPr/>
        </p:nvSpPr>
        <p:spPr>
          <a:xfrm>
            <a:off x="4191000" y="1320800"/>
            <a:ext cx="1854200" cy="914400"/>
          </a:xfrm>
          <a:prstGeom prst="roundRect">
            <a:avLst>
              <a:gd name="adj" fmla="val 7000"/>
            </a:avLst>
          </a:prstGeom>
          <a:solidFill>
            <a:srgbClr val="E07A1F">
              <a:alpha val="9000"/>
            </a:srgbClr>
          </a:solidFill>
          <a:ln w="9525">
            <a:solidFill>
              <a:srgbClr val="E07A1F">
                <a:alpha val="55000"/>
              </a:srgbClr>
            </a:solidFill>
            <a:prstDash val="solid"/>
          </a:ln>
        </p:spPr>
      </p:sp>
      <p:sp>
        <p:nvSpPr>
          <p:cNvPr id="11" name="Design text Optimise"/>
          <p:cNvSpPr txBox="1"/>
          <p:nvPr/>
        </p:nvSpPr>
        <p:spPr>
          <a:xfrm>
            <a:off x="4292600" y="1320800"/>
            <a:ext cx="1676400" cy="914400"/>
          </a:xfrm>
          <a:prstGeom prst="rect">
            <a:avLst/>
          </a:prstGeom>
          <a:noFill/>
          <a:ln/>
        </p:spPr>
        <p:txBody>
          <a:bodyPr wrap="square" lIns="0" tIns="0" rIns="0" bIns="0" rtlCol="0" anchor="ctr"/>
          <a:lstStyle/>
          <a:p>
            <a:pPr indent="0" marL="0">
              <a:buNone/>
            </a:pPr>
            <a:r>
              <a:rPr lang="en-US" sz="1100" b="1" dirty="0">
                <a:solidFill>
                  <a:srgbClr val="E07A1F"/>
                </a:solidFill>
                <a:latin typeface="Calibri" pitchFamily="34" charset="0"/>
                <a:ea typeface="Calibri" pitchFamily="34" charset="-122"/>
                <a:cs typeface="Calibri" pitchFamily="34" charset="-120"/>
              </a:rPr>
              <a:t>Optimise</a:t>
            </a:r>
            <a:endParaRPr lang="en-US" sz="1100" dirty="0"/>
          </a:p>
          <a:p>
            <a:pPr indent="0" marL="0">
              <a:buNone/>
            </a:pPr>
            <a:r>
              <a:rPr lang="en-US" sz="880" dirty="0">
                <a:solidFill>
                  <a:srgbClr val="1A1A1A"/>
                </a:solidFill>
                <a:latin typeface="Calibri" pitchFamily="34" charset="0"/>
                <a:ea typeface="Calibri" pitchFamily="34" charset="-122"/>
                <a:cs typeface="Calibri" pitchFamily="34" charset="-120"/>
              </a:rPr>
              <a:t>Exact model plus adaptive search; runway limits</a:t>
            </a:r>
            <a:endParaRPr lang="en-US" sz="1100" dirty="0"/>
          </a:p>
          <a:p>
            <a:pPr indent="0" marL="0">
              <a:buNone/>
            </a:pPr>
            <a:r>
              <a:rPr lang="en-US" sz="800" i="1" dirty="0">
                <a:solidFill>
                  <a:srgbClr val="595959"/>
                </a:solidFill>
                <a:latin typeface="Calibri" pitchFamily="34" charset="0"/>
                <a:ea typeface="Calibri" pitchFamily="34" charset="-122"/>
                <a:cs typeface="Calibri" pitchFamily="34" charset="-120"/>
              </a:rPr>
              <a:t>Li 2024 · Ropke 2006 · Meng 2022</a:t>
            </a:r>
            <a:endParaRPr lang="en-US" sz="1100" dirty="0"/>
          </a:p>
        </p:txBody>
      </p:sp>
      <p:sp>
        <p:nvSpPr>
          <p:cNvPr id="12" name="Design arrow 3"/>
          <p:cNvSpPr/>
          <p:nvPr/>
        </p:nvSpPr>
        <p:spPr>
          <a:xfrm>
            <a:off x="6051550" y="1778000"/>
            <a:ext cx="69850" cy="0"/>
          </a:xfrm>
          <a:prstGeom prst="line">
            <a:avLst/>
          </a:prstGeom>
          <a:noFill/>
          <a:ln w="15875">
            <a:solidFill>
              <a:srgbClr val="7F93AD"/>
            </a:solidFill>
            <a:prstDash val="solid"/>
            <a:tailEnd type="triangle"/>
          </a:ln>
        </p:spPr>
      </p:sp>
      <p:sp>
        <p:nvSpPr>
          <p:cNvPr id="13" name="Design tile Re-plan"/>
          <p:cNvSpPr/>
          <p:nvPr/>
        </p:nvSpPr>
        <p:spPr>
          <a:xfrm>
            <a:off x="6127750" y="1320800"/>
            <a:ext cx="1854200" cy="914400"/>
          </a:xfrm>
          <a:prstGeom prst="roundRect">
            <a:avLst>
              <a:gd name="adj" fmla="val 7000"/>
            </a:avLst>
          </a:prstGeom>
          <a:solidFill>
            <a:srgbClr val="1F6FB2">
              <a:alpha val="9000"/>
            </a:srgbClr>
          </a:solidFill>
          <a:ln w="9525">
            <a:solidFill>
              <a:srgbClr val="1F6FB2">
                <a:alpha val="55000"/>
              </a:srgbClr>
            </a:solidFill>
            <a:prstDash val="solid"/>
          </a:ln>
        </p:spPr>
      </p:sp>
      <p:sp>
        <p:nvSpPr>
          <p:cNvPr id="14" name="Design text Re-plan"/>
          <p:cNvSpPr txBox="1"/>
          <p:nvPr/>
        </p:nvSpPr>
        <p:spPr>
          <a:xfrm>
            <a:off x="6229350" y="1320800"/>
            <a:ext cx="1676400" cy="914400"/>
          </a:xfrm>
          <a:prstGeom prst="rect">
            <a:avLst/>
          </a:prstGeom>
          <a:noFill/>
          <a:ln/>
        </p:spPr>
        <p:txBody>
          <a:bodyPr wrap="square" lIns="0" tIns="0" rIns="0" bIns="0" rtlCol="0" anchor="ctr"/>
          <a:lstStyle/>
          <a:p>
            <a:pPr indent="0" marL="0">
              <a:buNone/>
            </a:pPr>
            <a:r>
              <a:rPr lang="en-US" sz="1100" b="1" dirty="0">
                <a:solidFill>
                  <a:srgbClr val="1F6FB2"/>
                </a:solidFill>
                <a:latin typeface="Calibri" pitchFamily="34" charset="0"/>
                <a:ea typeface="Calibri" pitchFamily="34" charset="-122"/>
                <a:cs typeface="Calibri" pitchFamily="34" charset="-120"/>
              </a:rPr>
              <a:t>Re-plan</a:t>
            </a:r>
            <a:endParaRPr lang="en-US" sz="1100" dirty="0"/>
          </a:p>
          <a:p>
            <a:pPr indent="0" marL="0">
              <a:buNone/>
            </a:pPr>
            <a:r>
              <a:rPr lang="en-US" sz="880" dirty="0">
                <a:solidFill>
                  <a:srgbClr val="1A1A1A"/>
                </a:solidFill>
                <a:latin typeface="Calibri" pitchFamily="34" charset="0"/>
                <a:ea typeface="Calibri" pitchFamily="34" charset="-122"/>
                <a:cs typeface="Calibri" pitchFamily="34" charset="-120"/>
              </a:rPr>
              <a:t>Plan first, then re-assign when events hit</a:t>
            </a:r>
            <a:endParaRPr lang="en-US" sz="1100" dirty="0"/>
          </a:p>
          <a:p>
            <a:pPr indent="0" marL="0">
              <a:buNone/>
            </a:pPr>
            <a:r>
              <a:rPr lang="en-US" sz="800" i="1" dirty="0">
                <a:solidFill>
                  <a:srgbClr val="595959"/>
                </a:solidFill>
                <a:latin typeface="Calibri" pitchFamily="34" charset="0"/>
                <a:ea typeface="Calibri" pitchFamily="34" charset="-122"/>
                <a:cs typeface="Calibri" pitchFamily="34" charset="-120"/>
              </a:rPr>
              <a:t>Wang 2025 · Sorton 2019</a:t>
            </a:r>
            <a:endParaRPr lang="en-US" sz="1100" dirty="0"/>
          </a:p>
        </p:txBody>
      </p:sp>
      <p:sp>
        <p:nvSpPr>
          <p:cNvPr id="15" name="Design arrow 4"/>
          <p:cNvSpPr/>
          <p:nvPr/>
        </p:nvSpPr>
        <p:spPr>
          <a:xfrm>
            <a:off x="7988300" y="1778000"/>
            <a:ext cx="69850" cy="0"/>
          </a:xfrm>
          <a:prstGeom prst="line">
            <a:avLst/>
          </a:prstGeom>
          <a:noFill/>
          <a:ln w="15875">
            <a:solidFill>
              <a:srgbClr val="7F93AD"/>
            </a:solidFill>
            <a:prstDash val="solid"/>
            <a:tailEnd type="triangle"/>
          </a:ln>
        </p:spPr>
      </p:sp>
      <p:sp>
        <p:nvSpPr>
          <p:cNvPr id="16" name="Design tile Approve"/>
          <p:cNvSpPr/>
          <p:nvPr/>
        </p:nvSpPr>
        <p:spPr>
          <a:xfrm>
            <a:off x="8064500" y="1320800"/>
            <a:ext cx="1854200" cy="914400"/>
          </a:xfrm>
          <a:prstGeom prst="roundRect">
            <a:avLst>
              <a:gd name="adj" fmla="val 7000"/>
            </a:avLst>
          </a:prstGeom>
          <a:solidFill>
            <a:srgbClr val="8A5CD0">
              <a:alpha val="9000"/>
            </a:srgbClr>
          </a:solidFill>
          <a:ln w="9525">
            <a:solidFill>
              <a:srgbClr val="8A5CD0">
                <a:alpha val="55000"/>
              </a:srgbClr>
            </a:solidFill>
            <a:prstDash val="solid"/>
          </a:ln>
        </p:spPr>
      </p:sp>
      <p:sp>
        <p:nvSpPr>
          <p:cNvPr id="17" name="Design text Approve"/>
          <p:cNvSpPr txBox="1"/>
          <p:nvPr/>
        </p:nvSpPr>
        <p:spPr>
          <a:xfrm>
            <a:off x="8166100" y="1320800"/>
            <a:ext cx="1676400" cy="914400"/>
          </a:xfrm>
          <a:prstGeom prst="rect">
            <a:avLst/>
          </a:prstGeom>
          <a:noFill/>
          <a:ln/>
        </p:spPr>
        <p:txBody>
          <a:bodyPr wrap="square" lIns="0" tIns="0" rIns="0" bIns="0" rtlCol="0" anchor="ctr"/>
          <a:lstStyle/>
          <a:p>
            <a:pPr indent="0" marL="0">
              <a:buNone/>
            </a:pPr>
            <a:r>
              <a:rPr lang="en-US" sz="1100" b="1" dirty="0">
                <a:solidFill>
                  <a:srgbClr val="8A5CD0"/>
                </a:solidFill>
                <a:latin typeface="Calibri" pitchFamily="34" charset="0"/>
                <a:ea typeface="Calibri" pitchFamily="34" charset="-122"/>
                <a:cs typeface="Calibri" pitchFamily="34" charset="-120"/>
              </a:rPr>
              <a:t>Approve</a:t>
            </a:r>
            <a:endParaRPr lang="en-US" sz="1100" dirty="0"/>
          </a:p>
          <a:p>
            <a:pPr indent="0" marL="0">
              <a:buNone/>
            </a:pPr>
            <a:r>
              <a:rPr lang="en-US" sz="880" dirty="0">
                <a:solidFill>
                  <a:srgbClr val="1A1A1A"/>
                </a:solidFill>
                <a:latin typeface="Calibri" pitchFamily="34" charset="0"/>
                <a:ea typeface="Calibri" pitchFamily="34" charset="-122"/>
                <a:cs typeface="Calibri" pitchFamily="34" charset="-120"/>
              </a:rPr>
              <a:t>Keep a human in the loop; test for trust</a:t>
            </a:r>
            <a:endParaRPr lang="en-US" sz="1100" dirty="0"/>
          </a:p>
          <a:p>
            <a:pPr indent="0" marL="0">
              <a:buNone/>
            </a:pPr>
            <a:r>
              <a:rPr lang="en-US" sz="800" i="1" dirty="0">
                <a:solidFill>
                  <a:srgbClr val="595959"/>
                </a:solidFill>
                <a:latin typeface="Calibri" pitchFamily="34" charset="0"/>
                <a:ea typeface="Calibri" pitchFamily="34" charset="-122"/>
                <a:cs typeface="Calibri" pitchFamily="34" charset="-120"/>
              </a:rPr>
              <a:t>Zhang L.A. 2020 · Chen 2025</a:t>
            </a:r>
            <a:endParaRPr lang="en-US" sz="1100" dirty="0"/>
          </a:p>
        </p:txBody>
      </p:sp>
      <p:sp>
        <p:nvSpPr>
          <p:cNvPr id="18" name="Design arrow 5"/>
          <p:cNvSpPr/>
          <p:nvPr/>
        </p:nvSpPr>
        <p:spPr>
          <a:xfrm>
            <a:off x="9925050" y="1778000"/>
            <a:ext cx="69850" cy="0"/>
          </a:xfrm>
          <a:prstGeom prst="line">
            <a:avLst/>
          </a:prstGeom>
          <a:noFill/>
          <a:ln w="15875">
            <a:solidFill>
              <a:srgbClr val="7F93AD"/>
            </a:solidFill>
            <a:prstDash val="solid"/>
            <a:tailEnd type="triangle"/>
          </a:ln>
        </p:spPr>
      </p:sp>
      <p:sp>
        <p:nvSpPr>
          <p:cNvPr id="19" name="Design tile Scale next"/>
          <p:cNvSpPr/>
          <p:nvPr/>
        </p:nvSpPr>
        <p:spPr>
          <a:xfrm>
            <a:off x="10001250" y="1320800"/>
            <a:ext cx="1854200" cy="914400"/>
          </a:xfrm>
          <a:prstGeom prst="roundRect">
            <a:avLst>
              <a:gd name="adj" fmla="val 7000"/>
            </a:avLst>
          </a:prstGeom>
          <a:solidFill>
            <a:srgbClr val="2E9E5B">
              <a:alpha val="9000"/>
            </a:srgbClr>
          </a:solidFill>
          <a:ln w="9525">
            <a:solidFill>
              <a:srgbClr val="2E9E5B">
                <a:alpha val="55000"/>
              </a:srgbClr>
            </a:solidFill>
            <a:prstDash val="solid"/>
          </a:ln>
        </p:spPr>
      </p:sp>
      <p:sp>
        <p:nvSpPr>
          <p:cNvPr id="20" name="Design text Scale next"/>
          <p:cNvSpPr txBox="1"/>
          <p:nvPr/>
        </p:nvSpPr>
        <p:spPr>
          <a:xfrm>
            <a:off x="10102850" y="1320800"/>
            <a:ext cx="1676400" cy="914400"/>
          </a:xfrm>
          <a:prstGeom prst="rect">
            <a:avLst/>
          </a:prstGeom>
          <a:noFill/>
          <a:ln/>
        </p:spPr>
        <p:txBody>
          <a:bodyPr wrap="square" lIns="0" tIns="0" rIns="0" bIns="0" rtlCol="0" anchor="ctr"/>
          <a:lstStyle/>
          <a:p>
            <a:pPr indent="0" marL="0">
              <a:buNone/>
            </a:pPr>
            <a:r>
              <a:rPr lang="en-US" sz="1100" b="1" dirty="0">
                <a:solidFill>
                  <a:srgbClr val="2E9E5B"/>
                </a:solidFill>
                <a:latin typeface="Calibri" pitchFamily="34" charset="0"/>
                <a:ea typeface="Calibri" pitchFamily="34" charset="-122"/>
                <a:cs typeface="Calibri" pitchFamily="34" charset="-120"/>
              </a:rPr>
              <a:t>Scale next</a:t>
            </a:r>
            <a:endParaRPr lang="en-US" sz="1100" dirty="0"/>
          </a:p>
          <a:p>
            <a:pPr indent="0" marL="0">
              <a:buNone/>
            </a:pPr>
            <a:r>
              <a:rPr lang="en-US" sz="880" dirty="0">
                <a:solidFill>
                  <a:srgbClr val="1A1A1A"/>
                </a:solidFill>
                <a:latin typeface="Calibri" pitchFamily="34" charset="0"/>
                <a:ea typeface="Calibri" pitchFamily="34" charset="-122"/>
                <a:cs typeface="Calibri" pitchFamily="34" charset="-120"/>
              </a:rPr>
              <a:t>Rolling horizon; decentralised auctions</a:t>
            </a:r>
            <a:endParaRPr lang="en-US" sz="1100" dirty="0"/>
          </a:p>
          <a:p>
            <a:pPr indent="0" marL="0">
              <a:buNone/>
            </a:pPr>
            <a:r>
              <a:rPr lang="en-US" sz="800" i="1" dirty="0">
                <a:solidFill>
                  <a:srgbClr val="595959"/>
                </a:solidFill>
                <a:latin typeface="Calibri" pitchFamily="34" charset="0"/>
                <a:ea typeface="Calibri" pitchFamily="34" charset="-122"/>
                <a:cs typeface="Calibri" pitchFamily="34" charset="-120"/>
              </a:rPr>
              <a:t>Zhang K. 2020 · Choi 2009</a:t>
            </a:r>
            <a:endParaRPr lang="en-US" sz="1100" dirty="0"/>
          </a:p>
        </p:txBody>
      </p:sp>
      <p:sp>
        <p:nvSpPr>
          <p:cNvPr id="21" name="Reference card Problem evidence"/>
          <p:cNvSpPr/>
          <p:nvPr/>
        </p:nvSpPr>
        <p:spPr>
          <a:xfrm>
            <a:off x="317500" y="2387600"/>
            <a:ext cx="3771900" cy="2159000"/>
          </a:xfrm>
          <a:prstGeom prst="roundRect">
            <a:avLst>
              <a:gd name="adj" fmla="val 2965"/>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22" name="Reference header Problem evidence"/>
          <p:cNvSpPr/>
          <p:nvPr/>
        </p:nvSpPr>
        <p:spPr>
          <a:xfrm>
            <a:off x="317500" y="2387600"/>
            <a:ext cx="3771900" cy="342900"/>
          </a:xfrm>
          <a:prstGeom prst="roundRect">
            <a:avLst>
              <a:gd name="adj" fmla="val 18667"/>
            </a:avLst>
          </a:prstGeom>
          <a:solidFill>
            <a:srgbClr val="C8504B">
              <a:alpha val="12000"/>
            </a:srgbClr>
          </a:solidFill>
          <a:ln w="12700">
            <a:solidFill>
              <a:srgbClr val="C8504B">
                <a:alpha val="0"/>
              </a:srgbClr>
            </a:solidFill>
            <a:prstDash val="solid"/>
          </a:ln>
        </p:spPr>
      </p:sp>
      <p:pic>
        <p:nvPicPr>
          <p:cNvPr id="23" name="Image 0" descr="Problem evidence icon">    </p:cNvPr>
          <p:cNvPicPr>
            <a:picLocks noChangeAspect="1"/>
          </p:cNvPicPr>
          <p:nvPr/>
        </p:nvPicPr>
        <p:blipFill>
          <a:blip r:embed="rId1"/>
          <a:stretch>
            <a:fillRect/>
          </a:stretch>
        </p:blipFill>
        <p:spPr>
          <a:xfrm>
            <a:off x="444500" y="2476500"/>
            <a:ext cx="165100" cy="165100"/>
          </a:xfrm>
          <a:prstGeom prst="rect">
            <a:avLst/>
          </a:prstGeom>
        </p:spPr>
      </p:pic>
      <p:sp>
        <p:nvSpPr>
          <p:cNvPr id="24" name="Reference title Problem evidence"/>
          <p:cNvSpPr txBox="1"/>
          <p:nvPr/>
        </p:nvSpPr>
        <p:spPr>
          <a:xfrm>
            <a:off x="698500" y="2387600"/>
            <a:ext cx="3302000" cy="3429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Problem evidence</a:t>
            </a:r>
            <a:endParaRPr lang="en-US" sz="1050" dirty="0"/>
          </a:p>
        </p:txBody>
      </p:sp>
      <p:sp>
        <p:nvSpPr>
          <p:cNvPr id="25" name="References Problem evidence"/>
          <p:cNvSpPr txBox="1"/>
          <p:nvPr/>
        </p:nvSpPr>
        <p:spPr>
          <a:xfrm>
            <a:off x="469900" y="2819400"/>
            <a:ext cx="3479800" cy="1651000"/>
          </a:xfrm>
          <a:prstGeom prst="rect">
            <a:avLst/>
          </a:prstGeom>
          <a:noFill/>
          <a:ln/>
        </p:spPr>
        <p:txBody>
          <a:bodyPr wrap="square" lIns="0" tIns="0" rIns="0" bIns="0" rtlCol="0" anchor="t"/>
          <a:lstStyle/>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 Army CALL (2023)</a:t>
            </a:r>
            <a:r>
              <a:rPr lang="en-US" sz="940" dirty="0">
                <a:solidFill>
                  <a:srgbClr val="1A1A1A"/>
                </a:solidFill>
                <a:latin typeface="Calibri" pitchFamily="34" charset="0"/>
                <a:ea typeface="Calibri" pitchFamily="34" charset="-122"/>
                <a:cs typeface="Calibri" pitchFamily="34" charset="-120"/>
              </a:rPr>
              <a:t>  Air tasking cycle: six stages over 72–96 hours. </a:t>
            </a:r>
            <a:r>
              <a:rPr lang="en-US" sz="940" b="1" u="sng" dirty="0">
                <a:solidFill>
                  <a:srgbClr val="0000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 Air Force (2021)</a:t>
            </a:r>
            <a:r>
              <a:rPr lang="en-US" sz="940" dirty="0">
                <a:solidFill>
                  <a:srgbClr val="1A1A1A"/>
                </a:solidFill>
                <a:latin typeface="Calibri" pitchFamily="34" charset="0"/>
                <a:ea typeface="Calibri" pitchFamily="34" charset="-122"/>
                <a:cs typeface="Calibri" pitchFamily="34" charset="-120"/>
              </a:rPr>
              <a:t>  KRADOS automates planning steps once done manually. </a:t>
            </a:r>
            <a:r>
              <a:rPr lang="en-US" sz="940" b="1" u="sng" dirty="0">
                <a:solidFill>
                  <a:srgbClr val="0000FF"/>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IDRW (Aug 2025)</a:t>
            </a:r>
            <a:r>
              <a:rPr lang="en-US" sz="940" dirty="0">
                <a:solidFill>
                  <a:srgbClr val="1A1A1A"/>
                </a:solidFill>
                <a:latin typeface="Calibri" pitchFamily="34" charset="0"/>
                <a:ea typeface="Calibri" pitchFamily="34" charset="-122"/>
                <a:cs typeface="Calibri" pitchFamily="34" charset="-120"/>
              </a:rPr>
              <a:t>  IAF to give air battle managers AI decision support on IACCS. </a:t>
            </a:r>
            <a:r>
              <a:rPr lang="en-US" sz="940" b="1" u="sng" dirty="0">
                <a:solidFill>
                  <a:srgbClr val="0000FF"/>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Saling (1999)</a:t>
            </a:r>
            <a:r>
              <a:rPr lang="en-US" sz="940" dirty="0">
                <a:solidFill>
                  <a:srgbClr val="1A1A1A"/>
                </a:solidFill>
                <a:latin typeface="Calibri" pitchFamily="34" charset="0"/>
                <a:ea typeface="Calibri" pitchFamily="34" charset="-122"/>
                <a:cs typeface="Calibri" pitchFamily="34" charset="-120"/>
              </a:rPr>
              <a:t>  Air University: dynamic retasking of airborne packages. </a:t>
            </a:r>
            <a:r>
              <a:rPr lang="en-US" sz="940" b="1" u="sng" dirty="0">
                <a:solidFill>
                  <a:srgbClr val="0000FF"/>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p:txBody>
      </p:sp>
      <p:sp>
        <p:nvSpPr>
          <p:cNvPr id="26" name="Reference card AI for air operations planning"/>
          <p:cNvSpPr/>
          <p:nvPr/>
        </p:nvSpPr>
        <p:spPr>
          <a:xfrm>
            <a:off x="4210050" y="2387600"/>
            <a:ext cx="3771900" cy="2159000"/>
          </a:xfrm>
          <a:prstGeom prst="roundRect">
            <a:avLst>
              <a:gd name="adj" fmla="val 2965"/>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27" name="Reference header AI for air operations planning"/>
          <p:cNvSpPr/>
          <p:nvPr/>
        </p:nvSpPr>
        <p:spPr>
          <a:xfrm>
            <a:off x="4210050" y="2387600"/>
            <a:ext cx="3771900" cy="342900"/>
          </a:xfrm>
          <a:prstGeom prst="roundRect">
            <a:avLst>
              <a:gd name="adj" fmla="val 18667"/>
            </a:avLst>
          </a:prstGeom>
          <a:solidFill>
            <a:srgbClr val="1F6FB2">
              <a:alpha val="12000"/>
            </a:srgbClr>
          </a:solidFill>
          <a:ln w="12700">
            <a:solidFill>
              <a:srgbClr val="1F6FB2">
                <a:alpha val="0"/>
              </a:srgbClr>
            </a:solidFill>
            <a:prstDash val="solid"/>
          </a:ln>
        </p:spPr>
      </p:sp>
      <p:pic>
        <p:nvPicPr>
          <p:cNvPr id="28" name="Image 1" descr="AI for air operations planning icon">    </p:cNvPr>
          <p:cNvPicPr>
            <a:picLocks noChangeAspect="1"/>
          </p:cNvPicPr>
          <p:nvPr/>
        </p:nvPicPr>
        <p:blipFill>
          <a:blip r:embed="rId10"/>
          <a:stretch>
            <a:fillRect/>
          </a:stretch>
        </p:blipFill>
        <p:spPr>
          <a:xfrm>
            <a:off x="4337050" y="2476500"/>
            <a:ext cx="165100" cy="165100"/>
          </a:xfrm>
          <a:prstGeom prst="rect">
            <a:avLst/>
          </a:prstGeom>
        </p:spPr>
      </p:pic>
      <p:sp>
        <p:nvSpPr>
          <p:cNvPr id="29" name="Reference title AI for air operations planning"/>
          <p:cNvSpPr txBox="1"/>
          <p:nvPr/>
        </p:nvSpPr>
        <p:spPr>
          <a:xfrm>
            <a:off x="4591050" y="2387600"/>
            <a:ext cx="3302000" cy="3429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AI for air operations planning</a:t>
            </a:r>
            <a:endParaRPr lang="en-US" sz="1050" dirty="0"/>
          </a:p>
        </p:txBody>
      </p:sp>
      <p:sp>
        <p:nvSpPr>
          <p:cNvPr id="30" name="References AI for air operations planning"/>
          <p:cNvSpPr txBox="1"/>
          <p:nvPr/>
        </p:nvSpPr>
        <p:spPr>
          <a:xfrm>
            <a:off x="4362450" y="2819400"/>
            <a:ext cx="3479800" cy="1651000"/>
          </a:xfrm>
          <a:prstGeom prst="rect">
            <a:avLst/>
          </a:prstGeom>
          <a:noFill/>
          <a:ln/>
        </p:spPr>
        <p:txBody>
          <a:bodyPr wrap="square" lIns="0" tIns="0" rIns="0" bIns="0" rtlCol="0" anchor="t"/>
          <a:lstStyle/>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Lingel et al. (2020)</a:t>
            </a:r>
            <a:r>
              <a:rPr lang="en-US" sz="940" dirty="0">
                <a:solidFill>
                  <a:srgbClr val="1A1A1A"/>
                </a:solidFill>
                <a:latin typeface="Calibri" pitchFamily="34" charset="0"/>
                <a:ea typeface="Calibri" pitchFamily="34" charset="-122"/>
                <a:cs typeface="Calibri" pitchFamily="34" charset="-120"/>
              </a:rPr>
              <a:t>  RAND RR-4408/1: the 72-hour cycle and AI for all-domain C2. </a:t>
            </a:r>
            <a:r>
              <a:rPr lang="en-US" sz="940" b="1" u="sng" dirty="0">
                <a:solidFill>
                  <a:srgbClr val="0000FF"/>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Zhang L.A. et al. (2020)</a:t>
            </a:r>
            <a:r>
              <a:rPr lang="en-US" sz="940" dirty="0">
                <a:solidFill>
                  <a:srgbClr val="1A1A1A"/>
                </a:solidFill>
                <a:latin typeface="Calibri" pitchFamily="34" charset="0"/>
                <a:ea typeface="Calibri" pitchFamily="34" charset="-122"/>
                <a:cs typeface="Calibri" pitchFamily="34" charset="-120"/>
              </a:rPr>
              <a:t>  RAND RR-4311: AI-assisted mission planning; trust needs testing. </a:t>
            </a:r>
            <a:r>
              <a:rPr lang="en-US" sz="940" b="1" u="sng" dirty="0">
                <a:solidFill>
                  <a:srgbClr val="0000FF"/>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Sorton et al. (2019)</a:t>
            </a:r>
            <a:r>
              <a:rPr lang="en-US" sz="940" dirty="0">
                <a:solidFill>
                  <a:srgbClr val="1A1A1A"/>
                </a:solidFill>
                <a:latin typeface="Calibri" pitchFamily="34" charset="0"/>
                <a:ea typeface="Calibri" pitchFamily="34" charset="-122"/>
                <a:cs typeface="Calibri" pitchFamily="34" charset="-120"/>
              </a:rPr>
              <a:t>  DSIAC: one operator re-tasking several UAVs, flight-tested. </a:t>
            </a:r>
            <a:r>
              <a:rPr lang="en-US" sz="940" b="1" u="sng" dirty="0">
                <a:solidFill>
                  <a:srgbClr val="0000FF"/>
                </a:solidFill>
                <a:latin typeface="Calibri" pitchFamily="34" charset="0"/>
                <a:ea typeface="Calibri" pitchFamily="34" charset="-122"/>
                <a:cs typeface="Calibr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p:txBody>
      </p:sp>
      <p:sp>
        <p:nvSpPr>
          <p:cNvPr id="31" name="Reference card Assignment and re-planning"/>
          <p:cNvSpPr/>
          <p:nvPr/>
        </p:nvSpPr>
        <p:spPr>
          <a:xfrm>
            <a:off x="8102600" y="2387600"/>
            <a:ext cx="3771900" cy="2159000"/>
          </a:xfrm>
          <a:prstGeom prst="roundRect">
            <a:avLst>
              <a:gd name="adj" fmla="val 2965"/>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32" name="Reference header Assignment and re-planning"/>
          <p:cNvSpPr/>
          <p:nvPr/>
        </p:nvSpPr>
        <p:spPr>
          <a:xfrm>
            <a:off x="8102600" y="2387600"/>
            <a:ext cx="3771900" cy="342900"/>
          </a:xfrm>
          <a:prstGeom prst="roundRect">
            <a:avLst>
              <a:gd name="adj" fmla="val 18667"/>
            </a:avLst>
          </a:prstGeom>
          <a:solidFill>
            <a:srgbClr val="E07A1F">
              <a:alpha val="12000"/>
            </a:srgbClr>
          </a:solidFill>
          <a:ln w="12700">
            <a:solidFill>
              <a:srgbClr val="E07A1F">
                <a:alpha val="0"/>
              </a:srgbClr>
            </a:solidFill>
            <a:prstDash val="solid"/>
          </a:ln>
        </p:spPr>
      </p:sp>
      <p:pic>
        <p:nvPicPr>
          <p:cNvPr id="33" name="Image 2" descr="Assignment and re-planning icon">    </p:cNvPr>
          <p:cNvPicPr>
            <a:picLocks noChangeAspect="1"/>
          </p:cNvPicPr>
          <p:nvPr/>
        </p:nvPicPr>
        <p:blipFill>
          <a:blip r:embed="rId17"/>
          <a:stretch>
            <a:fillRect/>
          </a:stretch>
        </p:blipFill>
        <p:spPr>
          <a:xfrm>
            <a:off x="8229600" y="2476500"/>
            <a:ext cx="165100" cy="165100"/>
          </a:xfrm>
          <a:prstGeom prst="rect">
            <a:avLst/>
          </a:prstGeom>
        </p:spPr>
      </p:pic>
      <p:sp>
        <p:nvSpPr>
          <p:cNvPr id="34" name="Reference title Assignment and re-planning"/>
          <p:cNvSpPr txBox="1"/>
          <p:nvPr/>
        </p:nvSpPr>
        <p:spPr>
          <a:xfrm>
            <a:off x="8483600" y="2387600"/>
            <a:ext cx="3302000" cy="3429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Assignment and re-planning</a:t>
            </a:r>
            <a:endParaRPr lang="en-US" sz="1050" dirty="0"/>
          </a:p>
        </p:txBody>
      </p:sp>
      <p:sp>
        <p:nvSpPr>
          <p:cNvPr id="35" name="References Assignment and re-planning"/>
          <p:cNvSpPr txBox="1"/>
          <p:nvPr/>
        </p:nvSpPr>
        <p:spPr>
          <a:xfrm>
            <a:off x="8255000" y="2819400"/>
            <a:ext cx="3479800" cy="1651000"/>
          </a:xfrm>
          <a:prstGeom prst="rect">
            <a:avLst/>
          </a:prstGeom>
          <a:noFill/>
          <a:ln/>
        </p:spPr>
        <p:txBody>
          <a:bodyPr wrap="square" lIns="0" tIns="0" rIns="0" bIns="0" rtlCol="0" anchor="t"/>
          <a:lstStyle/>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Zhang K. et al. (2020)</a:t>
            </a:r>
            <a:r>
              <a:rPr lang="en-US" sz="940" dirty="0">
                <a:solidFill>
                  <a:srgbClr val="1A1A1A"/>
                </a:solidFill>
                <a:latin typeface="Calibri" pitchFamily="34" charset="0"/>
                <a:ea typeface="Calibri" pitchFamily="34" charset="-122"/>
                <a:cs typeface="Calibri" pitchFamily="34" charset="-120"/>
              </a:rPr>
              <a:t>  Electronics: dynamic weapon-target assignment, receding horizon. </a:t>
            </a:r>
            <a:r>
              <a:rPr lang="en-US" sz="940" b="1" u="sng" dirty="0">
                <a:solidFill>
                  <a:srgbClr val="0000FF"/>
                </a:solidFill>
                <a:latin typeface="Calibri" pitchFamily="34" charset="0"/>
                <a:ea typeface="Calibri" pitchFamily="34" charset="-122"/>
                <a:cs typeface="Calibr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Li, Wu &amp; Wang (2024)</a:t>
            </a:r>
            <a:r>
              <a:rPr lang="en-US" sz="940" dirty="0">
                <a:solidFill>
                  <a:srgbClr val="1A1A1A"/>
                </a:solidFill>
                <a:latin typeface="Calibri" pitchFamily="34" charset="0"/>
                <a:ea typeface="Calibri" pitchFamily="34" charset="-122"/>
                <a:cs typeface="Calibri" pitchFamily="34" charset="-120"/>
              </a:rPr>
              <a:t>  EAAI: survey of weapon-target assignment methods. </a:t>
            </a:r>
            <a:r>
              <a:rPr lang="en-US" sz="940" b="1" u="sng" dirty="0">
                <a:solidFill>
                  <a:srgbClr val="0000FF"/>
                </a:solidFill>
                <a:latin typeface="Calibri" pitchFamily="34" charset="0"/>
                <a:ea typeface="Calibri" pitchFamily="34" charset="-122"/>
                <a:cs typeface="Calibri" pitchFamily="34" charset="-120"/>
                <a:hlinkClick r:id="rId21"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22" invalidUrl="" action="" tgtFrame="" tooltip="" history="1" highlightClick="0" endSnd="0">
                  <a:extLst>
                    <a:ext uri="{A12FA001-AC4F-418D-AE19-62706E023703}">
                      <ahyp:hlinkClr xmlns:ahyp="http://schemas.microsoft.com/office/drawing/2018/hyperlinkcolor" val="tx"/>
                    </a:ext>
                  </a:extLst>
                </a:hlinkClick>
              </a:rPr>
              <a:t>Wang et al. (2025)</a:t>
            </a:r>
            <a:r>
              <a:rPr lang="en-US" sz="940" dirty="0">
                <a:solidFill>
                  <a:srgbClr val="1A1A1A"/>
                </a:solidFill>
                <a:latin typeface="Calibri" pitchFamily="34" charset="0"/>
                <a:ea typeface="Calibri" pitchFamily="34" charset="-122"/>
                <a:cs typeface="Calibri" pitchFamily="34" charset="-120"/>
              </a:rPr>
              <a:t>  Defence Technology: pre-assignment plus event-triggered re-assignment. </a:t>
            </a:r>
            <a:r>
              <a:rPr lang="en-US" sz="940" b="1" u="sng" dirty="0">
                <a:solidFill>
                  <a:srgbClr val="0000FF"/>
                </a:solidFill>
                <a:latin typeface="Calibri" pitchFamily="34" charset="0"/>
                <a:ea typeface="Calibri" pitchFamily="34" charset="-122"/>
                <a:cs typeface="Calibri" pitchFamily="34" charset="-120"/>
                <a:hlinkClick r:id="rId23"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24" invalidUrl="" action="" tgtFrame="" tooltip="" history="1" highlightClick="0" endSnd="0">
                  <a:extLst>
                    <a:ext uri="{A12FA001-AC4F-418D-AE19-62706E023703}">
                      <ahyp:hlinkClr xmlns:ahyp="http://schemas.microsoft.com/office/drawing/2018/hyperlinkcolor" val="tx"/>
                    </a:ext>
                  </a:extLst>
                </a:hlinkClick>
              </a:rPr>
              <a:t>Meng et al. (2022)</a:t>
            </a:r>
            <a:r>
              <a:rPr lang="en-US" sz="940" dirty="0">
                <a:solidFill>
                  <a:srgbClr val="1A1A1A"/>
                </a:solidFill>
                <a:latin typeface="Calibri" pitchFamily="34" charset="0"/>
                <a:ea typeface="Calibri" pitchFamily="34" charset="-122"/>
                <a:cs typeface="Calibri" pitchFamily="34" charset="-120"/>
              </a:rPr>
              <a:t>  Scientific Programming: sortie generation with runway congestion. </a:t>
            </a:r>
            <a:r>
              <a:rPr lang="en-US" sz="940" b="1" u="sng" dirty="0">
                <a:solidFill>
                  <a:srgbClr val="0000FF"/>
                </a:solidFill>
                <a:latin typeface="Calibri" pitchFamily="34" charset="0"/>
                <a:ea typeface="Calibri" pitchFamily="34" charset="-122"/>
                <a:cs typeface="Calibri" pitchFamily="34" charset="-120"/>
                <a:hlinkClick r:id="rId25"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p:txBody>
      </p:sp>
      <p:sp>
        <p:nvSpPr>
          <p:cNvPr id="36" name="Reference card Search and decentralised allocation"/>
          <p:cNvSpPr/>
          <p:nvPr/>
        </p:nvSpPr>
        <p:spPr>
          <a:xfrm>
            <a:off x="317500" y="4673600"/>
            <a:ext cx="3771900" cy="1727200"/>
          </a:xfrm>
          <a:prstGeom prst="roundRect">
            <a:avLst>
              <a:gd name="adj" fmla="val 3706"/>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37" name="Reference header Search and decentralised allocation"/>
          <p:cNvSpPr/>
          <p:nvPr/>
        </p:nvSpPr>
        <p:spPr>
          <a:xfrm>
            <a:off x="317500" y="4673600"/>
            <a:ext cx="3771900" cy="342900"/>
          </a:xfrm>
          <a:prstGeom prst="roundRect">
            <a:avLst>
              <a:gd name="adj" fmla="val 18667"/>
            </a:avLst>
          </a:prstGeom>
          <a:solidFill>
            <a:srgbClr val="8A5CD0">
              <a:alpha val="12000"/>
            </a:srgbClr>
          </a:solidFill>
          <a:ln w="12700">
            <a:solidFill>
              <a:srgbClr val="8A5CD0">
                <a:alpha val="0"/>
              </a:srgbClr>
            </a:solidFill>
            <a:prstDash val="solid"/>
          </a:ln>
        </p:spPr>
      </p:sp>
      <p:pic>
        <p:nvPicPr>
          <p:cNvPr id="38" name="Image 3" descr="Search and decentralised allocation icon">    </p:cNvPr>
          <p:cNvPicPr>
            <a:picLocks noChangeAspect="1"/>
          </p:cNvPicPr>
          <p:nvPr/>
        </p:nvPicPr>
        <p:blipFill>
          <a:blip r:embed="rId26"/>
          <a:stretch>
            <a:fillRect/>
          </a:stretch>
        </p:blipFill>
        <p:spPr>
          <a:xfrm>
            <a:off x="444500" y="4762500"/>
            <a:ext cx="165100" cy="165100"/>
          </a:xfrm>
          <a:prstGeom prst="rect">
            <a:avLst/>
          </a:prstGeom>
        </p:spPr>
      </p:pic>
      <p:sp>
        <p:nvSpPr>
          <p:cNvPr id="39" name="Reference title Search and decentralised allocation"/>
          <p:cNvSpPr txBox="1"/>
          <p:nvPr/>
        </p:nvSpPr>
        <p:spPr>
          <a:xfrm>
            <a:off x="698500" y="4673600"/>
            <a:ext cx="3302000" cy="3429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Search and decentralised allocation</a:t>
            </a:r>
            <a:endParaRPr lang="en-US" sz="1050" dirty="0"/>
          </a:p>
        </p:txBody>
      </p:sp>
      <p:sp>
        <p:nvSpPr>
          <p:cNvPr id="40" name="References Search and decentralised allocation"/>
          <p:cNvSpPr txBox="1"/>
          <p:nvPr/>
        </p:nvSpPr>
        <p:spPr>
          <a:xfrm>
            <a:off x="469900" y="5105400"/>
            <a:ext cx="3479800" cy="1219200"/>
          </a:xfrm>
          <a:prstGeom prst="rect">
            <a:avLst/>
          </a:prstGeom>
          <a:noFill/>
          <a:ln/>
        </p:spPr>
        <p:txBody>
          <a:bodyPr wrap="square" lIns="0" tIns="0" rIns="0" bIns="0" rtlCol="0" anchor="t"/>
          <a:lstStyle/>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27" invalidUrl="" action="" tgtFrame="" tooltip="" history="1" highlightClick="0" endSnd="0">
                  <a:extLst>
                    <a:ext uri="{A12FA001-AC4F-418D-AE19-62706E023703}">
                      <ahyp:hlinkClr xmlns:ahyp="http://schemas.microsoft.com/office/drawing/2018/hyperlinkcolor" val="tx"/>
                    </a:ext>
                  </a:extLst>
                </a:hlinkClick>
              </a:rPr>
              <a:t>Ropke &amp; Pisinger (2006)</a:t>
            </a:r>
            <a:r>
              <a:rPr lang="en-US" sz="940" dirty="0">
                <a:solidFill>
                  <a:srgbClr val="1A1A1A"/>
                </a:solidFill>
                <a:latin typeface="Calibri" pitchFamily="34" charset="0"/>
                <a:ea typeface="Calibri" pitchFamily="34" charset="-122"/>
                <a:cs typeface="Calibri" pitchFamily="34" charset="-120"/>
              </a:rPr>
              <a:t>  Transportation Science: adaptive large-neighbourhood search. </a:t>
            </a:r>
            <a:r>
              <a:rPr lang="en-US" sz="940" b="1" u="sng" dirty="0">
                <a:solidFill>
                  <a:srgbClr val="0000FF"/>
                </a:solidFill>
                <a:latin typeface="Calibri" pitchFamily="34" charset="0"/>
                <a:ea typeface="Calibri" pitchFamily="34" charset="-122"/>
                <a:cs typeface="Calibri" pitchFamily="34" charset="-120"/>
                <a:hlinkClick r:id="rId28"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29" invalidUrl="" action="" tgtFrame="" tooltip="" history="1" highlightClick="0" endSnd="0">
                  <a:extLst>
                    <a:ext uri="{A12FA001-AC4F-418D-AE19-62706E023703}">
                      <ahyp:hlinkClr xmlns:ahyp="http://schemas.microsoft.com/office/drawing/2018/hyperlinkcolor" val="tx"/>
                    </a:ext>
                  </a:extLst>
                </a:hlinkClick>
              </a:rPr>
              <a:t>Choi, Brunet &amp; How (2009)</a:t>
            </a:r>
            <a:r>
              <a:rPr lang="en-US" sz="940" dirty="0">
                <a:solidFill>
                  <a:srgbClr val="1A1A1A"/>
                </a:solidFill>
                <a:latin typeface="Calibri" pitchFamily="34" charset="0"/>
                <a:ea typeface="Calibri" pitchFamily="34" charset="-122"/>
                <a:cs typeface="Calibri" pitchFamily="34" charset="-120"/>
              </a:rPr>
              <a:t>  IEEE T-RO: consensus-based decentralised auctions. </a:t>
            </a:r>
            <a:r>
              <a:rPr lang="en-US" sz="940" b="1" u="sng" dirty="0">
                <a:solidFill>
                  <a:srgbClr val="0000FF"/>
                </a:solidFill>
                <a:latin typeface="Calibri" pitchFamily="34" charset="0"/>
                <a:ea typeface="Calibri" pitchFamily="34" charset="-122"/>
                <a:cs typeface="Calibri" pitchFamily="34" charset="-120"/>
                <a:hlinkClick r:id="rId30"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p:txBody>
      </p:sp>
      <p:sp>
        <p:nvSpPr>
          <p:cNvPr id="41" name="Reference card Readiness and human-in-the-loop"/>
          <p:cNvSpPr/>
          <p:nvPr/>
        </p:nvSpPr>
        <p:spPr>
          <a:xfrm>
            <a:off x="4210050" y="4673600"/>
            <a:ext cx="3771900" cy="1727200"/>
          </a:xfrm>
          <a:prstGeom prst="roundRect">
            <a:avLst>
              <a:gd name="adj" fmla="val 3706"/>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42" name="Reference header Readiness and human-in-the-loop"/>
          <p:cNvSpPr/>
          <p:nvPr/>
        </p:nvSpPr>
        <p:spPr>
          <a:xfrm>
            <a:off x="4210050" y="4673600"/>
            <a:ext cx="3771900" cy="342900"/>
          </a:xfrm>
          <a:prstGeom prst="roundRect">
            <a:avLst>
              <a:gd name="adj" fmla="val 18667"/>
            </a:avLst>
          </a:prstGeom>
          <a:solidFill>
            <a:srgbClr val="1F9D8A">
              <a:alpha val="12000"/>
            </a:srgbClr>
          </a:solidFill>
          <a:ln w="12700">
            <a:solidFill>
              <a:srgbClr val="1F9D8A">
                <a:alpha val="0"/>
              </a:srgbClr>
            </a:solidFill>
            <a:prstDash val="solid"/>
          </a:ln>
        </p:spPr>
      </p:sp>
      <p:pic>
        <p:nvPicPr>
          <p:cNvPr id="43" name="Image 4" descr="Readiness and human-in-the-loop icon">    </p:cNvPr>
          <p:cNvPicPr>
            <a:picLocks noChangeAspect="1"/>
          </p:cNvPicPr>
          <p:nvPr/>
        </p:nvPicPr>
        <p:blipFill>
          <a:blip r:embed="rId31"/>
          <a:stretch>
            <a:fillRect/>
          </a:stretch>
        </p:blipFill>
        <p:spPr>
          <a:xfrm>
            <a:off x="4337050" y="4762500"/>
            <a:ext cx="165100" cy="165100"/>
          </a:xfrm>
          <a:prstGeom prst="rect">
            <a:avLst/>
          </a:prstGeom>
        </p:spPr>
      </p:pic>
      <p:sp>
        <p:nvSpPr>
          <p:cNvPr id="44" name="Reference title Readiness and human-in-the-loop"/>
          <p:cNvSpPr txBox="1"/>
          <p:nvPr/>
        </p:nvSpPr>
        <p:spPr>
          <a:xfrm>
            <a:off x="4591050" y="4673600"/>
            <a:ext cx="3302000" cy="3429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Readiness and human-in-the-loop</a:t>
            </a:r>
            <a:endParaRPr lang="en-US" sz="1050" dirty="0"/>
          </a:p>
        </p:txBody>
      </p:sp>
      <p:sp>
        <p:nvSpPr>
          <p:cNvPr id="45" name="References Readiness and human-in-the-loop"/>
          <p:cNvSpPr txBox="1"/>
          <p:nvPr/>
        </p:nvSpPr>
        <p:spPr>
          <a:xfrm>
            <a:off x="4362450" y="5105400"/>
            <a:ext cx="3479800" cy="1219200"/>
          </a:xfrm>
          <a:prstGeom prst="rect">
            <a:avLst/>
          </a:prstGeom>
          <a:noFill/>
          <a:ln/>
        </p:spPr>
        <p:txBody>
          <a:bodyPr wrap="square" lIns="0" tIns="0" rIns="0" bIns="0" rtlCol="0" anchor="t"/>
          <a:lstStyle/>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32" invalidUrl="" action="" tgtFrame="" tooltip="" history="1" highlightClick="0" endSnd="0">
                  <a:extLst>
                    <a:ext uri="{A12FA001-AC4F-418D-AE19-62706E023703}">
                      <ahyp:hlinkClr xmlns:ahyp="http://schemas.microsoft.com/office/drawing/2018/hyperlinkcolor" val="tx"/>
                    </a:ext>
                  </a:extLst>
                </a:hlinkClick>
              </a:rPr>
              <a:t>O'Neil, Khatab &amp; Diallo (2025)</a:t>
            </a:r>
            <a:r>
              <a:rPr lang="en-US" sz="940" dirty="0">
                <a:solidFill>
                  <a:srgbClr val="1A1A1A"/>
                </a:solidFill>
                <a:latin typeface="Calibri" pitchFamily="34" charset="0"/>
                <a:ea typeface="Calibri" pitchFamily="34" charset="-122"/>
                <a:cs typeface="Calibri" pitchFamily="34" charset="-120"/>
              </a:rPr>
              <a:t>  Autonomous Intelligent Systems: predictive maintenance with mission assignment. </a:t>
            </a:r>
            <a:r>
              <a:rPr lang="en-US" sz="940" b="1" u="sng" dirty="0">
                <a:solidFill>
                  <a:srgbClr val="0000FF"/>
                </a:solidFill>
                <a:latin typeface="Calibri" pitchFamily="34" charset="0"/>
                <a:ea typeface="Calibri" pitchFamily="34" charset="-122"/>
                <a:cs typeface="Calibri" pitchFamily="34" charset="-120"/>
                <a:hlinkClick r:id="rId33"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34" invalidUrl="" action="" tgtFrame="" tooltip="" history="1" highlightClick="0" endSnd="0">
                  <a:extLst>
                    <a:ext uri="{A12FA001-AC4F-418D-AE19-62706E023703}">
                      <ahyp:hlinkClr xmlns:ahyp="http://schemas.microsoft.com/office/drawing/2018/hyperlinkcolor" val="tx"/>
                    </a:ext>
                  </a:extLst>
                </a:hlinkClick>
              </a:rPr>
              <a:t>Chen et al. (2025)</a:t>
            </a:r>
            <a:r>
              <a:rPr lang="en-US" sz="940" dirty="0">
                <a:solidFill>
                  <a:srgbClr val="1A1A1A"/>
                </a:solidFill>
                <a:latin typeface="Calibri" pitchFamily="34" charset="0"/>
                <a:ea typeface="Calibri" pitchFamily="34" charset="-122"/>
                <a:cs typeface="Calibri" pitchFamily="34" charset="-120"/>
              </a:rPr>
              <a:t>  Defence Technology: human-guided reinforcement learning for aircraft scheduling. </a:t>
            </a:r>
            <a:r>
              <a:rPr lang="en-US" sz="940" b="1" u="sng" dirty="0">
                <a:solidFill>
                  <a:srgbClr val="0000FF"/>
                </a:solidFill>
                <a:latin typeface="Calibri" pitchFamily="34" charset="0"/>
                <a:ea typeface="Calibri" pitchFamily="34" charset="-122"/>
                <a:cs typeface="Calibri" pitchFamily="34" charset="-120"/>
                <a:hlinkClick r:id="rId35"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p:txBody>
      </p:sp>
      <p:sp>
        <p:nvSpPr>
          <p:cNvPr id="46" name="Reference card Open tools used"/>
          <p:cNvSpPr/>
          <p:nvPr/>
        </p:nvSpPr>
        <p:spPr>
          <a:xfrm>
            <a:off x="8102600" y="4673600"/>
            <a:ext cx="3771900" cy="1727200"/>
          </a:xfrm>
          <a:prstGeom prst="roundRect">
            <a:avLst>
              <a:gd name="adj" fmla="val 3706"/>
            </a:avLst>
          </a:prstGeom>
          <a:solidFill>
            <a:srgbClr val="FFFFFF"/>
          </a:solidFill>
          <a:ln w="9525">
            <a:solidFill>
              <a:srgbClr val="C9D5E6"/>
            </a:solidFill>
            <a:prstDash val="solid"/>
          </a:ln>
          <a:effectLst>
            <a:outerShdw sx="100000" sy="100000" kx="0" ky="0" algn="bl" rotWithShape="0" blurRad="63500" dist="19050" dir="5400000">
              <a:srgbClr val="1F3864">
                <a:alpha val="12000"/>
              </a:srgbClr>
            </a:outerShdw>
          </a:effectLst>
        </p:spPr>
      </p:sp>
      <p:sp>
        <p:nvSpPr>
          <p:cNvPr id="47" name="Reference header Open tools used"/>
          <p:cNvSpPr/>
          <p:nvPr/>
        </p:nvSpPr>
        <p:spPr>
          <a:xfrm>
            <a:off x="8102600" y="4673600"/>
            <a:ext cx="3771900" cy="342900"/>
          </a:xfrm>
          <a:prstGeom prst="roundRect">
            <a:avLst>
              <a:gd name="adj" fmla="val 18667"/>
            </a:avLst>
          </a:prstGeom>
          <a:solidFill>
            <a:srgbClr val="2E9E5B">
              <a:alpha val="12000"/>
            </a:srgbClr>
          </a:solidFill>
          <a:ln w="12700">
            <a:solidFill>
              <a:srgbClr val="2E9E5B">
                <a:alpha val="0"/>
              </a:srgbClr>
            </a:solidFill>
            <a:prstDash val="solid"/>
          </a:ln>
        </p:spPr>
      </p:sp>
      <p:pic>
        <p:nvPicPr>
          <p:cNvPr id="48" name="Image 5" descr="Open tools used icon">    </p:cNvPr>
          <p:cNvPicPr>
            <a:picLocks noChangeAspect="1"/>
          </p:cNvPicPr>
          <p:nvPr/>
        </p:nvPicPr>
        <p:blipFill>
          <a:blip r:embed="rId36"/>
          <a:stretch>
            <a:fillRect/>
          </a:stretch>
        </p:blipFill>
        <p:spPr>
          <a:xfrm>
            <a:off x="8229600" y="4762500"/>
            <a:ext cx="165100" cy="165100"/>
          </a:xfrm>
          <a:prstGeom prst="rect">
            <a:avLst/>
          </a:prstGeom>
        </p:spPr>
      </p:pic>
      <p:sp>
        <p:nvSpPr>
          <p:cNvPr id="49" name="Reference title Open tools used"/>
          <p:cNvSpPr txBox="1"/>
          <p:nvPr/>
        </p:nvSpPr>
        <p:spPr>
          <a:xfrm>
            <a:off x="8483600" y="4673600"/>
            <a:ext cx="3302000" cy="342900"/>
          </a:xfrm>
          <a:prstGeom prst="rect">
            <a:avLst/>
          </a:prstGeom>
          <a:noFill/>
          <a:ln/>
        </p:spPr>
        <p:txBody>
          <a:bodyPr wrap="square" lIns="0" tIns="0" rIns="0" bIns="0" rtlCol="0" anchor="ctr"/>
          <a:lstStyle/>
          <a:p>
            <a:pPr indent="0" marL="0">
              <a:buNone/>
            </a:pPr>
            <a:r>
              <a:rPr lang="en-US" sz="1050" b="1" dirty="0">
                <a:solidFill>
                  <a:srgbClr val="1F3864"/>
                </a:solidFill>
                <a:latin typeface="Calibri" pitchFamily="34" charset="0"/>
                <a:ea typeface="Calibri" pitchFamily="34" charset="-122"/>
                <a:cs typeface="Calibri" pitchFamily="34" charset="-120"/>
              </a:rPr>
              <a:t>Open tools used</a:t>
            </a:r>
            <a:endParaRPr lang="en-US" sz="1050" dirty="0"/>
          </a:p>
        </p:txBody>
      </p:sp>
      <p:sp>
        <p:nvSpPr>
          <p:cNvPr id="50" name="References Open tools used"/>
          <p:cNvSpPr txBox="1"/>
          <p:nvPr/>
        </p:nvSpPr>
        <p:spPr>
          <a:xfrm>
            <a:off x="8255000" y="5105400"/>
            <a:ext cx="3479800" cy="1219200"/>
          </a:xfrm>
          <a:prstGeom prst="rect">
            <a:avLst/>
          </a:prstGeom>
          <a:noFill/>
          <a:ln/>
        </p:spPr>
        <p:txBody>
          <a:bodyPr wrap="square" lIns="0" tIns="0" rIns="0" bIns="0" rtlCol="0" anchor="t"/>
          <a:lstStyle/>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37" invalidUrl="" action="" tgtFrame="" tooltip="" history="1" highlightClick="0" endSnd="0">
                  <a:extLst>
                    <a:ext uri="{A12FA001-AC4F-418D-AE19-62706E023703}">
                      <ahyp:hlinkClr xmlns:ahyp="http://schemas.microsoft.com/office/drawing/2018/hyperlinkcolor" val="tx"/>
                    </a:ext>
                  </a:extLst>
                </a:hlinkClick>
              </a:rPr>
              <a:t>Google OR-Tools CP-SAT</a:t>
            </a:r>
            <a:r>
              <a:rPr lang="en-US" sz="940" dirty="0">
                <a:solidFill>
                  <a:srgbClr val="1A1A1A"/>
                </a:solidFill>
                <a:latin typeface="Calibri" pitchFamily="34" charset="0"/>
                <a:ea typeface="Calibri" pitchFamily="34" charset="-122"/>
                <a:cs typeface="Calibri" pitchFamily="34" charset="-120"/>
              </a:rPr>
              <a:t>  constraint solver behind the exact engine. </a:t>
            </a:r>
            <a:r>
              <a:rPr lang="en-US" sz="940" b="1" u="sng" dirty="0">
                <a:solidFill>
                  <a:srgbClr val="0000FF"/>
                </a:solidFill>
                <a:latin typeface="Calibri" pitchFamily="34" charset="0"/>
                <a:ea typeface="Calibri" pitchFamily="34" charset="-122"/>
                <a:cs typeface="Calibri" pitchFamily="34" charset="-120"/>
                <a:hlinkClick r:id="rId38"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a:p>
            <a:pPr indent="0" marL="0">
              <a:spcAft>
                <a:spcPts val="500"/>
              </a:spcAft>
              <a:buNone/>
            </a:pPr>
            <a:r>
              <a:rPr lang="en-US" sz="940" b="1" u="sng" dirty="0">
                <a:solidFill>
                  <a:srgbClr val="1A1A1A"/>
                </a:solidFill>
                <a:latin typeface="Calibri" pitchFamily="34" charset="0"/>
                <a:ea typeface="Calibri" pitchFamily="34" charset="-122"/>
                <a:cs typeface="Calibri" pitchFamily="34" charset="-120"/>
                <a:hlinkClick r:id="rId39" invalidUrl="" action="" tgtFrame="" tooltip="" history="1" highlightClick="0" endSnd="0">
                  <a:extLst>
                    <a:ext uri="{A12FA001-AC4F-418D-AE19-62706E023703}">
                      <ahyp:hlinkClr xmlns:ahyp="http://schemas.microsoft.com/office/drawing/2018/hyperlinkcolor" val="tx"/>
                    </a:ext>
                  </a:extLst>
                </a:hlinkClick>
              </a:rPr>
              <a:t>scikit-learn</a:t>
            </a:r>
            <a:r>
              <a:rPr lang="en-US" sz="940" dirty="0">
                <a:solidFill>
                  <a:srgbClr val="1A1A1A"/>
                </a:solidFill>
                <a:latin typeface="Calibri" pitchFamily="34" charset="0"/>
                <a:ea typeface="Calibri" pitchFamily="34" charset="-122"/>
                <a:cs typeface="Calibri" pitchFamily="34" charset="-120"/>
              </a:rPr>
              <a:t>  gradient boosting for the readiness model. </a:t>
            </a:r>
            <a:r>
              <a:rPr lang="en-US" sz="940" b="1" u="sng" dirty="0">
                <a:solidFill>
                  <a:srgbClr val="0000FF"/>
                </a:solidFill>
                <a:latin typeface="Calibri" pitchFamily="34" charset="0"/>
                <a:ea typeface="Calibri" pitchFamily="34" charset="-122"/>
                <a:cs typeface="Calibri" pitchFamily="34" charset="-120"/>
                <a:hlinkClick r:id="rId40" invalidUrl="" action="" tgtFrame="" tooltip="" history="1" highlightClick="0" endSnd="0">
                  <a:extLst>
                    <a:ext uri="{A12FA001-AC4F-418D-AE19-62706E023703}">
                      <ahyp:hlinkClr xmlns:ahyp="http://schemas.microsoft.com/office/drawing/2018/hyperlinkcolor" val="tx"/>
                    </a:ext>
                  </a:extLst>
                </a:hlinkClick>
              </a:rPr>
              <a:t>[Open]</a:t>
            </a:r>
            <a:endParaRPr lang="en-US" sz="940" dirty="0"/>
          </a:p>
        </p:txBody>
      </p:sp>
      <p:sp>
        <p:nvSpPr>
          <p:cNvPr id="25" name="Slide Number Placeholder 0"/>
          <p:cNvSpPr>
            <a:spLocks noGrp="1"/>
          </p:cNvSpPr>
          <p:nvPr>
            <p:ph type="sldNum" sz="quarter" idx="4294967295"/>
          </p:nvPr>
        </p:nvSpPr>
        <p:spPr>
          <a:xfrm>
            <a:off x="11379200" y="6502400"/>
            <a:ext cx="5588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9595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SIH 2026 template">
  <a:themeElements>
    <a:clrScheme name="SIH 2026 template">
      <a:dk1>
        <a:srgbClr val="1A1A1A"/>
      </a:dk1>
      <a:lt1>
        <a:srgbClr val="FFFFFF"/>
      </a:lt1>
      <a:dk2>
        <a:srgbClr val="1F3864"/>
      </a:dk2>
      <a:lt2>
        <a:srgbClr val="EEF3F9"/>
      </a:lt2>
      <a:accent1>
        <a:srgbClr val="1F6FB2"/>
      </a:accent1>
      <a:accent2>
        <a:srgbClr val="E07A1F"/>
      </a:accent2>
      <a:accent3>
        <a:srgbClr val="2E9E5B"/>
      </a:accent3>
      <a:accent4>
        <a:srgbClr val="C8504B"/>
      </a:accent4>
      <a:accent5>
        <a:srgbClr val="7030A0"/>
      </a:accent5>
      <a:accent6>
        <a:srgbClr val="1F9D8A"/>
      </a:accent6>
      <a:hlink>
        <a:srgbClr val="0000FF"/>
      </a:hlink>
      <a:folHlink>
        <a:srgbClr val="7030A0"/>
      </a:folHlink>
    </a:clrScheme>
    <a:fontScheme name="SIH 2026 templ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VayuVyuha - SIH26250</dc:title>
  <dc:subject>PptxGenJS Presentation</dc:subject>
  <dc:creator>PptxGenJS</dc:creator>
  <cp:lastModifiedBy>PptxGenJS</cp:lastModifiedBy>
  <cp:revision>1</cp:revision>
  <dcterms:created xsi:type="dcterms:W3CDTF">2026-10-04T06:32:00Z</dcterms:created>
  <dcterms:modified xsi:type="dcterms:W3CDTF">2026-10-04T06:32:00Z</dcterms:modified>
</cp:coreProperties>
</file>